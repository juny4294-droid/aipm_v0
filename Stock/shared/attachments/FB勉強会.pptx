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E09D2F-972E-4A66-A7EB-15B77129AD26}">
  <a:tblStyle styleId="{B5E09D2F-972E-4A66-A7EB-15B77129AD2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d0bfc539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d0bfc539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f60feaa90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f60feaa90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d0bfc5397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d0bfc5397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f60feaa90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f60feaa90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d0bfc5397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d0bfc5397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f60feaa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f60feaa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5dff7f345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5dff7f345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5dff7f34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c5dff7f34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f60feaa9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f60feaa9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f60feaa9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f60feaa9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d0bfc5397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d0bfc5397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c5dff7f345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c5dff7f34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c5dff7f345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c5dff7f34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cf60feaa9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cf60feaa9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f60feaa9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cf60feaa9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5dff7f345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c5dff7f345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5dff7f345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c5dff7f345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c5dff7f345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c5dff7f345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cf60feaa9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cf60feaa9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cf60feaa9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cf60feaa9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c5dff7f345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c5dff7f34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cf60feaa9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cf60feaa9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c5dff7f34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c5dff7f34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c5dff7f345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c5dff7f345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c5dff7f345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c5dff7f345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cf60feaa9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cf60feaa9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c5dff7f345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c5dff7f345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cf60feaa90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cf60feaa90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cf60feaa90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cf60feaa90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cf60feaa90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cf60feaa90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c5dff7f345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c5dff7f345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cf60feaa90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cf60feaa90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cf60feaa90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cf60feaa9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60000" y="744575"/>
            <a:ext cx="84240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b="1"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2" name="Google Shape;12;p2"/>
          <p:cNvSpPr txBox="1"/>
          <p:nvPr>
            <p:ph idx="1" type="subTitle"/>
          </p:nvPr>
        </p:nvSpPr>
        <p:spPr>
          <a:xfrm>
            <a:off x="360000" y="2834125"/>
            <a:ext cx="84240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4" name="Shape 14"/>
        <p:cNvGrpSpPr/>
        <p:nvPr/>
      </p:nvGrpSpPr>
      <p:grpSpPr>
        <a:xfrm>
          <a:off x="0" y="0"/>
          <a:ext cx="0" cy="0"/>
          <a:chOff x="0" y="0"/>
          <a:chExt cx="0" cy="0"/>
        </a:xfrm>
      </p:grpSpPr>
      <p:sp>
        <p:nvSpPr>
          <p:cNvPr id="15" name="Google Shape;15;p3"/>
          <p:cNvSpPr/>
          <p:nvPr/>
        </p:nvSpPr>
        <p:spPr>
          <a:xfrm>
            <a:off x="125"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360000" y="2150850"/>
            <a:ext cx="8424000" cy="841800"/>
          </a:xfrm>
          <a:prstGeom prst="rect">
            <a:avLst/>
          </a:prstGeom>
          <a:noFill/>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60000" y="1152475"/>
            <a:ext cx="84240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60000" y="1152475"/>
            <a:ext cx="39033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80700" y="1152475"/>
            <a:ext cx="39033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カスタム レイアウト 2">
  <p:cSld name="CUSTOM_1">
    <p:spTree>
      <p:nvGrpSpPr>
        <p:cNvPr id="30" name="Shape 30"/>
        <p:cNvGrpSpPr/>
        <p:nvPr/>
      </p:nvGrpSpPr>
      <p:grpSpPr>
        <a:xfrm>
          <a:off x="0" y="0"/>
          <a:ext cx="0" cy="0"/>
          <a:chOff x="0" y="0"/>
          <a:chExt cx="0" cy="0"/>
        </a:xfrm>
      </p:grpSpPr>
      <p:sp>
        <p:nvSpPr>
          <p:cNvPr id="31" name="Google Shape;31;p7"/>
          <p:cNvSpPr txBox="1"/>
          <p:nvPr>
            <p:ph type="title"/>
          </p:nvPr>
        </p:nvSpPr>
        <p:spPr>
          <a:xfrm>
            <a:off x="360000" y="360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8"/>
          <p:cNvSpPr txBox="1"/>
          <p:nvPr>
            <p:ph type="title"/>
          </p:nvPr>
        </p:nvSpPr>
        <p:spPr>
          <a:xfrm>
            <a:off x="360000" y="360000"/>
            <a:ext cx="4050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8"/>
          <p:cNvSpPr txBox="1"/>
          <p:nvPr>
            <p:ph idx="1" type="body"/>
          </p:nvPr>
        </p:nvSpPr>
        <p:spPr>
          <a:xfrm>
            <a:off x="360000" y="1389600"/>
            <a:ext cx="4050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0"/>
              </a:spcBef>
              <a:spcAft>
                <a:spcPts val="0"/>
              </a:spcAft>
              <a:buClr>
                <a:schemeClr val="dk1"/>
              </a:buClr>
              <a:buSzPts val="1200"/>
              <a:buChar char="○"/>
              <a:defRPr sz="1200">
                <a:solidFill>
                  <a:schemeClr val="dk1"/>
                </a:solidFill>
              </a:defRPr>
            </a:lvl2pPr>
            <a:lvl3pPr indent="-304800" lvl="2" marL="1371600">
              <a:spcBef>
                <a:spcPts val="0"/>
              </a:spcBef>
              <a:spcAft>
                <a:spcPts val="0"/>
              </a:spcAft>
              <a:buClr>
                <a:schemeClr val="dk1"/>
              </a:buClr>
              <a:buSzPts val="1200"/>
              <a:buChar char="■"/>
              <a:defRPr sz="1200">
                <a:solidFill>
                  <a:schemeClr val="dk1"/>
                </a:solidFill>
              </a:defRPr>
            </a:lvl3pPr>
            <a:lvl4pPr indent="-304800" lvl="3" marL="1828800">
              <a:spcBef>
                <a:spcPts val="0"/>
              </a:spcBef>
              <a:spcAft>
                <a:spcPts val="0"/>
              </a:spcAft>
              <a:buClr>
                <a:schemeClr val="dk1"/>
              </a:buClr>
              <a:buSzPts val="1200"/>
              <a:buChar char="●"/>
              <a:defRPr sz="1200">
                <a:solidFill>
                  <a:schemeClr val="dk1"/>
                </a:solidFill>
              </a:defRPr>
            </a:lvl4pPr>
            <a:lvl5pPr indent="-304800" lvl="4" marL="2286000">
              <a:spcBef>
                <a:spcPts val="0"/>
              </a:spcBef>
              <a:spcAft>
                <a:spcPts val="0"/>
              </a:spcAft>
              <a:buClr>
                <a:schemeClr val="dk1"/>
              </a:buClr>
              <a:buSzPts val="1200"/>
              <a:buChar char="○"/>
              <a:defRPr sz="1200">
                <a:solidFill>
                  <a:schemeClr val="dk1"/>
                </a:solidFill>
              </a:defRPr>
            </a:lvl5pPr>
            <a:lvl6pPr indent="-304800" lvl="5" marL="2743200">
              <a:spcBef>
                <a:spcPts val="0"/>
              </a:spcBef>
              <a:spcAft>
                <a:spcPts val="0"/>
              </a:spcAft>
              <a:buClr>
                <a:schemeClr val="dk1"/>
              </a:buClr>
              <a:buSzPts val="1200"/>
              <a:buChar char="■"/>
              <a:defRPr sz="1200">
                <a:solidFill>
                  <a:schemeClr val="dk1"/>
                </a:solidFill>
              </a:defRPr>
            </a:lvl6pPr>
            <a:lvl7pPr indent="-304800" lvl="6" marL="3200400">
              <a:spcBef>
                <a:spcPts val="0"/>
              </a:spcBef>
              <a:spcAft>
                <a:spcPts val="0"/>
              </a:spcAft>
              <a:buClr>
                <a:schemeClr val="dk1"/>
              </a:buClr>
              <a:buSzPts val="1200"/>
              <a:buChar char="●"/>
              <a:defRPr sz="1200">
                <a:solidFill>
                  <a:schemeClr val="dk1"/>
                </a:solidFill>
              </a:defRPr>
            </a:lvl7pPr>
            <a:lvl8pPr indent="-304800" lvl="7" marL="3657600">
              <a:spcBef>
                <a:spcPts val="0"/>
              </a:spcBef>
              <a:spcAft>
                <a:spcPts val="0"/>
              </a:spcAft>
              <a:buClr>
                <a:schemeClr val="dk1"/>
              </a:buClr>
              <a:buSzPts val="1200"/>
              <a:buChar char="○"/>
              <a:defRPr sz="1200">
                <a:solidFill>
                  <a:schemeClr val="dk1"/>
                </a:solidFill>
              </a:defRPr>
            </a:lvl8pPr>
            <a:lvl9pPr indent="-304800" lvl="8" marL="4114800">
              <a:spcBef>
                <a:spcPts val="0"/>
              </a:spcBef>
              <a:spcAft>
                <a:spcPts val="0"/>
              </a:spcAft>
              <a:buClr>
                <a:schemeClr val="dk1"/>
              </a:buClr>
              <a:buSzPts val="1200"/>
              <a:buChar char="■"/>
              <a:defRPr sz="1200">
                <a:solidFill>
                  <a:schemeClr val="dk1"/>
                </a:solidFill>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　左揃え　Light">
  <p:cSld name="MAIN_POINT">
    <p:spTree>
      <p:nvGrpSpPr>
        <p:cNvPr id="37" name="Shape 37"/>
        <p:cNvGrpSpPr/>
        <p:nvPr/>
      </p:nvGrpSpPr>
      <p:grpSpPr>
        <a:xfrm>
          <a:off x="0" y="0"/>
          <a:ext cx="0" cy="0"/>
          <a:chOff x="0" y="0"/>
          <a:chExt cx="0" cy="0"/>
        </a:xfrm>
      </p:grpSpPr>
      <p:sp>
        <p:nvSpPr>
          <p:cNvPr id="38" name="Google Shape;38;p9"/>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 　中央揃え　Light">
  <p:cSld name="MAIN_POINT_1">
    <p:spTree>
      <p:nvGrpSpPr>
        <p:cNvPr id="40" name="Shape 40"/>
        <p:cNvGrpSpPr/>
        <p:nvPr/>
      </p:nvGrpSpPr>
      <p:grpSpPr>
        <a:xfrm>
          <a:off x="0" y="0"/>
          <a:ext cx="0" cy="0"/>
          <a:chOff x="0" y="0"/>
          <a:chExt cx="0" cy="0"/>
        </a:xfrm>
      </p:grpSpPr>
      <p:sp>
        <p:nvSpPr>
          <p:cNvPr id="41" name="Google Shape;41;p10"/>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 　中央揃え　Light 2">
  <p:cSld name="MAIN_POINT_1_3">
    <p:spTree>
      <p:nvGrpSpPr>
        <p:cNvPr id="43" name="Shape 43"/>
        <p:cNvGrpSpPr/>
        <p:nvPr/>
      </p:nvGrpSpPr>
      <p:grpSpPr>
        <a:xfrm>
          <a:off x="0" y="0"/>
          <a:ext cx="0" cy="0"/>
          <a:chOff x="0" y="0"/>
          <a:chExt cx="0" cy="0"/>
        </a:xfrm>
      </p:grpSpPr>
      <p:sp>
        <p:nvSpPr>
          <p:cNvPr id="44" name="Google Shape;44;p11"/>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5" name="Google Shape;4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2 　中央揃え　Light">
  <p:cSld name="MAIN_POINT_1_2">
    <p:spTree>
      <p:nvGrpSpPr>
        <p:cNvPr id="46" name="Shape 46"/>
        <p:cNvGrpSpPr/>
        <p:nvPr/>
      </p:nvGrpSpPr>
      <p:grpSpPr>
        <a:xfrm>
          <a:off x="0" y="0"/>
          <a:ext cx="0" cy="0"/>
          <a:chOff x="0" y="0"/>
          <a:chExt cx="0" cy="0"/>
        </a:xfrm>
      </p:grpSpPr>
      <p:sp>
        <p:nvSpPr>
          <p:cNvPr id="47" name="Google Shape;47;p12"/>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
        <p:nvSpPr>
          <p:cNvPr id="49" name="Google Shape;49;p12"/>
          <p:cNvSpPr txBox="1"/>
          <p:nvPr>
            <p:ph idx="1" type="subTitle"/>
          </p:nvPr>
        </p:nvSpPr>
        <p:spPr>
          <a:xfrm>
            <a:off x="360000" y="1066250"/>
            <a:ext cx="84240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2 　中央揃え　Light 1">
  <p:cSld name="MAIN_POINT_1_2_2">
    <p:spTree>
      <p:nvGrpSpPr>
        <p:cNvPr id="50" name="Shape 50"/>
        <p:cNvGrpSpPr/>
        <p:nvPr/>
      </p:nvGrpSpPr>
      <p:grpSpPr>
        <a:xfrm>
          <a:off x="0" y="0"/>
          <a:ext cx="0" cy="0"/>
          <a:chOff x="0" y="0"/>
          <a:chExt cx="0" cy="0"/>
        </a:xfrm>
      </p:grpSpPr>
      <p:sp>
        <p:nvSpPr>
          <p:cNvPr id="51" name="Google Shape;51;p13"/>
          <p:cNvSpPr/>
          <p:nvPr/>
        </p:nvSpPr>
        <p:spPr>
          <a:xfrm>
            <a:off x="180925" y="184700"/>
            <a:ext cx="8783100" cy="4760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
        <p:nvSpPr>
          <p:cNvPr id="54" name="Google Shape;54;p13"/>
          <p:cNvSpPr txBox="1"/>
          <p:nvPr>
            <p:ph idx="1" type="subTitle"/>
          </p:nvPr>
        </p:nvSpPr>
        <p:spPr>
          <a:xfrm>
            <a:off x="360000" y="1066250"/>
            <a:ext cx="84240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３ 　中央揃え　Light ">
  <p:cSld name="MAIN_POINT_1_2_1">
    <p:spTree>
      <p:nvGrpSpPr>
        <p:cNvPr id="55" name="Shape 55"/>
        <p:cNvGrpSpPr/>
        <p:nvPr/>
      </p:nvGrpSpPr>
      <p:grpSpPr>
        <a:xfrm>
          <a:off x="0" y="0"/>
          <a:ext cx="0" cy="0"/>
          <a:chOff x="0" y="0"/>
          <a:chExt cx="0" cy="0"/>
        </a:xfrm>
      </p:grpSpPr>
      <p:sp>
        <p:nvSpPr>
          <p:cNvPr id="56" name="Google Shape;56;p14"/>
          <p:cNvSpPr txBox="1"/>
          <p:nvPr>
            <p:ph type="title"/>
          </p:nvPr>
        </p:nvSpPr>
        <p:spPr>
          <a:xfrm>
            <a:off x="360000" y="1740025"/>
            <a:ext cx="8424000" cy="2119200"/>
          </a:xfrm>
          <a:prstGeom prst="rect">
            <a:avLst/>
          </a:prstGeom>
        </p:spPr>
        <p:txBody>
          <a:bodyPr anchorCtr="0" anchor="ctr" bIns="91425" lIns="91425" spcFirstLastPara="1" rIns="91425" wrap="square" tIns="91425">
            <a:normAutofit/>
          </a:bodyPr>
          <a:lstStyle>
            <a:lvl1pPr lvl="0" rtl="0">
              <a:spcBef>
                <a:spcPts val="0"/>
              </a:spcBef>
              <a:spcAft>
                <a:spcPts val="0"/>
              </a:spcAft>
              <a:buSzPts val="2400"/>
              <a:buNone/>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
        <p:nvSpPr>
          <p:cNvPr id="58" name="Google Shape;58;p14"/>
          <p:cNvSpPr txBox="1"/>
          <p:nvPr>
            <p:ph idx="1" type="subTitle"/>
          </p:nvPr>
        </p:nvSpPr>
        <p:spPr>
          <a:xfrm>
            <a:off x="360000" y="1066250"/>
            <a:ext cx="84240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３ 　中央揃え　Light  1">
  <p:cSld name="MAIN_POINT_1_2_1_1">
    <p:spTree>
      <p:nvGrpSpPr>
        <p:cNvPr id="59" name="Shape 59"/>
        <p:cNvGrpSpPr/>
        <p:nvPr/>
      </p:nvGrpSpPr>
      <p:grpSpPr>
        <a:xfrm>
          <a:off x="0" y="0"/>
          <a:ext cx="0" cy="0"/>
          <a:chOff x="0" y="0"/>
          <a:chExt cx="0" cy="0"/>
        </a:xfrm>
      </p:grpSpPr>
      <p:sp>
        <p:nvSpPr>
          <p:cNvPr id="60" name="Google Shape;60;p15"/>
          <p:cNvSpPr txBox="1"/>
          <p:nvPr>
            <p:ph type="title"/>
          </p:nvPr>
        </p:nvSpPr>
        <p:spPr>
          <a:xfrm>
            <a:off x="360000" y="1740025"/>
            <a:ext cx="8424000" cy="2119200"/>
          </a:xfrm>
          <a:prstGeom prst="rect">
            <a:avLst/>
          </a:prstGeom>
        </p:spPr>
        <p:txBody>
          <a:bodyPr anchorCtr="0" anchor="ctr" bIns="91425" lIns="91425" spcFirstLastPara="1" rIns="91425" wrap="square" tIns="91425">
            <a:normAutofit/>
          </a:bodyPr>
          <a:lstStyle>
            <a:lvl1pPr lvl="0" rtl="0">
              <a:spcBef>
                <a:spcPts val="0"/>
              </a:spcBef>
              <a:spcAft>
                <a:spcPts val="0"/>
              </a:spcAft>
              <a:buSzPts val="2400"/>
              <a:buNone/>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1" name="Google Shape;6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
        <p:nvSpPr>
          <p:cNvPr id="62" name="Google Shape;62;p15"/>
          <p:cNvSpPr txBox="1"/>
          <p:nvPr>
            <p:ph idx="1" type="subTitle"/>
          </p:nvPr>
        </p:nvSpPr>
        <p:spPr>
          <a:xfrm>
            <a:off x="360000" y="360000"/>
            <a:ext cx="8424000" cy="792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3000"/>
              <a:buNone/>
              <a:defRPr b="1" sz="30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　左揃え　Dark">
  <p:cSld name="MAIN_POINT_2">
    <p:bg>
      <p:bgPr>
        <a:solidFill>
          <a:schemeClr val="dk1"/>
        </a:solidFill>
      </p:bgPr>
    </p:bg>
    <p:spTree>
      <p:nvGrpSpPr>
        <p:cNvPr id="63" name="Shape 63"/>
        <p:cNvGrpSpPr/>
        <p:nvPr/>
      </p:nvGrpSpPr>
      <p:grpSpPr>
        <a:xfrm>
          <a:off x="0" y="0"/>
          <a:ext cx="0" cy="0"/>
          <a:chOff x="0" y="0"/>
          <a:chExt cx="0" cy="0"/>
        </a:xfrm>
      </p:grpSpPr>
      <p:sp>
        <p:nvSpPr>
          <p:cNvPr id="64" name="Google Shape;64;p16"/>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5" name="Google Shape;6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 　中央揃え　Light 1">
  <p:cSld name="MAIN_POINT_1_1">
    <p:bg>
      <p:bgPr>
        <a:solidFill>
          <a:schemeClr val="dk1"/>
        </a:solidFill>
      </p:bgPr>
    </p:bg>
    <p:spTree>
      <p:nvGrpSpPr>
        <p:cNvPr id="66" name="Shape 66"/>
        <p:cNvGrpSpPr/>
        <p:nvPr/>
      </p:nvGrpSpPr>
      <p:grpSpPr>
        <a:xfrm>
          <a:off x="0" y="0"/>
          <a:ext cx="0" cy="0"/>
          <a:chOff x="0" y="0"/>
          <a:chExt cx="0" cy="0"/>
        </a:xfrm>
      </p:grpSpPr>
      <p:sp>
        <p:nvSpPr>
          <p:cNvPr id="67" name="Google Shape;67;p17"/>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4800"/>
              <a:buNone/>
              <a:defRPr sz="4800">
                <a:solidFill>
                  <a:schemeClr val="lt1"/>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8" name="Google Shape;6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 name="Shape 69"/>
        <p:cNvGrpSpPr/>
        <p:nvPr/>
      </p:nvGrpSpPr>
      <p:grpSpPr>
        <a:xfrm>
          <a:off x="0" y="0"/>
          <a:ext cx="0" cy="0"/>
          <a:chOff x="0" y="0"/>
          <a:chExt cx="0" cy="0"/>
        </a:xfrm>
      </p:grpSpPr>
      <p:sp>
        <p:nvSpPr>
          <p:cNvPr id="70" name="Google Shape;70;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8"/>
          <p:cNvSpPr txBox="1"/>
          <p:nvPr>
            <p:ph type="title"/>
          </p:nvPr>
        </p:nvSpPr>
        <p:spPr>
          <a:xfrm>
            <a:off x="360000" y="1233175"/>
            <a:ext cx="39507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2" name="Google Shape;72;p18"/>
          <p:cNvSpPr txBox="1"/>
          <p:nvPr>
            <p:ph idx="1" type="subTitle"/>
          </p:nvPr>
        </p:nvSpPr>
        <p:spPr>
          <a:xfrm>
            <a:off x="360000" y="2803075"/>
            <a:ext cx="40500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3" name="Google Shape;73;p18"/>
          <p:cNvSpPr txBox="1"/>
          <p:nvPr>
            <p:ph idx="2" type="body"/>
          </p:nvPr>
        </p:nvSpPr>
        <p:spPr>
          <a:xfrm>
            <a:off x="4924250" y="724075"/>
            <a:ext cx="38523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74" name="Google Shape;7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 name="Shape 75"/>
        <p:cNvGrpSpPr/>
        <p:nvPr/>
      </p:nvGrpSpPr>
      <p:grpSpPr>
        <a:xfrm>
          <a:off x="0" y="0"/>
          <a:ext cx="0" cy="0"/>
          <a:chOff x="0" y="0"/>
          <a:chExt cx="0" cy="0"/>
        </a:xfrm>
      </p:grpSpPr>
      <p:sp>
        <p:nvSpPr>
          <p:cNvPr id="76" name="Google Shape;76;p19"/>
          <p:cNvSpPr txBox="1"/>
          <p:nvPr>
            <p:ph idx="1" type="body"/>
          </p:nvPr>
        </p:nvSpPr>
        <p:spPr>
          <a:xfrm>
            <a:off x="360000" y="4230575"/>
            <a:ext cx="59505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400"/>
              <a:buNone/>
              <a:defRPr sz="1400"/>
            </a:lvl1pPr>
          </a:lstStyle>
          <a:p/>
        </p:txBody>
      </p:sp>
      <p:sp>
        <p:nvSpPr>
          <p:cNvPr id="77" name="Google Shape;7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8" name="Shape 78"/>
        <p:cNvGrpSpPr/>
        <p:nvPr/>
      </p:nvGrpSpPr>
      <p:grpSpPr>
        <a:xfrm>
          <a:off x="0" y="0"/>
          <a:ext cx="0" cy="0"/>
          <a:chOff x="0" y="0"/>
          <a:chExt cx="0" cy="0"/>
        </a:xfrm>
      </p:grpSpPr>
      <p:sp>
        <p:nvSpPr>
          <p:cNvPr id="79" name="Google Shape;79;p2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0" name="Google Shape;80;p20"/>
          <p:cNvSpPr txBox="1"/>
          <p:nvPr>
            <p:ph idx="1" type="body"/>
          </p:nvPr>
        </p:nvSpPr>
        <p:spPr>
          <a:xfrm>
            <a:off x="360000" y="3152225"/>
            <a:ext cx="84240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81" name="Google Shape;8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2" name="Shape 82"/>
        <p:cNvGrpSpPr/>
        <p:nvPr/>
      </p:nvGrpSpPr>
      <p:grpSpPr>
        <a:xfrm>
          <a:off x="0" y="0"/>
          <a:ext cx="0" cy="0"/>
          <a:chOff x="0" y="0"/>
          <a:chExt cx="0" cy="0"/>
        </a:xfrm>
      </p:grpSpPr>
      <p:sp>
        <p:nvSpPr>
          <p:cNvPr id="83" name="Google Shape;8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カスタム レイアウト 1">
  <p:cSld name="CUSTOM">
    <p:spTree>
      <p:nvGrpSpPr>
        <p:cNvPr id="84" name="Shape 84"/>
        <p:cNvGrpSpPr/>
        <p:nvPr/>
      </p:nvGrpSpPr>
      <p:grpSpPr>
        <a:xfrm>
          <a:off x="0" y="0"/>
          <a:ext cx="0" cy="0"/>
          <a:chOff x="0" y="0"/>
          <a:chExt cx="0" cy="0"/>
        </a:xfrm>
      </p:grpSpPr>
      <p:sp>
        <p:nvSpPr>
          <p:cNvPr id="85" name="Google Shape;85;p22"/>
          <p:cNvSpPr/>
          <p:nvPr/>
        </p:nvSpPr>
        <p:spPr>
          <a:xfrm>
            <a:off x="0" y="0"/>
            <a:ext cx="3056400" cy="51435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2"/>
          <p:cNvSpPr txBox="1"/>
          <p:nvPr>
            <p:ph type="title"/>
          </p:nvPr>
        </p:nvSpPr>
        <p:spPr>
          <a:xfrm>
            <a:off x="360000" y="360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 name="Google Shape;87;p22"/>
          <p:cNvSpPr txBox="1"/>
          <p:nvPr>
            <p:ph idx="1" type="body"/>
          </p:nvPr>
        </p:nvSpPr>
        <p:spPr>
          <a:xfrm>
            <a:off x="3313375" y="1152475"/>
            <a:ext cx="54705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8" name="Google Shape;88;p2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
  <p:cSld name="ユーザー設定レイアウト">
    <p:bg>
      <p:bgPr>
        <a:solidFill>
          <a:schemeClr val="accent1"/>
        </a:solidFill>
      </p:bgPr>
    </p:bg>
    <p:spTree>
      <p:nvGrpSpPr>
        <p:cNvPr id="89" name="Shape 89"/>
        <p:cNvGrpSpPr/>
        <p:nvPr/>
      </p:nvGrpSpPr>
      <p:grpSpPr>
        <a:xfrm>
          <a:off x="0" y="0"/>
          <a:ext cx="0" cy="0"/>
          <a:chOff x="0" y="0"/>
          <a:chExt cx="0" cy="0"/>
        </a:xfrm>
      </p:grpSpPr>
      <p:sp>
        <p:nvSpPr>
          <p:cNvPr id="90" name="Google Shape;90;p23"/>
          <p:cNvSpPr txBox="1"/>
          <p:nvPr>
            <p:ph idx="1" type="body"/>
          </p:nvPr>
        </p:nvSpPr>
        <p:spPr>
          <a:xfrm>
            <a:off x="383423" y="2358826"/>
            <a:ext cx="8238000" cy="641700"/>
          </a:xfrm>
          <a:prstGeom prst="rect">
            <a:avLst/>
          </a:prstGeom>
          <a:noFill/>
          <a:ln>
            <a:noFill/>
          </a:ln>
        </p:spPr>
        <p:txBody>
          <a:bodyPr anchorCtr="0" anchor="t" bIns="34275" lIns="0" spcFirstLastPara="1" rIns="0" wrap="square" tIns="34275">
            <a:normAutofit/>
          </a:bodyPr>
          <a:lstStyle>
            <a:lvl1pPr indent="-228600" lvl="0" marL="457200" marR="0" rtl="0" algn="l">
              <a:spcBef>
                <a:spcPts val="70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indent="-406400" lvl="1" marL="914400" marR="0" rtl="0" algn="l">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12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1200"/>
              </a:spcBef>
              <a:spcAft>
                <a:spcPts val="12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1" name="Google Shape;91;p23"/>
          <p:cNvSpPr txBox="1"/>
          <p:nvPr>
            <p:ph idx="2" type="body"/>
          </p:nvPr>
        </p:nvSpPr>
        <p:spPr>
          <a:xfrm>
            <a:off x="383423" y="3000573"/>
            <a:ext cx="8238000" cy="641700"/>
          </a:xfrm>
          <a:prstGeom prst="rect">
            <a:avLst/>
          </a:prstGeom>
          <a:noFill/>
          <a:ln>
            <a:noFill/>
          </a:ln>
        </p:spPr>
        <p:txBody>
          <a:bodyPr anchorCtr="0" anchor="t" bIns="34275" lIns="0" spcFirstLastPara="1" rIns="0" wrap="square" tIns="34275">
            <a:normAutofit/>
          </a:bodyPr>
          <a:lstStyle>
            <a:lvl1pPr indent="-228600" lvl="0" marL="457200" marR="0" rtl="0" algn="l">
              <a:spcBef>
                <a:spcPts val="3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406400" lvl="1" marL="914400" marR="0" rtl="0" algn="l">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12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1200"/>
              </a:spcBef>
              <a:spcAft>
                <a:spcPts val="12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2" name="Google Shape;92;p23"/>
          <p:cNvSpPr txBox="1"/>
          <p:nvPr>
            <p:ph idx="3" type="body"/>
          </p:nvPr>
        </p:nvSpPr>
        <p:spPr>
          <a:xfrm>
            <a:off x="383423" y="1618450"/>
            <a:ext cx="5345700" cy="418200"/>
          </a:xfrm>
          <a:prstGeom prst="rect">
            <a:avLst/>
          </a:prstGeom>
          <a:noFill/>
          <a:ln>
            <a:noFill/>
          </a:ln>
        </p:spPr>
        <p:txBody>
          <a:bodyPr anchorCtr="0" anchor="t" bIns="34275" lIns="0" spcFirstLastPara="1" rIns="0" wrap="square" tIns="34275">
            <a:normAutofit/>
          </a:bodyPr>
          <a:lstStyle>
            <a:lvl1pPr indent="-228600" lvl="0" marL="457200" marR="0" rtl="0" algn="l">
              <a:lnSpc>
                <a:spcPct val="100000"/>
              </a:lnSpc>
              <a:spcBef>
                <a:spcPts val="40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indent="-406400" lvl="1" marL="914400" marR="0" rtl="0" algn="l">
              <a:spcBef>
                <a:spcPts val="6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12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1200"/>
              </a:spcBef>
              <a:spcAft>
                <a:spcPts val="12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3" name="Google Shape;93;p23"/>
          <p:cNvSpPr txBox="1"/>
          <p:nvPr>
            <p:ph idx="4" type="body"/>
          </p:nvPr>
        </p:nvSpPr>
        <p:spPr>
          <a:xfrm>
            <a:off x="383423" y="4055791"/>
            <a:ext cx="5345700" cy="641700"/>
          </a:xfrm>
          <a:prstGeom prst="rect">
            <a:avLst/>
          </a:prstGeom>
          <a:noFill/>
          <a:ln>
            <a:noFill/>
          </a:ln>
        </p:spPr>
        <p:txBody>
          <a:bodyPr anchorCtr="0" anchor="b" bIns="34275" lIns="0" spcFirstLastPara="1" rIns="0" wrap="square" tIns="34275">
            <a:normAutofit/>
          </a:bodyPr>
          <a:lstStyle>
            <a:lvl1pPr indent="-228600" lvl="0" marL="457200" marR="0" rtl="0" algn="l">
              <a:lnSpc>
                <a:spcPct val="140000"/>
              </a:lnSpc>
              <a:spcBef>
                <a:spcPts val="0"/>
              </a:spcBef>
              <a:spcAft>
                <a:spcPts val="0"/>
              </a:spcAft>
              <a:buClr>
                <a:schemeClr val="lt1"/>
              </a:buClr>
              <a:buSzPts val="1100"/>
              <a:buFont typeface="Arial"/>
              <a:buNone/>
              <a:defRPr b="0" i="0" sz="1100" u="none" cap="none" strike="noStrike">
                <a:solidFill>
                  <a:schemeClr val="lt1"/>
                </a:solidFill>
                <a:latin typeface="Arial"/>
                <a:ea typeface="Arial"/>
                <a:cs typeface="Arial"/>
                <a:sym typeface="Arial"/>
              </a:defRPr>
            </a:lvl1pPr>
            <a:lvl2pPr indent="-406400" lvl="1" marL="914400" marR="0" rtl="0" algn="l">
              <a:spcBef>
                <a:spcPts val="6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12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1200"/>
              </a:spcBef>
              <a:spcAft>
                <a:spcPts val="12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4" name="Google Shape;94;p2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solidFill>
                  <a:schemeClr val="lt1"/>
                </a:solidFill>
              </a:defRPr>
            </a:lvl1pPr>
            <a:lvl2pPr lvl="1">
              <a:buNone/>
              <a:defRPr sz="1300">
                <a:solidFill>
                  <a:schemeClr val="lt1"/>
                </a:solidFill>
              </a:defRPr>
            </a:lvl2pPr>
            <a:lvl3pPr lvl="2">
              <a:buNone/>
              <a:defRPr sz="1300">
                <a:solidFill>
                  <a:schemeClr val="lt1"/>
                </a:solidFill>
              </a:defRPr>
            </a:lvl3pPr>
            <a:lvl4pPr lvl="3">
              <a:buNone/>
              <a:defRPr sz="1300">
                <a:solidFill>
                  <a:schemeClr val="lt1"/>
                </a:solidFill>
              </a:defRPr>
            </a:lvl4pPr>
            <a:lvl5pPr lvl="4">
              <a:buNone/>
              <a:defRPr sz="1300">
                <a:solidFill>
                  <a:schemeClr val="lt1"/>
                </a:solidFill>
              </a:defRPr>
            </a:lvl5pPr>
            <a:lvl6pPr lvl="5">
              <a:buNone/>
              <a:defRPr sz="1300">
                <a:solidFill>
                  <a:schemeClr val="lt1"/>
                </a:solidFill>
              </a:defRPr>
            </a:lvl6pPr>
            <a:lvl7pPr lvl="6">
              <a:buNone/>
              <a:defRPr sz="1300">
                <a:solidFill>
                  <a:schemeClr val="lt1"/>
                </a:solidFill>
              </a:defRPr>
            </a:lvl7pPr>
            <a:lvl8pPr lvl="7">
              <a:buNone/>
              <a:defRPr sz="1300">
                <a:solidFill>
                  <a:schemeClr val="lt1"/>
                </a:solidFill>
              </a:defRPr>
            </a:lvl8pPr>
            <a:lvl9pPr lvl="8">
              <a:buNone/>
              <a:defRPr sz="1300">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アジェンダ">
  <p:cSld name="7_アジェンダ">
    <p:spTree>
      <p:nvGrpSpPr>
        <p:cNvPr id="95" name="Shape 95"/>
        <p:cNvGrpSpPr/>
        <p:nvPr/>
      </p:nvGrpSpPr>
      <p:grpSpPr>
        <a:xfrm>
          <a:off x="0" y="0"/>
          <a:ext cx="0" cy="0"/>
          <a:chOff x="0" y="0"/>
          <a:chExt cx="0" cy="0"/>
        </a:xfrm>
      </p:grpSpPr>
      <p:sp>
        <p:nvSpPr>
          <p:cNvPr id="96" name="Google Shape;96;p24"/>
          <p:cNvSpPr txBox="1"/>
          <p:nvPr>
            <p:ph idx="12" type="sldNum"/>
          </p:nvPr>
        </p:nvSpPr>
        <p:spPr>
          <a:xfrm>
            <a:off x="8630888" y="4901717"/>
            <a:ext cx="342000" cy="1425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9pPr>
          </a:lstStyle>
          <a:p>
            <a:pPr indent="0" lvl="0" marL="0" rtl="0" algn="r">
              <a:spcBef>
                <a:spcPts val="0"/>
              </a:spcBef>
              <a:spcAft>
                <a:spcPts val="0"/>
              </a:spcAft>
              <a:buNone/>
            </a:pPr>
            <a:fld id="{00000000-1234-1234-1234-123412341234}" type="slidenum">
              <a:rPr lang="ja"/>
              <a:t>‹#›</a:t>
            </a:fld>
            <a:endParaRPr/>
          </a:p>
        </p:txBody>
      </p:sp>
      <p:sp>
        <p:nvSpPr>
          <p:cNvPr id="97" name="Google Shape;97;p24"/>
          <p:cNvSpPr txBox="1"/>
          <p:nvPr>
            <p:ph type="title"/>
          </p:nvPr>
        </p:nvSpPr>
        <p:spPr>
          <a:xfrm>
            <a:off x="383425" y="294450"/>
            <a:ext cx="7151400" cy="289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1400"/>
              <a:buFont typeface="HiraKakuPro-W3"/>
              <a:buNone/>
              <a:defRPr b="1" i="0" sz="1400" u="none" cap="none" strike="noStrike">
                <a:solidFill>
                  <a:schemeClr val="accent1"/>
                </a:solidFill>
                <a:latin typeface="HiraKakuPro-W3"/>
                <a:ea typeface="HiraKakuPro-W3"/>
                <a:cs typeface="HiraKakuPro-W3"/>
                <a:sym typeface="HiraKakuPro-W3"/>
              </a:defRPr>
            </a:lvl1pPr>
            <a:lvl2pPr lvl="1"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2pPr>
            <a:lvl3pPr lvl="2"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3pPr>
            <a:lvl4pPr lvl="3"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4pPr>
            <a:lvl5pPr lvl="4"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5pPr>
            <a:lvl6pPr lvl="5"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6pPr>
            <a:lvl7pPr lvl="6"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7pPr>
            <a:lvl8pPr lvl="7"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8pPr>
            <a:lvl9pPr lvl="8"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9pPr>
          </a:lstStyle>
          <a:p/>
        </p:txBody>
      </p:sp>
      <p:sp>
        <p:nvSpPr>
          <p:cNvPr id="98" name="Google Shape;98;p24"/>
          <p:cNvSpPr txBox="1"/>
          <p:nvPr>
            <p:ph idx="1" type="body"/>
          </p:nvPr>
        </p:nvSpPr>
        <p:spPr>
          <a:xfrm>
            <a:off x="383381" y="764697"/>
            <a:ext cx="8377200" cy="16143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30000"/>
              </a:lnSpc>
              <a:spcBef>
                <a:spcPts val="0"/>
              </a:spcBef>
              <a:spcAft>
                <a:spcPts val="0"/>
              </a:spcAft>
              <a:buClr>
                <a:srgbClr val="404040"/>
              </a:buClr>
              <a:buSzPts val="1100"/>
              <a:buFont typeface="HiraKakuPro-W3"/>
              <a:buNone/>
              <a:defRPr b="0" i="0" sz="1100" u="none" cap="none" strike="noStrike">
                <a:solidFill>
                  <a:srgbClr val="404040"/>
                </a:solidFill>
                <a:latin typeface="HiraKakuPro-W3"/>
                <a:ea typeface="HiraKakuPro-W3"/>
                <a:cs typeface="HiraKakuPro-W3"/>
                <a:sym typeface="HiraKakuPro-W3"/>
              </a:defRPr>
            </a:lvl1pPr>
            <a:lvl2pPr indent="-298450" lvl="1" marL="914400" marR="0" rtl="0" algn="l">
              <a:lnSpc>
                <a:spcPct val="150000"/>
              </a:lnSpc>
              <a:spcBef>
                <a:spcPts val="0"/>
              </a:spcBef>
              <a:spcAft>
                <a:spcPts val="0"/>
              </a:spcAft>
              <a:buClr>
                <a:srgbClr val="404040"/>
              </a:buClr>
              <a:buSzPts val="1100"/>
              <a:buFont typeface="HiraKakuPro-W3"/>
              <a:buChar char="–"/>
              <a:defRPr b="0" i="0" sz="1100" u="none" cap="none" strike="noStrike">
                <a:solidFill>
                  <a:srgbClr val="404040"/>
                </a:solidFill>
                <a:latin typeface="HiraKakuPro-W3"/>
                <a:ea typeface="HiraKakuPro-W3"/>
                <a:cs typeface="HiraKakuPro-W3"/>
                <a:sym typeface="HiraKakuPro-W3"/>
              </a:defRPr>
            </a:lvl2pPr>
            <a:lvl3pPr indent="-298450" lvl="2" marL="1371600" marR="0" rtl="0" algn="l">
              <a:lnSpc>
                <a:spcPct val="150000"/>
              </a:lnSpc>
              <a:spcBef>
                <a:spcPts val="0"/>
              </a:spcBef>
              <a:spcAft>
                <a:spcPts val="0"/>
              </a:spcAft>
              <a:buClr>
                <a:srgbClr val="404040"/>
              </a:buClr>
              <a:buSzPts val="1100"/>
              <a:buFont typeface="HiraKakuPro-W3"/>
              <a:buChar char="•"/>
              <a:defRPr b="0" i="0" sz="1100" u="none" cap="none" strike="noStrike">
                <a:solidFill>
                  <a:srgbClr val="404040"/>
                </a:solidFill>
                <a:latin typeface="HiraKakuPro-W3"/>
                <a:ea typeface="HiraKakuPro-W3"/>
                <a:cs typeface="HiraKakuPro-W3"/>
                <a:sym typeface="HiraKakuPro-W3"/>
              </a:defRPr>
            </a:lvl3pPr>
            <a:lvl4pPr indent="-298450" lvl="3" marL="1828800" marR="0" rtl="0" algn="l">
              <a:lnSpc>
                <a:spcPct val="150000"/>
              </a:lnSpc>
              <a:spcBef>
                <a:spcPts val="0"/>
              </a:spcBef>
              <a:spcAft>
                <a:spcPts val="0"/>
              </a:spcAft>
              <a:buClr>
                <a:srgbClr val="404040"/>
              </a:buClr>
              <a:buSzPts val="1100"/>
              <a:buFont typeface="HiraKakuPro-W3"/>
              <a:buChar char="–"/>
              <a:defRPr b="0" i="0" sz="1100" u="none" cap="none" strike="noStrike">
                <a:solidFill>
                  <a:srgbClr val="404040"/>
                </a:solidFill>
                <a:latin typeface="HiraKakuPro-W3"/>
                <a:ea typeface="HiraKakuPro-W3"/>
                <a:cs typeface="HiraKakuPro-W3"/>
                <a:sym typeface="HiraKakuPro-W3"/>
              </a:defRPr>
            </a:lvl4pPr>
            <a:lvl5pPr indent="-298450" lvl="4" marL="2286000" marR="0" rtl="0" algn="l">
              <a:lnSpc>
                <a:spcPct val="150000"/>
              </a:lnSpc>
              <a:spcBef>
                <a:spcPts val="0"/>
              </a:spcBef>
              <a:spcAft>
                <a:spcPts val="0"/>
              </a:spcAft>
              <a:buClr>
                <a:srgbClr val="404040"/>
              </a:buClr>
              <a:buSzPts val="1100"/>
              <a:buFont typeface="HiraKakuPro-W3"/>
              <a:buChar char="»"/>
              <a:defRPr b="0" i="0" sz="1100" u="none" cap="none" strike="noStrike">
                <a:solidFill>
                  <a:srgbClr val="404040"/>
                </a:solidFill>
                <a:latin typeface="HiraKakuPro-W3"/>
                <a:ea typeface="HiraKakuPro-W3"/>
                <a:cs typeface="HiraKakuPro-W3"/>
                <a:sym typeface="HiraKakuPro-W3"/>
              </a:defRPr>
            </a:lvl5pPr>
            <a:lvl6pPr indent="-355600" lvl="5" marL="2743200" marR="0" rtl="0" algn="l">
              <a:lnSpc>
                <a:spcPct val="100000"/>
              </a:lnSpc>
              <a:spcBef>
                <a:spcPts val="400"/>
              </a:spcBef>
              <a:spcAft>
                <a:spcPts val="0"/>
              </a:spcAft>
              <a:buClr>
                <a:schemeClr val="dk1"/>
              </a:buClr>
              <a:buSzPts val="2000"/>
              <a:buFont typeface="HiraKakuPro-W3"/>
              <a:buChar char="•"/>
              <a:defRPr b="0" i="0" sz="2000" u="none" cap="none" strike="noStrike">
                <a:solidFill>
                  <a:schemeClr val="dk1"/>
                </a:solidFill>
                <a:latin typeface="HiraKakuPro-W3"/>
                <a:ea typeface="HiraKakuPro-W3"/>
                <a:cs typeface="HiraKakuPro-W3"/>
                <a:sym typeface="HiraKakuPro-W3"/>
              </a:defRPr>
            </a:lvl6pPr>
            <a:lvl7pPr indent="-355600" lvl="6" marL="3200400" marR="0" rtl="0" algn="l">
              <a:lnSpc>
                <a:spcPct val="100000"/>
              </a:lnSpc>
              <a:spcBef>
                <a:spcPts val="400"/>
              </a:spcBef>
              <a:spcAft>
                <a:spcPts val="0"/>
              </a:spcAft>
              <a:buClr>
                <a:schemeClr val="dk1"/>
              </a:buClr>
              <a:buSzPts val="2000"/>
              <a:buFont typeface="HiraKakuPro-W3"/>
              <a:buChar char="•"/>
              <a:defRPr b="0" i="0" sz="2000" u="none" cap="none" strike="noStrike">
                <a:solidFill>
                  <a:schemeClr val="dk1"/>
                </a:solidFill>
                <a:latin typeface="HiraKakuPro-W3"/>
                <a:ea typeface="HiraKakuPro-W3"/>
                <a:cs typeface="HiraKakuPro-W3"/>
                <a:sym typeface="HiraKakuPro-W3"/>
              </a:defRPr>
            </a:lvl7pPr>
            <a:lvl8pPr indent="-355600" lvl="7" marL="3657600" marR="0" rtl="0" algn="l">
              <a:lnSpc>
                <a:spcPct val="100000"/>
              </a:lnSpc>
              <a:spcBef>
                <a:spcPts val="400"/>
              </a:spcBef>
              <a:spcAft>
                <a:spcPts val="0"/>
              </a:spcAft>
              <a:buClr>
                <a:schemeClr val="dk1"/>
              </a:buClr>
              <a:buSzPts val="2000"/>
              <a:buFont typeface="HiraKakuPro-W3"/>
              <a:buChar char="•"/>
              <a:defRPr b="0" i="0" sz="2000" u="none" cap="none" strike="noStrike">
                <a:solidFill>
                  <a:schemeClr val="dk1"/>
                </a:solidFill>
                <a:latin typeface="HiraKakuPro-W3"/>
                <a:ea typeface="HiraKakuPro-W3"/>
                <a:cs typeface="HiraKakuPro-W3"/>
                <a:sym typeface="HiraKakuPro-W3"/>
              </a:defRPr>
            </a:lvl8pPr>
            <a:lvl9pPr indent="-355600" lvl="8" marL="4114800" marR="0" rtl="0" algn="l">
              <a:lnSpc>
                <a:spcPct val="100000"/>
              </a:lnSpc>
              <a:spcBef>
                <a:spcPts val="400"/>
              </a:spcBef>
              <a:spcAft>
                <a:spcPts val="0"/>
              </a:spcAft>
              <a:buClr>
                <a:schemeClr val="dk1"/>
              </a:buClr>
              <a:buSzPts val="2000"/>
              <a:buFont typeface="HiraKakuPro-W3"/>
              <a:buChar char="•"/>
              <a:defRPr b="0" i="0" sz="2000" u="none" cap="none" strike="noStrike">
                <a:solidFill>
                  <a:schemeClr val="dk1"/>
                </a:solidFill>
                <a:latin typeface="HiraKakuPro-W3"/>
                <a:ea typeface="HiraKakuPro-W3"/>
                <a:cs typeface="HiraKakuPro-W3"/>
                <a:sym typeface="HiraKakuPro-W3"/>
              </a:defRPr>
            </a:lvl9pPr>
          </a:lstStyle>
          <a:p/>
        </p:txBody>
      </p:sp>
    </p:spTree>
  </p:cSld>
  <p:clrMapOvr>
    <a:masterClrMapping/>
  </p:clrMapOvr>
  <p:extLst>
    <p:ext uri="{DCECCB84-F9BA-43D5-87BE-67443E8EF086}">
      <p15:sldGuideLst>
        <p15:guide id="1" orient="horz" pos="1620">
          <p15:clr>
            <a:srgbClr val="FBAE40"/>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0000" y="360000"/>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400"/>
              <a:buNone/>
              <a:defRPr b="1" sz="24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60000" y="1152475"/>
            <a:ext cx="8424000" cy="3416400"/>
          </a:xfrm>
          <a:prstGeom prst="rect">
            <a:avLst/>
          </a:prstGeom>
          <a:noFill/>
          <a:ln>
            <a:noFill/>
          </a:ln>
        </p:spPr>
        <p:txBody>
          <a:bodyPr anchorCtr="0" anchor="t" bIns="91425" lIns="91425" spcFirstLastPara="1" rIns="91425" wrap="square" tIns="91425">
            <a:normAutofit/>
          </a:bodyPr>
          <a:lstStyle>
            <a:lvl1pPr indent="-342900" lvl="0" marL="457200">
              <a:lnSpc>
                <a:spcPct val="150000"/>
              </a:lnSpc>
              <a:spcBef>
                <a:spcPts val="0"/>
              </a:spcBef>
              <a:spcAft>
                <a:spcPts val="0"/>
              </a:spcAft>
              <a:buClr>
                <a:schemeClr val="dk1"/>
              </a:buClr>
              <a:buSzPts val="1800"/>
              <a:buChar char="●"/>
              <a:defRPr sz="1800">
                <a:solidFill>
                  <a:schemeClr val="dk1"/>
                </a:solidFill>
              </a:defRPr>
            </a:lvl1pPr>
            <a:lvl2pPr indent="-317500" lvl="1" marL="914400">
              <a:lnSpc>
                <a:spcPct val="150000"/>
              </a:lnSpc>
              <a:spcBef>
                <a:spcPts val="0"/>
              </a:spcBef>
              <a:spcAft>
                <a:spcPts val="0"/>
              </a:spcAft>
              <a:buClr>
                <a:schemeClr val="dk1"/>
              </a:buClr>
              <a:buSzPts val="1400"/>
              <a:buChar char="○"/>
              <a:defRPr>
                <a:solidFill>
                  <a:schemeClr val="dk1"/>
                </a:solidFill>
              </a:defRPr>
            </a:lvl2pPr>
            <a:lvl3pPr indent="-317500" lvl="2" marL="1371600">
              <a:lnSpc>
                <a:spcPct val="150000"/>
              </a:lnSpc>
              <a:spcBef>
                <a:spcPts val="0"/>
              </a:spcBef>
              <a:spcAft>
                <a:spcPts val="0"/>
              </a:spcAft>
              <a:buClr>
                <a:schemeClr val="dk1"/>
              </a:buClr>
              <a:buSzPts val="1400"/>
              <a:buChar char="■"/>
              <a:defRPr>
                <a:solidFill>
                  <a:schemeClr val="dk1"/>
                </a:solidFill>
              </a:defRPr>
            </a:lvl3pPr>
            <a:lvl4pPr indent="-317500" lvl="3" marL="1828800">
              <a:lnSpc>
                <a:spcPct val="150000"/>
              </a:lnSpc>
              <a:spcBef>
                <a:spcPts val="0"/>
              </a:spcBef>
              <a:spcAft>
                <a:spcPts val="0"/>
              </a:spcAft>
              <a:buClr>
                <a:schemeClr val="dk1"/>
              </a:buClr>
              <a:buSzPts val="1400"/>
              <a:buChar char="●"/>
              <a:defRPr>
                <a:solidFill>
                  <a:schemeClr val="dk1"/>
                </a:solidFill>
              </a:defRPr>
            </a:lvl4pPr>
            <a:lvl5pPr indent="-317500" lvl="4" marL="2286000">
              <a:lnSpc>
                <a:spcPct val="150000"/>
              </a:lnSpc>
              <a:spcBef>
                <a:spcPts val="0"/>
              </a:spcBef>
              <a:spcAft>
                <a:spcPts val="0"/>
              </a:spcAft>
              <a:buClr>
                <a:schemeClr val="dk1"/>
              </a:buClr>
              <a:buSzPts val="1400"/>
              <a:buChar char="○"/>
              <a:defRPr>
                <a:solidFill>
                  <a:schemeClr val="dk1"/>
                </a:solidFill>
              </a:defRPr>
            </a:lvl5pPr>
            <a:lvl6pPr indent="-317500" lvl="5" marL="2743200">
              <a:lnSpc>
                <a:spcPct val="150000"/>
              </a:lnSpc>
              <a:spcBef>
                <a:spcPts val="0"/>
              </a:spcBef>
              <a:spcAft>
                <a:spcPts val="0"/>
              </a:spcAft>
              <a:buClr>
                <a:schemeClr val="dk1"/>
              </a:buClr>
              <a:buSzPts val="1400"/>
              <a:buChar char="■"/>
              <a:defRPr>
                <a:solidFill>
                  <a:schemeClr val="dk1"/>
                </a:solidFill>
              </a:defRPr>
            </a:lvl6pPr>
            <a:lvl7pPr indent="-317500" lvl="6" marL="3200400">
              <a:lnSpc>
                <a:spcPct val="150000"/>
              </a:lnSpc>
              <a:spcBef>
                <a:spcPts val="0"/>
              </a:spcBef>
              <a:spcAft>
                <a:spcPts val="0"/>
              </a:spcAft>
              <a:buClr>
                <a:schemeClr val="dk1"/>
              </a:buClr>
              <a:buSzPts val="1400"/>
              <a:buChar char="●"/>
              <a:defRPr>
                <a:solidFill>
                  <a:schemeClr val="dk1"/>
                </a:solidFill>
              </a:defRPr>
            </a:lvl7pPr>
            <a:lvl8pPr indent="-317500" lvl="7" marL="3657600">
              <a:lnSpc>
                <a:spcPct val="150000"/>
              </a:lnSpc>
              <a:spcBef>
                <a:spcPts val="0"/>
              </a:spcBef>
              <a:spcAft>
                <a:spcPts val="0"/>
              </a:spcAft>
              <a:buClr>
                <a:schemeClr val="dk1"/>
              </a:buClr>
              <a:buSzPts val="1400"/>
              <a:buChar char="○"/>
              <a:defRPr>
                <a:solidFill>
                  <a:schemeClr val="dk1"/>
                </a:solidFill>
              </a:defRPr>
            </a:lvl8pPr>
            <a:lvl9pPr indent="-317500" lvl="8" marL="4114800">
              <a:lnSpc>
                <a:spcPct val="150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pic>
        <p:nvPicPr>
          <p:cNvPr id="9" name="Google Shape;9;p1"/>
          <p:cNvPicPr preferRelativeResize="0"/>
          <p:nvPr/>
        </p:nvPicPr>
        <p:blipFill>
          <a:blip r:embed="rId1">
            <a:alphaModFix/>
          </a:blip>
          <a:stretch>
            <a:fillRect/>
          </a:stretch>
        </p:blipFill>
        <p:spPr>
          <a:xfrm>
            <a:off x="8339425" y="108550"/>
            <a:ext cx="681723" cy="1781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A4335"/>
          </p15:clr>
        </p15:guide>
        <p15:guide id="2" pos="2880">
          <p15:clr>
            <a:srgbClr val="EA4335"/>
          </p15:clr>
        </p15:guide>
        <p15:guide id="3" pos="113">
          <p15:clr>
            <a:srgbClr val="EA4335"/>
          </p15:clr>
        </p15:guide>
        <p15:guide id="4" orient="horz" pos="113">
          <p15:clr>
            <a:srgbClr val="EA4335"/>
          </p15:clr>
        </p15:guide>
        <p15:guide id="5" orient="horz" pos="3127">
          <p15:clr>
            <a:srgbClr val="EA4335"/>
          </p15:clr>
        </p15:guide>
        <p15:guide id="6" pos="5647">
          <p15:clr>
            <a:srgbClr val="EA4335"/>
          </p15:clr>
        </p15:guide>
        <p15:guide id="7" pos="227">
          <p15:clr>
            <a:srgbClr val="EA4335"/>
          </p15:clr>
        </p15:guide>
        <p15:guide id="8" pos="5533">
          <p15:clr>
            <a:srgbClr val="EA4335"/>
          </p15:clr>
        </p15:guide>
        <p15:guide id="9" orient="horz" pos="227">
          <p15:clr>
            <a:srgbClr val="EA4335"/>
          </p15:clr>
        </p15:guide>
        <p15:guide id="10" orient="horz" pos="3013">
          <p15:clr>
            <a:srgbClr val="EA4335"/>
          </p15:clr>
        </p15:guide>
        <p15:guide id="11" pos="2778">
          <p15:clr>
            <a:srgbClr val="EA4335"/>
          </p15:clr>
        </p15:guide>
        <p15:guide id="12" pos="298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edque.jp/magazine/kolb-experiential-learning-model-practical-social-education-cycl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hyperlink" Target="https://developers.cyberagent.co.jp/blog/archives/13234/"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5"/>
          <p:cNvSpPr txBox="1"/>
          <p:nvPr>
            <p:ph type="title"/>
          </p:nvPr>
        </p:nvSpPr>
        <p:spPr>
          <a:xfrm>
            <a:off x="360000" y="2150850"/>
            <a:ext cx="84240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a:t>フィードバック勉強会</a:t>
            </a:r>
            <a:endParaRPr/>
          </a:p>
        </p:txBody>
      </p:sp>
      <p:sp>
        <p:nvSpPr>
          <p:cNvPr id="104" name="Google Shape;10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6"/>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前提として</a:t>
            </a:r>
            <a:endParaRPr/>
          </a:p>
        </p:txBody>
      </p:sp>
      <p:sp>
        <p:nvSpPr>
          <p:cNvPr id="110" name="Google Shape;110;p26"/>
          <p:cNvSpPr txBox="1"/>
          <p:nvPr>
            <p:ph idx="1" type="body"/>
          </p:nvPr>
        </p:nvSpPr>
        <p:spPr>
          <a:xfrm>
            <a:off x="360000" y="932700"/>
            <a:ext cx="8424000" cy="4030800"/>
          </a:xfrm>
          <a:prstGeom prst="rect">
            <a:avLst/>
          </a:prstGeom>
        </p:spPr>
        <p:txBody>
          <a:bodyPr anchorCtr="0" anchor="t" bIns="91425" lIns="91425" spcFirstLastPara="1" rIns="91425" wrap="square" tIns="91425">
            <a:normAutofit fontScale="77500" lnSpcReduction="10000"/>
          </a:bodyPr>
          <a:lstStyle/>
          <a:p>
            <a:pPr indent="0" lvl="0" marL="0" rtl="0" algn="l">
              <a:lnSpc>
                <a:spcPct val="115000"/>
              </a:lnSpc>
              <a:spcBef>
                <a:spcPts val="0"/>
              </a:spcBef>
              <a:spcAft>
                <a:spcPts val="0"/>
              </a:spcAft>
              <a:buNone/>
            </a:pPr>
            <a:r>
              <a:rPr lang="ja" sz="1000">
                <a:solidFill>
                  <a:schemeClr val="accent2"/>
                </a:solidFill>
              </a:rPr>
              <a:t>マネジメントの基本や手法は、色々とあり、会社や人によって違い、何が正解で何が不正解でというものではありません。</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ただ、ContractSのMVVや人への考え方を前提にした場合、ContractSでのマネジメントには、メンバーと信頼関係を構築することが必須だと考えます。そして、信頼関係を構築するのはメンバーからではなく、マネジメント側です。メンバーとの信頼関係を構築する方法は、これも様々であり、マネジメントにおける方法論を限定し、強要することは無意味なので、マネジメント側の人間がしっかりと考えてください。なぜ無意味かというとメンバーそれぞれが、一人一人違う人間だからです。</a:t>
            </a:r>
            <a:endParaRPr sz="1000">
              <a:solidFill>
                <a:schemeClr val="accent2"/>
              </a:solidFill>
            </a:endParaRPr>
          </a:p>
          <a:p>
            <a:pPr indent="0" lvl="0" marL="0" rtl="0" algn="l">
              <a:lnSpc>
                <a:spcPct val="115000"/>
              </a:lnSpc>
              <a:spcBef>
                <a:spcPts val="0"/>
              </a:spcBef>
              <a:spcAft>
                <a:spcPts val="0"/>
              </a:spcAft>
              <a:buNone/>
            </a:pPr>
            <a:r>
              <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“俺の、私のマネジメントの方法は、誰に対してもこの方法でいく”</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“俺は、私は、昔からこの方法でマネジメントしてきたからこの方法でいく”</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“俺は、私は、昔からこの方法でマネジメントを受けてきたからこの方法でいく”</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“ビジネス書に、某有名企業で、この方法でマネジメントが正しいとされているからこの方法でいく”</a:t>
            </a:r>
            <a:endParaRPr sz="1000">
              <a:solidFill>
                <a:schemeClr val="accent2"/>
              </a:solidFill>
            </a:endParaRPr>
          </a:p>
          <a:p>
            <a:pPr indent="0" lvl="0" marL="0" rtl="0" algn="l">
              <a:lnSpc>
                <a:spcPct val="115000"/>
              </a:lnSpc>
              <a:spcBef>
                <a:spcPts val="0"/>
              </a:spcBef>
              <a:spcAft>
                <a:spcPts val="0"/>
              </a:spcAft>
              <a:buNone/>
            </a:pPr>
            <a:r>
              <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こういう考え方では、メンバーとの信頼関係は構築できません。構築できるメンバーがいたとしても、必ずできないメンバーが発生するはずです。目的である信頼関係を構築することを主とせず、方法論を主としているからです。もっと直接的に言えば、マネジメント側の主観を主としているからです。メンバーからすれば、マネジメント側の奢り、傲慢、独りよがりとしか理解されることはないでしょう。</a:t>
            </a:r>
            <a:endParaRPr sz="1000">
              <a:solidFill>
                <a:schemeClr val="accent2"/>
              </a:solidFill>
            </a:endParaRPr>
          </a:p>
          <a:p>
            <a:pPr indent="0" lvl="0" marL="0" rtl="0" algn="l">
              <a:lnSpc>
                <a:spcPct val="115000"/>
              </a:lnSpc>
              <a:spcBef>
                <a:spcPts val="0"/>
              </a:spcBef>
              <a:spcAft>
                <a:spcPts val="0"/>
              </a:spcAft>
              <a:buNone/>
            </a:pPr>
            <a:r>
              <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信頼関係を構築する上で大事なことは、信頼関係を構築することを主として、メンバーに接することです。要は、信頼してもらうことです。信頼してもらうためには、常にメンバーのことを考えた行動をすることがbestですが、それは非現実的なので、メンバーから”この人が自分のマネジメントをしてくれるんだ”と了解してもらえることが及第点になります。</a:t>
            </a:r>
            <a:endParaRPr sz="1000">
              <a:solidFill>
                <a:schemeClr val="accent2"/>
              </a:solidFill>
            </a:endParaRPr>
          </a:p>
          <a:p>
            <a:pPr indent="0" lvl="0" marL="0" rtl="0" algn="l">
              <a:lnSpc>
                <a:spcPct val="115000"/>
              </a:lnSpc>
              <a:spcBef>
                <a:spcPts val="0"/>
              </a:spcBef>
              <a:spcAft>
                <a:spcPts val="0"/>
              </a:spcAft>
              <a:buNone/>
            </a:pPr>
            <a:r>
              <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“この人は、自分の業務内容や業務状況を理解把握してくれている”</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“この人は、会社、事業の状況の中での自分の役割意義を説明してくれる”</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“この人は、自分が手に余るの業務課題を解決を手助けしてくれる”</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“この人は、自分のキャリア構築の道筋を示してくれる、導いてくれる”</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“この人は、自分を守ってくれる”</a:t>
            </a:r>
            <a:endParaRPr sz="1000">
              <a:solidFill>
                <a:schemeClr val="accent2"/>
              </a:solidFill>
            </a:endParaRPr>
          </a:p>
          <a:p>
            <a:pPr indent="0" lvl="0" marL="0" rtl="0" algn="l">
              <a:lnSpc>
                <a:spcPct val="115000"/>
              </a:lnSpc>
              <a:spcBef>
                <a:spcPts val="0"/>
              </a:spcBef>
              <a:spcAft>
                <a:spcPts val="0"/>
              </a:spcAft>
              <a:buNone/>
            </a:pPr>
            <a:r>
              <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以上のようなこと全てに、メンバーからの了解を得る必要はありませんが、以上のようなこと全てに、メンバーから”この人は努力してくれる”という了解は必須だと思います。</a:t>
            </a:r>
            <a:endParaRPr sz="1000">
              <a:solidFill>
                <a:schemeClr val="accent2"/>
              </a:solidFill>
            </a:endParaRPr>
          </a:p>
          <a:p>
            <a:pPr indent="0" lvl="0" marL="0" rtl="0" algn="l">
              <a:lnSpc>
                <a:spcPct val="115000"/>
              </a:lnSpc>
              <a:spcBef>
                <a:spcPts val="0"/>
              </a:spcBef>
              <a:spcAft>
                <a:spcPts val="0"/>
              </a:spcAft>
              <a:buClr>
                <a:schemeClr val="accent2"/>
              </a:buClr>
              <a:buSzPct val="110000"/>
              <a:buFont typeface="Arial"/>
              <a:buNone/>
            </a:pPr>
            <a:r>
              <a:rPr lang="ja" sz="1000">
                <a:solidFill>
                  <a:schemeClr val="accent2"/>
                </a:solidFill>
              </a:rPr>
              <a:t>評価、その評価のフィードバックは、メンバーとマネジメント側の非常に大事なコミュニケーションになります。マネジメント側の行動によって、ContractSにおけるメンバーの時間とその中身が大いに変わります。ですので、マネジメントはメンバーの人生を変えることになります。そして、そのメンバーを有意義に活躍させることで、事業と会社が変わります。活躍させることができなければ、会社の負担は増え、他メンバーの負担が増えます。</a:t>
            </a:r>
            <a:endParaRPr sz="1000">
              <a:solidFill>
                <a:schemeClr val="accent2"/>
              </a:solidFill>
            </a:endParaRPr>
          </a:p>
          <a:p>
            <a:pPr indent="0" lvl="0" marL="0" rtl="0" algn="l">
              <a:lnSpc>
                <a:spcPct val="115000"/>
              </a:lnSpc>
              <a:spcBef>
                <a:spcPts val="0"/>
              </a:spcBef>
              <a:spcAft>
                <a:spcPts val="0"/>
              </a:spcAft>
              <a:buNone/>
            </a:pPr>
            <a:r>
              <a:t/>
            </a:r>
            <a:endParaRPr sz="1000">
              <a:solidFill>
                <a:schemeClr val="accent2"/>
              </a:solidFill>
            </a:endParaRPr>
          </a:p>
          <a:p>
            <a:pPr indent="0" lvl="0" marL="0" rtl="0" algn="l">
              <a:lnSpc>
                <a:spcPct val="115000"/>
              </a:lnSpc>
              <a:spcBef>
                <a:spcPts val="0"/>
              </a:spcBef>
              <a:spcAft>
                <a:spcPts val="0"/>
              </a:spcAft>
              <a:buNone/>
            </a:pPr>
            <a:r>
              <a:rPr lang="ja" sz="1000">
                <a:solidFill>
                  <a:schemeClr val="accent2"/>
                </a:solidFill>
              </a:rPr>
              <a:t>以上を踏まえて、メンバーが腹落ちするマネジメントを実施してください。</a:t>
            </a:r>
            <a:endParaRPr sz="1782"/>
          </a:p>
        </p:txBody>
      </p:sp>
      <p:sp>
        <p:nvSpPr>
          <p:cNvPr id="111" name="Google Shape;111;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7"/>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本日のゴール</a:t>
            </a:r>
            <a:endParaRPr/>
          </a:p>
        </p:txBody>
      </p:sp>
      <p:sp>
        <p:nvSpPr>
          <p:cNvPr id="117" name="Google Shape;117;p27"/>
          <p:cNvSpPr txBox="1"/>
          <p:nvPr>
            <p:ph idx="1" type="body"/>
          </p:nvPr>
        </p:nvSpPr>
        <p:spPr>
          <a:xfrm>
            <a:off x="360000" y="1152475"/>
            <a:ext cx="8424000" cy="34164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b="1" lang="ja" sz="2900"/>
              <a:t>評価FBを『憂鬱な仕事』から『メンバーを成長させる時間』に変える支援方法を知ること。</a:t>
            </a:r>
            <a:endParaRPr b="1" sz="2900"/>
          </a:p>
        </p:txBody>
      </p:sp>
      <p:sp>
        <p:nvSpPr>
          <p:cNvPr id="118" name="Google Shape;11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8"/>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なぜフィードバックが必要なのか</a:t>
            </a:r>
            <a:endParaRPr/>
          </a:p>
        </p:txBody>
      </p:sp>
      <p:sp>
        <p:nvSpPr>
          <p:cNvPr id="124" name="Google Shape;124;p28"/>
          <p:cNvSpPr txBox="1"/>
          <p:nvPr>
            <p:ph idx="1" type="body"/>
          </p:nvPr>
        </p:nvSpPr>
        <p:spPr>
          <a:xfrm>
            <a:off x="360000" y="1078425"/>
            <a:ext cx="8424000" cy="2149800"/>
          </a:xfrm>
          <a:prstGeom prst="rect">
            <a:avLst/>
          </a:prstGeom>
        </p:spPr>
        <p:txBody>
          <a:bodyPr anchorCtr="0" anchor="t" bIns="91425" lIns="91425" spcFirstLastPara="1" rIns="91425" wrap="square" tIns="91425">
            <a:normAutofit/>
          </a:bodyPr>
          <a:lstStyle/>
          <a:p>
            <a:pPr indent="-341788" lvl="0" marL="457200" rtl="0" algn="l">
              <a:lnSpc>
                <a:spcPct val="140000"/>
              </a:lnSpc>
              <a:spcBef>
                <a:spcPts val="0"/>
              </a:spcBef>
              <a:spcAft>
                <a:spcPts val="0"/>
              </a:spcAft>
              <a:buSzPts val="1783"/>
              <a:buChar char="●"/>
            </a:pPr>
            <a:r>
              <a:rPr lang="ja" sz="1782"/>
              <a:t>評価制度の目的</a:t>
            </a:r>
            <a:endParaRPr sz="1782"/>
          </a:p>
          <a:p>
            <a:pPr indent="-341788" lvl="1" marL="914400" rtl="0" algn="l">
              <a:lnSpc>
                <a:spcPct val="140000"/>
              </a:lnSpc>
              <a:spcBef>
                <a:spcPts val="0"/>
              </a:spcBef>
              <a:spcAft>
                <a:spcPts val="0"/>
              </a:spcAft>
              <a:buSzPts val="1783"/>
              <a:buChar char="○"/>
            </a:pPr>
            <a:r>
              <a:rPr lang="ja" sz="1782"/>
              <a:t>公平な処遇の分配だけでなく、「社員の活用と育成」および「企業文化（バリュー）の醸成」にある 。</a:t>
            </a:r>
            <a:endParaRPr sz="1782"/>
          </a:p>
          <a:p>
            <a:pPr indent="-341788" lvl="0" marL="457200" rtl="0" algn="l">
              <a:lnSpc>
                <a:spcPct val="140000"/>
              </a:lnSpc>
              <a:spcBef>
                <a:spcPts val="0"/>
              </a:spcBef>
              <a:spcAft>
                <a:spcPts val="0"/>
              </a:spcAft>
              <a:buSzPts val="1783"/>
              <a:buChar char="●"/>
            </a:pPr>
            <a:r>
              <a:rPr lang="ja" sz="1782"/>
              <a:t>マネージャーの役割</a:t>
            </a:r>
            <a:endParaRPr sz="1782"/>
          </a:p>
          <a:p>
            <a:pPr indent="-341788" lvl="1" marL="914400" rtl="0" algn="l">
              <a:lnSpc>
                <a:spcPct val="140000"/>
              </a:lnSpc>
              <a:spcBef>
                <a:spcPts val="0"/>
              </a:spcBef>
              <a:spcAft>
                <a:spcPts val="0"/>
              </a:spcAft>
              <a:buSzPts val="1783"/>
              <a:buChar char="○"/>
            </a:pPr>
            <a:r>
              <a:rPr lang="ja" sz="1782"/>
              <a:t>メンバーが目標を達成し、成長することを支援する責任を持つ 。</a:t>
            </a:r>
            <a:endParaRPr sz="1782"/>
          </a:p>
        </p:txBody>
      </p:sp>
      <p:sp>
        <p:nvSpPr>
          <p:cNvPr id="125" name="Google Shape;125;p28"/>
          <p:cNvSpPr/>
          <p:nvPr/>
        </p:nvSpPr>
        <p:spPr>
          <a:xfrm>
            <a:off x="681700" y="3389900"/>
            <a:ext cx="7722000" cy="10233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2200"/>
              <a:t>評価フィードバックは</a:t>
            </a:r>
            <a:endParaRPr b="1" sz="2200"/>
          </a:p>
          <a:p>
            <a:pPr indent="0" lvl="0" marL="0" rtl="0" algn="ctr">
              <a:spcBef>
                <a:spcPts val="0"/>
              </a:spcBef>
              <a:spcAft>
                <a:spcPts val="0"/>
              </a:spcAft>
              <a:buNone/>
            </a:pPr>
            <a:r>
              <a:rPr b="1" lang="ja" sz="2200"/>
              <a:t>そのための最も重要なコミュニケーションの場である。</a:t>
            </a:r>
            <a:endParaRPr b="1" sz="2200"/>
          </a:p>
        </p:txBody>
      </p:sp>
      <p:sp>
        <p:nvSpPr>
          <p:cNvPr id="126" name="Google Shape;12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9"/>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p>
            <a:pPr indent="0" lvl="0" marL="0" rtl="0" algn="ctr">
              <a:lnSpc>
                <a:spcPct val="150000"/>
              </a:lnSpc>
              <a:spcBef>
                <a:spcPts val="0"/>
              </a:spcBef>
              <a:spcAft>
                <a:spcPts val="0"/>
              </a:spcAft>
              <a:buNone/>
            </a:pPr>
            <a:r>
              <a:rPr lang="ja" sz="3600"/>
              <a:t>成長支援の方法</a:t>
            </a:r>
            <a:endParaRPr sz="3600"/>
          </a:p>
          <a:p>
            <a:pPr indent="0" lvl="0" marL="0" rtl="0" algn="ctr">
              <a:lnSpc>
                <a:spcPct val="150000"/>
              </a:lnSpc>
              <a:spcBef>
                <a:spcPts val="0"/>
              </a:spcBef>
              <a:spcAft>
                <a:spcPts val="0"/>
              </a:spcAft>
              <a:buNone/>
            </a:pPr>
            <a:r>
              <a:rPr lang="ja" sz="3600"/>
              <a:t>〜経験学習モデル〜</a:t>
            </a:r>
            <a:endParaRPr sz="3600"/>
          </a:p>
        </p:txBody>
      </p:sp>
      <p:sp>
        <p:nvSpPr>
          <p:cNvPr id="132" name="Google Shape;13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0"/>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経験学習モデル</a:t>
            </a:r>
            <a:endParaRPr/>
          </a:p>
        </p:txBody>
      </p:sp>
      <p:sp>
        <p:nvSpPr>
          <p:cNvPr id="138" name="Google Shape;138;p30"/>
          <p:cNvSpPr/>
          <p:nvPr/>
        </p:nvSpPr>
        <p:spPr>
          <a:xfrm>
            <a:off x="3524849" y="1243550"/>
            <a:ext cx="15462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具体的経験</a:t>
            </a:r>
            <a:endParaRPr b="1" sz="1469"/>
          </a:p>
        </p:txBody>
      </p:sp>
      <p:sp>
        <p:nvSpPr>
          <p:cNvPr id="139" name="Google Shape;139;p30"/>
          <p:cNvSpPr/>
          <p:nvPr/>
        </p:nvSpPr>
        <p:spPr>
          <a:xfrm>
            <a:off x="1334750" y="2505984"/>
            <a:ext cx="14037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積極的実践</a:t>
            </a:r>
            <a:endParaRPr b="1" sz="1469"/>
          </a:p>
        </p:txBody>
      </p:sp>
      <p:sp>
        <p:nvSpPr>
          <p:cNvPr id="140" name="Google Shape;140;p30"/>
          <p:cNvSpPr/>
          <p:nvPr/>
        </p:nvSpPr>
        <p:spPr>
          <a:xfrm>
            <a:off x="3524849" y="3590874"/>
            <a:ext cx="15462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抽象的概念化</a:t>
            </a:r>
            <a:endParaRPr b="1" sz="1469"/>
          </a:p>
        </p:txBody>
      </p:sp>
      <p:sp>
        <p:nvSpPr>
          <p:cNvPr id="141" name="Google Shape;141;p30"/>
          <p:cNvSpPr/>
          <p:nvPr/>
        </p:nvSpPr>
        <p:spPr>
          <a:xfrm>
            <a:off x="5886126" y="2524357"/>
            <a:ext cx="14325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観察的内省</a:t>
            </a:r>
            <a:endParaRPr b="1" sz="1469"/>
          </a:p>
        </p:txBody>
      </p:sp>
      <p:sp>
        <p:nvSpPr>
          <p:cNvPr id="142" name="Google Shape;142;p30"/>
          <p:cNvSpPr/>
          <p:nvPr/>
        </p:nvSpPr>
        <p:spPr>
          <a:xfrm>
            <a:off x="6885675" y="4615200"/>
            <a:ext cx="13128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u="sng">
                <a:solidFill>
                  <a:schemeClr val="hlink"/>
                </a:solidFill>
                <a:hlinkClick r:id="rId3"/>
              </a:rPr>
              <a:t>David A. Kolb</a:t>
            </a:r>
            <a:endParaRPr/>
          </a:p>
        </p:txBody>
      </p:sp>
      <p:sp>
        <p:nvSpPr>
          <p:cNvPr id="143" name="Google Shape;143;p30"/>
          <p:cNvSpPr/>
          <p:nvPr/>
        </p:nvSpPr>
        <p:spPr>
          <a:xfrm flipH="1" rot="10800000">
            <a:off x="5078625" y="1396370"/>
            <a:ext cx="1673700" cy="1112700"/>
          </a:xfrm>
          <a:prstGeom prst="bentUpArrow">
            <a:avLst>
              <a:gd fmla="val 6658" name="adj1"/>
              <a:gd fmla="val 14724"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44" name="Google Shape;144;p30"/>
          <p:cNvSpPr/>
          <p:nvPr/>
        </p:nvSpPr>
        <p:spPr>
          <a:xfrm flipH="1" rot="-5400000">
            <a:off x="5336211" y="2663080"/>
            <a:ext cx="1075800" cy="1546200"/>
          </a:xfrm>
          <a:prstGeom prst="bentUpArrow">
            <a:avLst>
              <a:gd fmla="val 6658" name="adj1"/>
              <a:gd fmla="val 16093" name="adj2"/>
              <a:gd fmla="val 19759"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45" name="Google Shape;145;p30"/>
          <p:cNvSpPr/>
          <p:nvPr/>
        </p:nvSpPr>
        <p:spPr>
          <a:xfrm flipH="1">
            <a:off x="1869627" y="2864623"/>
            <a:ext cx="1640100" cy="986100"/>
          </a:xfrm>
          <a:prstGeom prst="bentUpArrow">
            <a:avLst>
              <a:gd fmla="val 7134" name="adj1"/>
              <a:gd fmla="val 15777"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46" name="Google Shape;146;p30"/>
          <p:cNvSpPr/>
          <p:nvPr/>
        </p:nvSpPr>
        <p:spPr>
          <a:xfrm flipH="1" rot="5400000">
            <a:off x="2106227" y="1079647"/>
            <a:ext cx="1255200" cy="1566900"/>
          </a:xfrm>
          <a:prstGeom prst="bentUpArrow">
            <a:avLst>
              <a:gd fmla="val 6198" name="adj1"/>
              <a:gd fmla="val 12875" name="adj2"/>
              <a:gd fmla="val 16727"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47" name="Google Shape;14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1"/>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経験学習を簡単にいうと</a:t>
            </a:r>
            <a:endParaRPr/>
          </a:p>
        </p:txBody>
      </p:sp>
      <p:sp>
        <p:nvSpPr>
          <p:cNvPr id="153" name="Google Shape;153;p31"/>
          <p:cNvSpPr/>
          <p:nvPr/>
        </p:nvSpPr>
        <p:spPr>
          <a:xfrm>
            <a:off x="3524849" y="1243550"/>
            <a:ext cx="15462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経験する</a:t>
            </a:r>
            <a:endParaRPr b="1" sz="1469"/>
          </a:p>
        </p:txBody>
      </p:sp>
      <p:sp>
        <p:nvSpPr>
          <p:cNvPr id="154" name="Google Shape;154;p31"/>
          <p:cNvSpPr/>
          <p:nvPr/>
        </p:nvSpPr>
        <p:spPr>
          <a:xfrm>
            <a:off x="1200075" y="2524338"/>
            <a:ext cx="16737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次の行動を決める</a:t>
            </a:r>
            <a:endParaRPr b="1" sz="1469"/>
          </a:p>
        </p:txBody>
      </p:sp>
      <p:sp>
        <p:nvSpPr>
          <p:cNvPr id="155" name="Google Shape;155;p31"/>
          <p:cNvSpPr/>
          <p:nvPr/>
        </p:nvSpPr>
        <p:spPr>
          <a:xfrm>
            <a:off x="3524849" y="3590874"/>
            <a:ext cx="15462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学びを得る</a:t>
            </a:r>
            <a:endParaRPr b="1" sz="1469"/>
          </a:p>
        </p:txBody>
      </p:sp>
      <p:sp>
        <p:nvSpPr>
          <p:cNvPr id="156" name="Google Shape;156;p31"/>
          <p:cNvSpPr/>
          <p:nvPr/>
        </p:nvSpPr>
        <p:spPr>
          <a:xfrm>
            <a:off x="5886126" y="2524357"/>
            <a:ext cx="14325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振り返る</a:t>
            </a:r>
            <a:endParaRPr b="1" sz="1469"/>
          </a:p>
        </p:txBody>
      </p:sp>
      <p:sp>
        <p:nvSpPr>
          <p:cNvPr id="157" name="Google Shape;157;p31"/>
          <p:cNvSpPr/>
          <p:nvPr/>
        </p:nvSpPr>
        <p:spPr>
          <a:xfrm flipH="1" rot="10800000">
            <a:off x="5078625" y="1396370"/>
            <a:ext cx="1673700" cy="1112700"/>
          </a:xfrm>
          <a:prstGeom prst="bentUpArrow">
            <a:avLst>
              <a:gd fmla="val 6658" name="adj1"/>
              <a:gd fmla="val 14724"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58" name="Google Shape;158;p31"/>
          <p:cNvSpPr/>
          <p:nvPr/>
        </p:nvSpPr>
        <p:spPr>
          <a:xfrm flipH="1" rot="-5400000">
            <a:off x="5336211" y="2663080"/>
            <a:ext cx="1075800" cy="1546200"/>
          </a:xfrm>
          <a:prstGeom prst="bentUpArrow">
            <a:avLst>
              <a:gd fmla="val 6658" name="adj1"/>
              <a:gd fmla="val 16093" name="adj2"/>
              <a:gd fmla="val 19759"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59" name="Google Shape;159;p31"/>
          <p:cNvSpPr/>
          <p:nvPr/>
        </p:nvSpPr>
        <p:spPr>
          <a:xfrm flipH="1">
            <a:off x="1869627" y="2864623"/>
            <a:ext cx="1640100" cy="986100"/>
          </a:xfrm>
          <a:prstGeom prst="bentUpArrow">
            <a:avLst>
              <a:gd fmla="val 7134" name="adj1"/>
              <a:gd fmla="val 15777"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60" name="Google Shape;160;p31"/>
          <p:cNvSpPr/>
          <p:nvPr/>
        </p:nvSpPr>
        <p:spPr>
          <a:xfrm flipH="1" rot="5400000">
            <a:off x="2106227" y="1079647"/>
            <a:ext cx="1255200" cy="1566900"/>
          </a:xfrm>
          <a:prstGeom prst="bentUpArrow">
            <a:avLst>
              <a:gd fmla="val 6198" name="adj1"/>
              <a:gd fmla="val 12875" name="adj2"/>
              <a:gd fmla="val 16727"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61" name="Google Shape;16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162" name="Google Shape;162;p31"/>
          <p:cNvSpPr/>
          <p:nvPr/>
        </p:nvSpPr>
        <p:spPr>
          <a:xfrm>
            <a:off x="6989875" y="3241775"/>
            <a:ext cx="1710000" cy="525300"/>
          </a:xfrm>
          <a:prstGeom prst="wedgeRectCallout">
            <a:avLst>
              <a:gd fmla="val -41731" name="adj1"/>
              <a:gd fmla="val -112793"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洗い出し、直視し、</a:t>
            </a:r>
            <a:endParaRPr b="1" sz="1200"/>
          </a:p>
          <a:p>
            <a:pPr indent="0" lvl="0" marL="0" rtl="0" algn="ctr">
              <a:spcBef>
                <a:spcPts val="0"/>
              </a:spcBef>
              <a:spcAft>
                <a:spcPts val="0"/>
              </a:spcAft>
              <a:buNone/>
            </a:pPr>
            <a:r>
              <a:rPr b="1" lang="ja" sz="1200"/>
              <a:t>評価する</a:t>
            </a:r>
            <a:endParaRPr b="1" sz="1200"/>
          </a:p>
        </p:txBody>
      </p:sp>
      <p:sp>
        <p:nvSpPr>
          <p:cNvPr id="163" name="Google Shape;163;p31"/>
          <p:cNvSpPr/>
          <p:nvPr/>
        </p:nvSpPr>
        <p:spPr>
          <a:xfrm>
            <a:off x="3897275" y="4363275"/>
            <a:ext cx="3368700" cy="420300"/>
          </a:xfrm>
          <a:prstGeom prst="wedgeRectCallout">
            <a:avLst>
              <a:gd fmla="val -38935" name="adj1"/>
              <a:gd fmla="val -134226"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今後や他のケースに活かせそうな教訓を得る</a:t>
            </a:r>
            <a:endParaRPr b="1" sz="1200"/>
          </a:p>
        </p:txBody>
      </p:sp>
      <p:sp>
        <p:nvSpPr>
          <p:cNvPr id="164" name="Google Shape;164;p31"/>
          <p:cNvSpPr/>
          <p:nvPr/>
        </p:nvSpPr>
        <p:spPr>
          <a:xfrm>
            <a:off x="48850" y="1755925"/>
            <a:ext cx="1857900" cy="393600"/>
          </a:xfrm>
          <a:prstGeom prst="wedgeRectCallout">
            <a:avLst>
              <a:gd fmla="val 42766" name="adj1"/>
              <a:gd fmla="val 129097"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次はどうアプローチしていくか決める</a:t>
            </a:r>
            <a:endParaRPr b="1"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2"/>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経験学習</a:t>
            </a:r>
            <a:r>
              <a:rPr lang="ja"/>
              <a:t>モデル</a:t>
            </a:r>
            <a:endParaRPr/>
          </a:p>
        </p:txBody>
      </p:sp>
      <p:sp>
        <p:nvSpPr>
          <p:cNvPr id="170" name="Google Shape;170;p32"/>
          <p:cNvSpPr/>
          <p:nvPr/>
        </p:nvSpPr>
        <p:spPr>
          <a:xfrm>
            <a:off x="3524849" y="1243550"/>
            <a:ext cx="15462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経験する</a:t>
            </a:r>
            <a:endParaRPr b="1" sz="1469"/>
          </a:p>
        </p:txBody>
      </p:sp>
      <p:sp>
        <p:nvSpPr>
          <p:cNvPr id="171" name="Google Shape;171;p32"/>
          <p:cNvSpPr/>
          <p:nvPr/>
        </p:nvSpPr>
        <p:spPr>
          <a:xfrm>
            <a:off x="1200075" y="2524338"/>
            <a:ext cx="16737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次の行動を決める</a:t>
            </a:r>
            <a:endParaRPr b="1" sz="1469"/>
          </a:p>
        </p:txBody>
      </p:sp>
      <p:sp>
        <p:nvSpPr>
          <p:cNvPr id="172" name="Google Shape;172;p32"/>
          <p:cNvSpPr/>
          <p:nvPr/>
        </p:nvSpPr>
        <p:spPr>
          <a:xfrm>
            <a:off x="3524849" y="3590874"/>
            <a:ext cx="15462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学びを得る</a:t>
            </a:r>
            <a:endParaRPr b="1" sz="1469"/>
          </a:p>
        </p:txBody>
      </p:sp>
      <p:sp>
        <p:nvSpPr>
          <p:cNvPr id="173" name="Google Shape;173;p32"/>
          <p:cNvSpPr/>
          <p:nvPr/>
        </p:nvSpPr>
        <p:spPr>
          <a:xfrm>
            <a:off x="5886126" y="2524357"/>
            <a:ext cx="14325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振り返る</a:t>
            </a:r>
            <a:endParaRPr b="1" sz="1469"/>
          </a:p>
        </p:txBody>
      </p:sp>
      <p:sp>
        <p:nvSpPr>
          <p:cNvPr id="174" name="Google Shape;174;p32"/>
          <p:cNvSpPr/>
          <p:nvPr/>
        </p:nvSpPr>
        <p:spPr>
          <a:xfrm flipH="1" rot="10800000">
            <a:off x="5078625" y="1396370"/>
            <a:ext cx="1673700" cy="1112700"/>
          </a:xfrm>
          <a:prstGeom prst="bentUpArrow">
            <a:avLst>
              <a:gd fmla="val 6658" name="adj1"/>
              <a:gd fmla="val 14724"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75" name="Google Shape;175;p32"/>
          <p:cNvSpPr/>
          <p:nvPr/>
        </p:nvSpPr>
        <p:spPr>
          <a:xfrm flipH="1" rot="-5400000">
            <a:off x="5336211" y="2663080"/>
            <a:ext cx="1075800" cy="1546200"/>
          </a:xfrm>
          <a:prstGeom prst="bentUpArrow">
            <a:avLst>
              <a:gd fmla="val 6658" name="adj1"/>
              <a:gd fmla="val 16093" name="adj2"/>
              <a:gd fmla="val 19759"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76" name="Google Shape;176;p32"/>
          <p:cNvSpPr/>
          <p:nvPr/>
        </p:nvSpPr>
        <p:spPr>
          <a:xfrm flipH="1">
            <a:off x="1869627" y="2864623"/>
            <a:ext cx="1640100" cy="986100"/>
          </a:xfrm>
          <a:prstGeom prst="bentUpArrow">
            <a:avLst>
              <a:gd fmla="val 7134" name="adj1"/>
              <a:gd fmla="val 15777"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77" name="Google Shape;177;p32"/>
          <p:cNvSpPr/>
          <p:nvPr/>
        </p:nvSpPr>
        <p:spPr>
          <a:xfrm flipH="1" rot="5400000">
            <a:off x="2106227" y="1079647"/>
            <a:ext cx="1255200" cy="1566900"/>
          </a:xfrm>
          <a:prstGeom prst="bentUpArrow">
            <a:avLst>
              <a:gd fmla="val 6198" name="adj1"/>
              <a:gd fmla="val 12875" name="adj2"/>
              <a:gd fmla="val 16727"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178" name="Google Shape;178;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179" name="Google Shape;179;p32"/>
          <p:cNvSpPr/>
          <p:nvPr/>
        </p:nvSpPr>
        <p:spPr>
          <a:xfrm>
            <a:off x="6989875" y="3241775"/>
            <a:ext cx="1710000" cy="525300"/>
          </a:xfrm>
          <a:prstGeom prst="wedgeRectCallout">
            <a:avLst>
              <a:gd fmla="val -41731" name="adj1"/>
              <a:gd fmla="val -112793"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洗い出し、直視し、</a:t>
            </a:r>
            <a:endParaRPr b="1" sz="1200"/>
          </a:p>
          <a:p>
            <a:pPr indent="0" lvl="0" marL="0" rtl="0" algn="ctr">
              <a:spcBef>
                <a:spcPts val="0"/>
              </a:spcBef>
              <a:spcAft>
                <a:spcPts val="0"/>
              </a:spcAft>
              <a:buNone/>
            </a:pPr>
            <a:r>
              <a:rPr b="1" lang="ja" sz="1200"/>
              <a:t>評価する</a:t>
            </a:r>
            <a:endParaRPr b="1" sz="1200"/>
          </a:p>
        </p:txBody>
      </p:sp>
      <p:sp>
        <p:nvSpPr>
          <p:cNvPr id="180" name="Google Shape;180;p32"/>
          <p:cNvSpPr/>
          <p:nvPr/>
        </p:nvSpPr>
        <p:spPr>
          <a:xfrm>
            <a:off x="3897275" y="4363275"/>
            <a:ext cx="3368700" cy="420300"/>
          </a:xfrm>
          <a:prstGeom prst="wedgeRectCallout">
            <a:avLst>
              <a:gd fmla="val -38935" name="adj1"/>
              <a:gd fmla="val -134226"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今後や他のケースに活かせそうな教訓を得る</a:t>
            </a:r>
            <a:endParaRPr b="1" sz="1200"/>
          </a:p>
        </p:txBody>
      </p:sp>
      <p:sp>
        <p:nvSpPr>
          <p:cNvPr id="181" name="Google Shape;181;p32"/>
          <p:cNvSpPr/>
          <p:nvPr/>
        </p:nvSpPr>
        <p:spPr>
          <a:xfrm>
            <a:off x="48850" y="1755925"/>
            <a:ext cx="1857900" cy="393600"/>
          </a:xfrm>
          <a:prstGeom prst="wedgeRectCallout">
            <a:avLst>
              <a:gd fmla="val 42766" name="adj1"/>
              <a:gd fmla="val 129097"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次はどうアプローチしていくか決める</a:t>
            </a:r>
            <a:endParaRPr b="1" sz="1200"/>
          </a:p>
        </p:txBody>
      </p:sp>
      <p:sp>
        <p:nvSpPr>
          <p:cNvPr id="182" name="Google Shape;182;p32"/>
          <p:cNvSpPr/>
          <p:nvPr/>
        </p:nvSpPr>
        <p:spPr>
          <a:xfrm>
            <a:off x="6006950" y="556850"/>
            <a:ext cx="2928600" cy="6867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100"/>
              <a:t>特にスタートアップは挑戦の機会が多くあるので、経験を活かした成長支援（＝経験学習のサポート）が重要かつ効果的</a:t>
            </a:r>
            <a:endParaRPr b="1"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経験学習モデル</a:t>
            </a:r>
            <a:endParaRPr/>
          </a:p>
        </p:txBody>
      </p:sp>
      <p:sp>
        <p:nvSpPr>
          <p:cNvPr id="188" name="Google Shape;188;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189" name="Google Shape;189;p33" title="得点"/>
          <p:cNvPicPr preferRelativeResize="0"/>
          <p:nvPr/>
        </p:nvPicPr>
        <p:blipFill>
          <a:blip r:embed="rId3">
            <a:alphaModFix/>
          </a:blip>
          <a:stretch>
            <a:fillRect/>
          </a:stretch>
        </p:blipFill>
        <p:spPr>
          <a:xfrm>
            <a:off x="0" y="1137529"/>
            <a:ext cx="5989050" cy="3703222"/>
          </a:xfrm>
          <a:prstGeom prst="rect">
            <a:avLst/>
          </a:prstGeom>
          <a:noFill/>
          <a:ln>
            <a:noFill/>
          </a:ln>
        </p:spPr>
      </p:pic>
      <p:sp>
        <p:nvSpPr>
          <p:cNvPr id="190" name="Google Shape;190;p33"/>
          <p:cNvSpPr/>
          <p:nvPr/>
        </p:nvSpPr>
        <p:spPr>
          <a:xfrm>
            <a:off x="3233250" y="2419675"/>
            <a:ext cx="1272300" cy="88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900"/>
              <a:t>直接経験</a:t>
            </a:r>
            <a:endParaRPr b="1" sz="1900"/>
          </a:p>
          <a:p>
            <a:pPr indent="0" lvl="0" marL="0" rtl="0" algn="ctr">
              <a:spcBef>
                <a:spcPts val="0"/>
              </a:spcBef>
              <a:spcAft>
                <a:spcPts val="0"/>
              </a:spcAft>
              <a:buNone/>
            </a:pPr>
            <a:r>
              <a:t/>
            </a:r>
            <a:endParaRPr b="1" sz="1000"/>
          </a:p>
          <a:p>
            <a:pPr indent="0" lvl="0" marL="0" rtl="0" algn="ctr">
              <a:spcBef>
                <a:spcPts val="0"/>
              </a:spcBef>
              <a:spcAft>
                <a:spcPts val="0"/>
              </a:spcAft>
              <a:buNone/>
            </a:pPr>
            <a:r>
              <a:rPr b="1" lang="ja" sz="1900"/>
              <a:t>70%</a:t>
            </a:r>
            <a:endParaRPr b="1" sz="1900"/>
          </a:p>
        </p:txBody>
      </p:sp>
      <p:sp>
        <p:nvSpPr>
          <p:cNvPr id="191" name="Google Shape;191;p33"/>
          <p:cNvSpPr/>
          <p:nvPr/>
        </p:nvSpPr>
        <p:spPr>
          <a:xfrm>
            <a:off x="1443900" y="2304600"/>
            <a:ext cx="904500" cy="53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800"/>
              <a:t>20</a:t>
            </a:r>
            <a:r>
              <a:rPr b="1" lang="ja" sz="1800"/>
              <a:t>%</a:t>
            </a:r>
            <a:endParaRPr b="1" sz="1800"/>
          </a:p>
        </p:txBody>
      </p:sp>
      <p:sp>
        <p:nvSpPr>
          <p:cNvPr id="192" name="Google Shape;192;p33"/>
          <p:cNvSpPr/>
          <p:nvPr/>
        </p:nvSpPr>
        <p:spPr>
          <a:xfrm>
            <a:off x="2124375" y="1437675"/>
            <a:ext cx="904500" cy="53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800"/>
              <a:t>1</a:t>
            </a:r>
            <a:r>
              <a:rPr b="1" lang="ja" sz="1800"/>
              <a:t>0%</a:t>
            </a:r>
            <a:endParaRPr b="1" sz="1800"/>
          </a:p>
        </p:txBody>
      </p:sp>
      <p:sp>
        <p:nvSpPr>
          <p:cNvPr id="193" name="Google Shape;193;p33"/>
          <p:cNvSpPr/>
          <p:nvPr/>
        </p:nvSpPr>
        <p:spPr>
          <a:xfrm>
            <a:off x="236850" y="1912250"/>
            <a:ext cx="1512900" cy="77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t>他者の観察や</a:t>
            </a:r>
            <a:endParaRPr b="1" sz="1300"/>
          </a:p>
          <a:p>
            <a:pPr indent="0" lvl="0" marL="0" rtl="0" algn="ctr">
              <a:spcBef>
                <a:spcPts val="0"/>
              </a:spcBef>
              <a:spcAft>
                <a:spcPts val="0"/>
              </a:spcAft>
              <a:buNone/>
            </a:pPr>
            <a:r>
              <a:rPr b="1" lang="ja" sz="1300"/>
              <a:t>アドバイス</a:t>
            </a:r>
            <a:endParaRPr b="1" sz="1300"/>
          </a:p>
          <a:p>
            <a:pPr indent="0" lvl="0" marL="0" rtl="0" algn="ctr">
              <a:spcBef>
                <a:spcPts val="0"/>
              </a:spcBef>
              <a:spcAft>
                <a:spcPts val="0"/>
              </a:spcAft>
              <a:buNone/>
            </a:pPr>
            <a:r>
              <a:rPr b="1" lang="ja" sz="1300"/>
              <a:t>（間接経験）</a:t>
            </a:r>
            <a:endParaRPr b="1" sz="1300"/>
          </a:p>
        </p:txBody>
      </p:sp>
      <p:sp>
        <p:nvSpPr>
          <p:cNvPr id="194" name="Google Shape;194;p33"/>
          <p:cNvSpPr/>
          <p:nvPr/>
        </p:nvSpPr>
        <p:spPr>
          <a:xfrm>
            <a:off x="1443900" y="1137525"/>
            <a:ext cx="1272300" cy="33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t>研修・読書</a:t>
            </a:r>
            <a:endParaRPr b="1" sz="1300"/>
          </a:p>
        </p:txBody>
      </p:sp>
      <p:sp>
        <p:nvSpPr>
          <p:cNvPr id="195" name="Google Shape;195;p33"/>
          <p:cNvSpPr/>
          <p:nvPr/>
        </p:nvSpPr>
        <p:spPr>
          <a:xfrm>
            <a:off x="5989050" y="2009875"/>
            <a:ext cx="3032100" cy="88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2000"/>
              <a:t>大人は</a:t>
            </a:r>
            <a:endParaRPr b="1" sz="2000"/>
          </a:p>
          <a:p>
            <a:pPr indent="0" lvl="0" marL="0" rtl="0" algn="ctr">
              <a:spcBef>
                <a:spcPts val="0"/>
              </a:spcBef>
              <a:spcAft>
                <a:spcPts val="0"/>
              </a:spcAft>
              <a:buNone/>
            </a:pPr>
            <a:r>
              <a:rPr b="1" lang="ja" sz="2000"/>
              <a:t>「経験」によって</a:t>
            </a:r>
            <a:endParaRPr b="1" sz="2000"/>
          </a:p>
          <a:p>
            <a:pPr indent="0" lvl="0" marL="0" rtl="0" algn="ctr">
              <a:spcBef>
                <a:spcPts val="0"/>
              </a:spcBef>
              <a:spcAft>
                <a:spcPts val="0"/>
              </a:spcAft>
              <a:buNone/>
            </a:pPr>
            <a:r>
              <a:rPr b="1" lang="ja" sz="2000"/>
              <a:t>学び成長する</a:t>
            </a:r>
            <a:endParaRPr b="1" sz="2000"/>
          </a:p>
        </p:txBody>
      </p:sp>
      <p:sp>
        <p:nvSpPr>
          <p:cNvPr id="196" name="Google Shape;196;p33"/>
          <p:cNvSpPr/>
          <p:nvPr/>
        </p:nvSpPr>
        <p:spPr>
          <a:xfrm>
            <a:off x="4183950" y="4386300"/>
            <a:ext cx="4288500" cy="53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1000">
                <a:solidFill>
                  <a:srgbClr val="0A0A0A"/>
                </a:solidFill>
                <a:highlight>
                  <a:srgbClr val="FFFFFF"/>
                </a:highlight>
              </a:rPr>
              <a:t>※Lombardo &amp; Eichinger（ロンバード＆アイヒンガー）が提唱した「70:20:10の法則」において、人材育成における学習比率を表す円グラフ</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経験学習モデル</a:t>
            </a:r>
            <a:endParaRPr/>
          </a:p>
        </p:txBody>
      </p:sp>
      <p:sp>
        <p:nvSpPr>
          <p:cNvPr id="202" name="Google Shape;20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203" name="Google Shape;203;p34"/>
          <p:cNvSpPr/>
          <p:nvPr/>
        </p:nvSpPr>
        <p:spPr>
          <a:xfrm>
            <a:off x="2485975" y="1181725"/>
            <a:ext cx="3873300" cy="12723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b="1" lang="ja" sz="1500"/>
              <a:t>自力で経験学習していける人もいるが、</a:t>
            </a:r>
            <a:endParaRPr b="1" sz="1500"/>
          </a:p>
          <a:p>
            <a:pPr indent="0" lvl="0" marL="0" rtl="0" algn="just">
              <a:spcBef>
                <a:spcPts val="0"/>
              </a:spcBef>
              <a:spcAft>
                <a:spcPts val="0"/>
              </a:spcAft>
              <a:buNone/>
            </a:pPr>
            <a:r>
              <a:rPr b="1" lang="ja" sz="1500"/>
              <a:t>すべての人たちができるわけではない。</a:t>
            </a:r>
            <a:endParaRPr b="1" sz="1500"/>
          </a:p>
          <a:p>
            <a:pPr indent="0" lvl="0" marL="0" rtl="0" algn="just">
              <a:spcBef>
                <a:spcPts val="0"/>
              </a:spcBef>
              <a:spcAft>
                <a:spcPts val="0"/>
              </a:spcAft>
              <a:buNone/>
            </a:pPr>
            <a:r>
              <a:rPr b="1" lang="ja" sz="1500"/>
              <a:t>「上長や周囲のサポート」が必要となる。</a:t>
            </a:r>
            <a:endParaRPr b="1" sz="1500"/>
          </a:p>
        </p:txBody>
      </p:sp>
      <p:sp>
        <p:nvSpPr>
          <p:cNvPr id="204" name="Google Shape;204;p34"/>
          <p:cNvSpPr/>
          <p:nvPr/>
        </p:nvSpPr>
        <p:spPr>
          <a:xfrm>
            <a:off x="2784600" y="3659225"/>
            <a:ext cx="3574800" cy="929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3000"/>
              <a:t>成長支援</a:t>
            </a:r>
            <a:endParaRPr b="1" sz="3000"/>
          </a:p>
        </p:txBody>
      </p:sp>
      <p:sp>
        <p:nvSpPr>
          <p:cNvPr id="205" name="Google Shape;205;p34"/>
          <p:cNvSpPr/>
          <p:nvPr/>
        </p:nvSpPr>
        <p:spPr>
          <a:xfrm>
            <a:off x="4201650" y="2393550"/>
            <a:ext cx="740700" cy="1151100"/>
          </a:xfrm>
          <a:prstGeom prst="downArrow">
            <a:avLst>
              <a:gd fmla="val 50000" name="adj1"/>
              <a:gd fmla="val 50000" name="adj2"/>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5"/>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sz="3600"/>
              <a:t>成長支援</a:t>
            </a:r>
            <a:endParaRPr sz="3600"/>
          </a:p>
        </p:txBody>
      </p:sp>
      <p:sp>
        <p:nvSpPr>
          <p:cNvPr id="211" name="Google Shape;21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6"/>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成長支援＝「経験学習を促進するマネジメント」</a:t>
            </a:r>
            <a:endParaRPr/>
          </a:p>
        </p:txBody>
      </p:sp>
      <p:sp>
        <p:nvSpPr>
          <p:cNvPr id="217" name="Google Shape;217;p36"/>
          <p:cNvSpPr/>
          <p:nvPr/>
        </p:nvSpPr>
        <p:spPr>
          <a:xfrm>
            <a:off x="3524849" y="1243550"/>
            <a:ext cx="15462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経験する</a:t>
            </a:r>
            <a:endParaRPr b="1" sz="1469"/>
          </a:p>
        </p:txBody>
      </p:sp>
      <p:sp>
        <p:nvSpPr>
          <p:cNvPr id="218" name="Google Shape;218;p36"/>
          <p:cNvSpPr/>
          <p:nvPr/>
        </p:nvSpPr>
        <p:spPr>
          <a:xfrm>
            <a:off x="1200075" y="2524338"/>
            <a:ext cx="16737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次の行動を決める</a:t>
            </a:r>
            <a:endParaRPr b="1" sz="1469"/>
          </a:p>
        </p:txBody>
      </p:sp>
      <p:sp>
        <p:nvSpPr>
          <p:cNvPr id="219" name="Google Shape;219;p36"/>
          <p:cNvSpPr/>
          <p:nvPr/>
        </p:nvSpPr>
        <p:spPr>
          <a:xfrm>
            <a:off x="3524849" y="3590874"/>
            <a:ext cx="15462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学びを得る</a:t>
            </a:r>
            <a:endParaRPr b="1" sz="1469"/>
          </a:p>
        </p:txBody>
      </p:sp>
      <p:sp>
        <p:nvSpPr>
          <p:cNvPr id="220" name="Google Shape;220;p36"/>
          <p:cNvSpPr/>
          <p:nvPr/>
        </p:nvSpPr>
        <p:spPr>
          <a:xfrm>
            <a:off x="5886126" y="2524357"/>
            <a:ext cx="14325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振り返る</a:t>
            </a:r>
            <a:endParaRPr b="1" sz="1469"/>
          </a:p>
        </p:txBody>
      </p:sp>
      <p:sp>
        <p:nvSpPr>
          <p:cNvPr id="221" name="Google Shape;221;p36"/>
          <p:cNvSpPr/>
          <p:nvPr/>
        </p:nvSpPr>
        <p:spPr>
          <a:xfrm flipH="1" rot="10800000">
            <a:off x="5078625" y="1396370"/>
            <a:ext cx="1673700" cy="1112700"/>
          </a:xfrm>
          <a:prstGeom prst="bentUpArrow">
            <a:avLst>
              <a:gd fmla="val 6658" name="adj1"/>
              <a:gd fmla="val 14724"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222" name="Google Shape;222;p36"/>
          <p:cNvSpPr/>
          <p:nvPr/>
        </p:nvSpPr>
        <p:spPr>
          <a:xfrm flipH="1" rot="-5400000">
            <a:off x="5336211" y="2663080"/>
            <a:ext cx="1075800" cy="1546200"/>
          </a:xfrm>
          <a:prstGeom prst="bentUpArrow">
            <a:avLst>
              <a:gd fmla="val 6658" name="adj1"/>
              <a:gd fmla="val 16093" name="adj2"/>
              <a:gd fmla="val 19759"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223" name="Google Shape;223;p36"/>
          <p:cNvSpPr/>
          <p:nvPr/>
        </p:nvSpPr>
        <p:spPr>
          <a:xfrm flipH="1">
            <a:off x="1869627" y="2864623"/>
            <a:ext cx="1640100" cy="986100"/>
          </a:xfrm>
          <a:prstGeom prst="bentUpArrow">
            <a:avLst>
              <a:gd fmla="val 7134" name="adj1"/>
              <a:gd fmla="val 15777"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224" name="Google Shape;224;p36"/>
          <p:cNvSpPr/>
          <p:nvPr/>
        </p:nvSpPr>
        <p:spPr>
          <a:xfrm flipH="1" rot="5400000">
            <a:off x="2106227" y="1079647"/>
            <a:ext cx="1255200" cy="1566900"/>
          </a:xfrm>
          <a:prstGeom prst="bentUpArrow">
            <a:avLst>
              <a:gd fmla="val 6198" name="adj1"/>
              <a:gd fmla="val 12875" name="adj2"/>
              <a:gd fmla="val 16727"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225" name="Google Shape;22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226" name="Google Shape;226;p36"/>
          <p:cNvSpPr/>
          <p:nvPr/>
        </p:nvSpPr>
        <p:spPr>
          <a:xfrm>
            <a:off x="6989875" y="3241775"/>
            <a:ext cx="1710000" cy="525300"/>
          </a:xfrm>
          <a:prstGeom prst="wedgeRectCallout">
            <a:avLst>
              <a:gd fmla="val -41731" name="adj1"/>
              <a:gd fmla="val -112793"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成長の機会・客観的なFBなど</a:t>
            </a:r>
            <a:endParaRPr b="1" sz="1200"/>
          </a:p>
        </p:txBody>
      </p:sp>
      <p:sp>
        <p:nvSpPr>
          <p:cNvPr id="227" name="Google Shape;227;p36"/>
          <p:cNvSpPr/>
          <p:nvPr/>
        </p:nvSpPr>
        <p:spPr>
          <a:xfrm>
            <a:off x="3897275" y="4363275"/>
            <a:ext cx="3368700" cy="420300"/>
          </a:xfrm>
          <a:prstGeom prst="wedgeRectCallout">
            <a:avLst>
              <a:gd fmla="val -38935" name="adj1"/>
              <a:gd fmla="val -134226"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問いかけアドバイス など</a:t>
            </a:r>
            <a:endParaRPr b="1" sz="1200"/>
          </a:p>
        </p:txBody>
      </p:sp>
      <p:sp>
        <p:nvSpPr>
          <p:cNvPr id="228" name="Google Shape;228;p36"/>
          <p:cNvSpPr/>
          <p:nvPr/>
        </p:nvSpPr>
        <p:spPr>
          <a:xfrm>
            <a:off x="-45400" y="1755925"/>
            <a:ext cx="1952100" cy="393600"/>
          </a:xfrm>
          <a:prstGeom prst="wedgeRectCallout">
            <a:avLst>
              <a:gd fmla="val 42766" name="adj1"/>
              <a:gd fmla="val 129097"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具体的なアサイン・目標への反映・後押しなど</a:t>
            </a:r>
            <a:endParaRPr b="1"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p:nvPr/>
        </p:nvSpPr>
        <p:spPr>
          <a:xfrm>
            <a:off x="21925" y="2494500"/>
            <a:ext cx="5358900" cy="19590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37"/>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成長支援</a:t>
            </a:r>
            <a:r>
              <a:rPr lang="ja"/>
              <a:t>とフィードバック</a:t>
            </a:r>
            <a:endParaRPr/>
          </a:p>
        </p:txBody>
      </p:sp>
      <p:sp>
        <p:nvSpPr>
          <p:cNvPr id="235" name="Google Shape;235;p37"/>
          <p:cNvSpPr/>
          <p:nvPr/>
        </p:nvSpPr>
        <p:spPr>
          <a:xfrm>
            <a:off x="2111803" y="1499378"/>
            <a:ext cx="11349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969"/>
              <a:t>経験する</a:t>
            </a:r>
            <a:endParaRPr b="1" sz="969"/>
          </a:p>
        </p:txBody>
      </p:sp>
      <p:sp>
        <p:nvSpPr>
          <p:cNvPr id="236" name="Google Shape;236;p37"/>
          <p:cNvSpPr/>
          <p:nvPr/>
        </p:nvSpPr>
        <p:spPr>
          <a:xfrm>
            <a:off x="405625" y="2780162"/>
            <a:ext cx="1228200" cy="358500"/>
          </a:xfrm>
          <a:prstGeom prst="rect">
            <a:avLst/>
          </a:prstGeom>
          <a:solidFill>
            <a:srgbClr val="FFFFFF"/>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rPr b="1" lang="ja" sz="969"/>
              <a:t>次の行動を決める</a:t>
            </a:r>
            <a:endParaRPr b="1" sz="969"/>
          </a:p>
        </p:txBody>
      </p:sp>
      <p:sp>
        <p:nvSpPr>
          <p:cNvPr id="237" name="Google Shape;237;p37"/>
          <p:cNvSpPr/>
          <p:nvPr/>
        </p:nvSpPr>
        <p:spPr>
          <a:xfrm>
            <a:off x="2111803" y="3846696"/>
            <a:ext cx="1134900" cy="358500"/>
          </a:xfrm>
          <a:prstGeom prst="rect">
            <a:avLst/>
          </a:prstGeom>
          <a:solidFill>
            <a:srgbClr val="FFFFFF"/>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rPr b="1" lang="ja" sz="969"/>
              <a:t>学びを得る</a:t>
            </a:r>
            <a:endParaRPr b="1" sz="969"/>
          </a:p>
        </p:txBody>
      </p:sp>
      <p:sp>
        <p:nvSpPr>
          <p:cNvPr id="238" name="Google Shape;238;p37"/>
          <p:cNvSpPr/>
          <p:nvPr/>
        </p:nvSpPr>
        <p:spPr>
          <a:xfrm>
            <a:off x="3844772" y="2780182"/>
            <a:ext cx="1051200" cy="358500"/>
          </a:xfrm>
          <a:prstGeom prst="rect">
            <a:avLst/>
          </a:prstGeom>
          <a:solidFill>
            <a:srgbClr val="FFFFFF"/>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rPr b="1" lang="ja" sz="969"/>
              <a:t>振り返る</a:t>
            </a:r>
            <a:endParaRPr b="1" sz="969"/>
          </a:p>
        </p:txBody>
      </p:sp>
      <p:sp>
        <p:nvSpPr>
          <p:cNvPr id="239" name="Google Shape;239;p37"/>
          <p:cNvSpPr/>
          <p:nvPr/>
        </p:nvSpPr>
        <p:spPr>
          <a:xfrm flipH="1" rot="10800000">
            <a:off x="3252138" y="1652194"/>
            <a:ext cx="1228200" cy="1112700"/>
          </a:xfrm>
          <a:prstGeom prst="bentUpArrow">
            <a:avLst>
              <a:gd fmla="val 6658" name="adj1"/>
              <a:gd fmla="val 14724"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240" name="Google Shape;240;p37"/>
          <p:cNvSpPr/>
          <p:nvPr/>
        </p:nvSpPr>
        <p:spPr>
          <a:xfrm flipH="1" rot="-5400000">
            <a:off x="3298117" y="3124553"/>
            <a:ext cx="1075800" cy="1134900"/>
          </a:xfrm>
          <a:prstGeom prst="bentUpArrow">
            <a:avLst>
              <a:gd fmla="val 6658" name="adj1"/>
              <a:gd fmla="val 16093" name="adj2"/>
              <a:gd fmla="val 19759"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241" name="Google Shape;241;p37"/>
          <p:cNvSpPr/>
          <p:nvPr/>
        </p:nvSpPr>
        <p:spPr>
          <a:xfrm flipH="1">
            <a:off x="897105" y="3120446"/>
            <a:ext cx="1203600" cy="986100"/>
          </a:xfrm>
          <a:prstGeom prst="bentUpArrow">
            <a:avLst>
              <a:gd fmla="val 7134" name="adj1"/>
              <a:gd fmla="val 15777"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242" name="Google Shape;242;p37"/>
          <p:cNvSpPr/>
          <p:nvPr/>
        </p:nvSpPr>
        <p:spPr>
          <a:xfrm flipH="1" rot="5400000">
            <a:off x="937450" y="1577725"/>
            <a:ext cx="1187700" cy="1149900"/>
          </a:xfrm>
          <a:prstGeom prst="bentUpArrow">
            <a:avLst>
              <a:gd fmla="val 6198" name="adj1"/>
              <a:gd fmla="val 12875" name="adj2"/>
              <a:gd fmla="val 16727"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243" name="Google Shape;243;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244" name="Google Shape;244;p37"/>
          <p:cNvSpPr/>
          <p:nvPr/>
        </p:nvSpPr>
        <p:spPr>
          <a:xfrm>
            <a:off x="5429300" y="3262000"/>
            <a:ext cx="814800" cy="249000"/>
          </a:xfrm>
          <a:prstGeom prst="leftArrow">
            <a:avLst>
              <a:gd fmla="val 18896" name="adj1"/>
              <a:gd fmla="val 50000" name="adj2"/>
            </a:avLst>
          </a:prstGeom>
          <a:solidFill>
            <a:srgbClr val="F3F3F3"/>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37"/>
          <p:cNvSpPr/>
          <p:nvPr/>
        </p:nvSpPr>
        <p:spPr>
          <a:xfrm>
            <a:off x="6243975" y="2494500"/>
            <a:ext cx="2672700" cy="18513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37"/>
          <p:cNvSpPr/>
          <p:nvPr/>
        </p:nvSpPr>
        <p:spPr>
          <a:xfrm>
            <a:off x="6678225" y="2571750"/>
            <a:ext cx="1804200" cy="20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t>相手に応じた支援</a:t>
            </a:r>
            <a:endParaRPr b="1" sz="1300"/>
          </a:p>
        </p:txBody>
      </p:sp>
      <p:sp>
        <p:nvSpPr>
          <p:cNvPr id="247" name="Google Shape;247;p37"/>
          <p:cNvSpPr/>
          <p:nvPr/>
        </p:nvSpPr>
        <p:spPr>
          <a:xfrm>
            <a:off x="6640050" y="2932100"/>
            <a:ext cx="935700" cy="51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t>教える</a:t>
            </a:r>
            <a:endParaRPr b="1" sz="1100"/>
          </a:p>
        </p:txBody>
      </p:sp>
      <p:sp>
        <p:nvSpPr>
          <p:cNvPr id="248" name="Google Shape;248;p37"/>
          <p:cNvSpPr/>
          <p:nvPr/>
        </p:nvSpPr>
        <p:spPr>
          <a:xfrm>
            <a:off x="7607075" y="2932100"/>
            <a:ext cx="935700" cy="51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t>FBする</a:t>
            </a:r>
            <a:endParaRPr b="1" sz="1100"/>
          </a:p>
        </p:txBody>
      </p:sp>
      <p:sp>
        <p:nvSpPr>
          <p:cNvPr id="249" name="Google Shape;249;p37"/>
          <p:cNvSpPr/>
          <p:nvPr/>
        </p:nvSpPr>
        <p:spPr>
          <a:xfrm>
            <a:off x="6640050" y="3477325"/>
            <a:ext cx="935700" cy="51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t>自信を</a:t>
            </a:r>
            <a:endParaRPr b="1" sz="1100"/>
          </a:p>
          <a:p>
            <a:pPr indent="0" lvl="0" marL="0" rtl="0" algn="ctr">
              <a:spcBef>
                <a:spcPts val="0"/>
              </a:spcBef>
              <a:spcAft>
                <a:spcPts val="0"/>
              </a:spcAft>
              <a:buNone/>
            </a:pPr>
            <a:r>
              <a:rPr b="1" lang="ja" sz="1100"/>
              <a:t>持たせる</a:t>
            </a:r>
            <a:endParaRPr b="1" sz="1100"/>
          </a:p>
        </p:txBody>
      </p:sp>
      <p:sp>
        <p:nvSpPr>
          <p:cNvPr id="250" name="Google Shape;250;p37"/>
          <p:cNvSpPr/>
          <p:nvPr/>
        </p:nvSpPr>
        <p:spPr>
          <a:xfrm>
            <a:off x="7607075" y="3477325"/>
            <a:ext cx="935700" cy="51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t>任せる</a:t>
            </a:r>
            <a:endParaRPr b="1"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256" name="Google Shape;25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257" name="Google Shape;257;p38"/>
          <p:cNvSpPr/>
          <p:nvPr/>
        </p:nvSpPr>
        <p:spPr>
          <a:xfrm>
            <a:off x="533600" y="2703200"/>
            <a:ext cx="3164100" cy="19254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323850" lvl="0" marL="457200" rtl="0" algn="l">
              <a:lnSpc>
                <a:spcPct val="200000"/>
              </a:lnSpc>
              <a:spcBef>
                <a:spcPts val="0"/>
              </a:spcBef>
              <a:spcAft>
                <a:spcPts val="0"/>
              </a:spcAft>
              <a:buSzPts val="1500"/>
              <a:buChar char="●"/>
            </a:pPr>
            <a:r>
              <a:rPr b="1" lang="ja" sz="1500"/>
              <a:t>「任せる」という名の放置</a:t>
            </a:r>
            <a:endParaRPr b="1" sz="1500"/>
          </a:p>
          <a:p>
            <a:pPr indent="-323850" lvl="0" marL="457200" rtl="0" algn="l">
              <a:lnSpc>
                <a:spcPct val="200000"/>
              </a:lnSpc>
              <a:spcBef>
                <a:spcPts val="0"/>
              </a:spcBef>
              <a:spcAft>
                <a:spcPts val="0"/>
              </a:spcAft>
              <a:buSzPts val="1500"/>
              <a:buChar char="●"/>
            </a:pPr>
            <a:r>
              <a:rPr b="1" lang="ja" sz="1500"/>
              <a:t>上司がやりやすいスタイルで支援する</a:t>
            </a:r>
            <a:endParaRPr b="1" sz="1500"/>
          </a:p>
        </p:txBody>
      </p:sp>
      <p:sp>
        <p:nvSpPr>
          <p:cNvPr id="258" name="Google Shape;258;p38"/>
          <p:cNvSpPr/>
          <p:nvPr/>
        </p:nvSpPr>
        <p:spPr>
          <a:xfrm>
            <a:off x="4734000" y="2703200"/>
            <a:ext cx="3164100" cy="19254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200000"/>
              </a:lnSpc>
              <a:spcBef>
                <a:spcPts val="0"/>
              </a:spcBef>
              <a:spcAft>
                <a:spcPts val="0"/>
              </a:spcAft>
              <a:buNone/>
            </a:pPr>
            <a:r>
              <a:rPr b="1" lang="ja" sz="1500"/>
              <a:t>「メンバーの自己認識」と</a:t>
            </a:r>
            <a:endParaRPr b="1" sz="1500"/>
          </a:p>
          <a:p>
            <a:pPr indent="0" lvl="0" marL="0" rtl="0" algn="ctr">
              <a:lnSpc>
                <a:spcPct val="200000"/>
              </a:lnSpc>
              <a:spcBef>
                <a:spcPts val="0"/>
              </a:spcBef>
              <a:spcAft>
                <a:spcPts val="0"/>
              </a:spcAft>
              <a:buNone/>
            </a:pPr>
            <a:r>
              <a:rPr b="1" lang="ja" sz="1500"/>
              <a:t>「上司からの認識」に応じて</a:t>
            </a:r>
            <a:endParaRPr b="1" sz="1500"/>
          </a:p>
          <a:p>
            <a:pPr indent="0" lvl="0" marL="0" rtl="0" algn="ctr">
              <a:lnSpc>
                <a:spcPct val="200000"/>
              </a:lnSpc>
              <a:spcBef>
                <a:spcPts val="0"/>
              </a:spcBef>
              <a:spcAft>
                <a:spcPts val="0"/>
              </a:spcAft>
              <a:buNone/>
            </a:pPr>
            <a:r>
              <a:rPr b="1" lang="ja" sz="1500"/>
              <a:t>支援の際の重点を変える。</a:t>
            </a:r>
            <a:endParaRPr b="1" sz="1500"/>
          </a:p>
        </p:txBody>
      </p:sp>
      <p:sp>
        <p:nvSpPr>
          <p:cNvPr id="259" name="Google Shape;259;p38"/>
          <p:cNvSpPr/>
          <p:nvPr/>
        </p:nvSpPr>
        <p:spPr>
          <a:xfrm>
            <a:off x="722100" y="710450"/>
            <a:ext cx="2713200" cy="2289000"/>
          </a:xfrm>
          <a:prstGeom prst="mathMultiply">
            <a:avLst>
              <a:gd fmla="val 18529"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38"/>
          <p:cNvSpPr/>
          <p:nvPr/>
        </p:nvSpPr>
        <p:spPr>
          <a:xfrm>
            <a:off x="5239500" y="885475"/>
            <a:ext cx="1885200" cy="16863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38"/>
          <p:cNvSpPr/>
          <p:nvPr/>
        </p:nvSpPr>
        <p:spPr>
          <a:xfrm>
            <a:off x="5616000" y="1263175"/>
            <a:ext cx="1132200" cy="930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9"/>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267" name="Google Shape;26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graphicFrame>
        <p:nvGraphicFramePr>
          <p:cNvPr id="268" name="Google Shape;268;p39"/>
          <p:cNvGraphicFramePr/>
          <p:nvPr/>
        </p:nvGraphicFramePr>
        <p:xfrm>
          <a:off x="790500" y="1589550"/>
          <a:ext cx="3000000" cy="3000000"/>
        </p:xfrm>
        <a:graphic>
          <a:graphicData uri="http://schemas.openxmlformats.org/drawingml/2006/table">
            <a:tbl>
              <a:tblPr>
                <a:noFill/>
                <a:tableStyleId>{B5E09D2F-972E-4A66-A7EB-15B77129AD26}</a:tableStyleId>
              </a:tblPr>
              <a:tblGrid>
                <a:gridCol w="1133875"/>
                <a:gridCol w="3052550"/>
                <a:gridCol w="3052575"/>
              </a:tblGrid>
              <a:tr h="315400">
                <a:tc>
                  <a:txBody>
                    <a:bodyPr/>
                    <a:lstStyle/>
                    <a:p>
                      <a:pPr indent="0" lvl="0" marL="0" rtl="0" algn="ctr">
                        <a:spcBef>
                          <a:spcPts val="0"/>
                        </a:spcBef>
                        <a:spcAft>
                          <a:spcPts val="0"/>
                        </a:spcAft>
                        <a:buNone/>
                      </a:pPr>
                      <a:r>
                        <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できないと思っている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できると思っている</a:t>
                      </a:r>
                      <a:endParaRPr b="1"/>
                    </a:p>
                  </a:txBody>
                  <a:tcPr marT="91425" marB="91425" marR="91425" marL="91425" anchor="ctr">
                    <a:solidFill>
                      <a:srgbClr val="F3F3F3"/>
                    </a:solidFill>
                  </a:tcPr>
                </a:tc>
              </a:tr>
              <a:tr h="1183875">
                <a:tc>
                  <a:txBody>
                    <a:bodyPr/>
                    <a:lstStyle/>
                    <a:p>
                      <a:pPr indent="0" lvl="0" marL="0" rtl="0" algn="ctr">
                        <a:spcBef>
                          <a:spcPts val="0"/>
                        </a:spcBef>
                        <a:spcAft>
                          <a:spcPts val="0"/>
                        </a:spcAft>
                        <a:buNone/>
                      </a:pPr>
                      <a:r>
                        <a:rPr b="1" lang="ja"/>
                        <a:t>できないと思っている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教える</a:t>
                      </a:r>
                      <a:endParaRPr b="1"/>
                    </a:p>
                  </a:txBody>
                  <a:tcPr marT="91425" marB="91425" marR="91425" marL="91425" anchor="ctr"/>
                </a:tc>
                <a:tc>
                  <a:txBody>
                    <a:bodyPr/>
                    <a:lstStyle/>
                    <a:p>
                      <a:pPr indent="0" lvl="0" marL="0" rtl="0" algn="ctr">
                        <a:spcBef>
                          <a:spcPts val="0"/>
                        </a:spcBef>
                        <a:spcAft>
                          <a:spcPts val="0"/>
                        </a:spcAft>
                        <a:buNone/>
                      </a:pPr>
                      <a:r>
                        <a:rPr b="1" lang="ja"/>
                        <a:t>FBする</a:t>
                      </a:r>
                      <a:endParaRPr b="1"/>
                    </a:p>
                  </a:txBody>
                  <a:tcPr marT="91425" marB="91425" marR="91425" marL="91425" anchor="ctr"/>
                </a:tc>
              </a:tr>
              <a:tr h="1298350">
                <a:tc>
                  <a:txBody>
                    <a:bodyPr/>
                    <a:lstStyle/>
                    <a:p>
                      <a:pPr indent="0" lvl="0" marL="0" rtl="0" algn="ctr">
                        <a:spcBef>
                          <a:spcPts val="0"/>
                        </a:spcBef>
                        <a:spcAft>
                          <a:spcPts val="0"/>
                        </a:spcAft>
                        <a:buNone/>
                      </a:pPr>
                      <a:r>
                        <a:rPr b="1" lang="ja"/>
                        <a:t>できると思っている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自信を持たせる</a:t>
                      </a:r>
                      <a:endParaRPr b="1"/>
                    </a:p>
                  </a:txBody>
                  <a:tcPr marT="91425" marB="91425" marR="91425" marL="91425" anchor="ctr"/>
                </a:tc>
                <a:tc>
                  <a:txBody>
                    <a:bodyPr/>
                    <a:lstStyle/>
                    <a:p>
                      <a:pPr indent="0" lvl="0" marL="0" rtl="0" algn="ctr">
                        <a:spcBef>
                          <a:spcPts val="0"/>
                        </a:spcBef>
                        <a:spcAft>
                          <a:spcPts val="0"/>
                        </a:spcAft>
                        <a:buNone/>
                      </a:pPr>
                      <a:r>
                        <a:rPr b="1" lang="ja"/>
                        <a:t>任せる</a:t>
                      </a:r>
                      <a:endParaRPr b="1"/>
                    </a:p>
                  </a:txBody>
                  <a:tcPr marT="91425" marB="91425" marR="91425" marL="91425" anchor="ctr"/>
                </a:tc>
              </a:tr>
            </a:tbl>
          </a:graphicData>
        </a:graphic>
      </p:graphicFrame>
      <p:sp>
        <p:nvSpPr>
          <p:cNvPr id="269" name="Google Shape;269;p39"/>
          <p:cNvSpPr/>
          <p:nvPr/>
        </p:nvSpPr>
        <p:spPr>
          <a:xfrm>
            <a:off x="2977450" y="1262475"/>
            <a:ext cx="3897900" cy="22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メンバーの認識</a:t>
            </a:r>
            <a:endParaRPr b="1"/>
          </a:p>
        </p:txBody>
      </p:sp>
      <p:sp>
        <p:nvSpPr>
          <p:cNvPr id="270" name="Google Shape;270;p39"/>
          <p:cNvSpPr/>
          <p:nvPr/>
        </p:nvSpPr>
        <p:spPr>
          <a:xfrm>
            <a:off x="360000" y="1955925"/>
            <a:ext cx="315000" cy="223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上長の認識</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0"/>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276" name="Google Shape;27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graphicFrame>
        <p:nvGraphicFramePr>
          <p:cNvPr id="277" name="Google Shape;277;p40"/>
          <p:cNvGraphicFramePr/>
          <p:nvPr/>
        </p:nvGraphicFramePr>
        <p:xfrm>
          <a:off x="790500" y="1589550"/>
          <a:ext cx="3000000" cy="3000000"/>
        </p:xfrm>
        <a:graphic>
          <a:graphicData uri="http://schemas.openxmlformats.org/drawingml/2006/table">
            <a:tbl>
              <a:tblPr>
                <a:noFill/>
                <a:tableStyleId>{B5E09D2F-972E-4A66-A7EB-15B77129AD26}</a:tableStyleId>
              </a:tblPr>
              <a:tblGrid>
                <a:gridCol w="1133875"/>
                <a:gridCol w="3052550"/>
                <a:gridCol w="3052575"/>
              </a:tblGrid>
              <a:tr h="315400">
                <a:tc>
                  <a:txBody>
                    <a:bodyPr/>
                    <a:lstStyle/>
                    <a:p>
                      <a:pPr indent="0" lvl="0" marL="0" rtl="0" algn="ctr">
                        <a:spcBef>
                          <a:spcPts val="0"/>
                        </a:spcBef>
                        <a:spcAft>
                          <a:spcPts val="0"/>
                        </a:spcAft>
                        <a:buNone/>
                      </a:pPr>
                      <a:r>
                        <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できないと思っている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できると思っている</a:t>
                      </a:r>
                      <a:endParaRPr b="1"/>
                    </a:p>
                  </a:txBody>
                  <a:tcPr marT="91425" marB="91425" marR="91425" marL="91425" anchor="ctr">
                    <a:solidFill>
                      <a:srgbClr val="F3F3F3"/>
                    </a:solidFill>
                  </a:tcPr>
                </a:tc>
              </a:tr>
              <a:tr h="1183875">
                <a:tc>
                  <a:txBody>
                    <a:bodyPr/>
                    <a:lstStyle/>
                    <a:p>
                      <a:pPr indent="0" lvl="0" marL="0" rtl="0" algn="ctr">
                        <a:spcBef>
                          <a:spcPts val="0"/>
                        </a:spcBef>
                        <a:spcAft>
                          <a:spcPts val="0"/>
                        </a:spcAft>
                        <a:buNone/>
                      </a:pPr>
                      <a:r>
                        <a:rPr b="1" lang="ja"/>
                        <a:t>できないと思っている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教える</a:t>
                      </a:r>
                      <a:endParaRPr b="1"/>
                    </a:p>
                  </a:txBody>
                  <a:tcPr marT="91425" marB="91425" marR="91425" marL="91425" anchor="ctr">
                    <a:solidFill>
                      <a:srgbClr val="F4CCCC"/>
                    </a:solidFill>
                  </a:tcPr>
                </a:tc>
                <a:tc>
                  <a:txBody>
                    <a:bodyPr/>
                    <a:lstStyle/>
                    <a:p>
                      <a:pPr indent="0" lvl="0" marL="0" rtl="0" algn="ctr">
                        <a:spcBef>
                          <a:spcPts val="0"/>
                        </a:spcBef>
                        <a:spcAft>
                          <a:spcPts val="0"/>
                        </a:spcAft>
                        <a:buNone/>
                      </a:pPr>
                      <a:r>
                        <a:rPr b="1" lang="ja"/>
                        <a:t>FBする</a:t>
                      </a:r>
                      <a:endParaRPr b="1"/>
                    </a:p>
                  </a:txBody>
                  <a:tcPr marT="91425" marB="91425" marR="91425" marL="91425" anchor="ctr"/>
                </a:tc>
              </a:tr>
              <a:tr h="1298350">
                <a:tc>
                  <a:txBody>
                    <a:bodyPr/>
                    <a:lstStyle/>
                    <a:p>
                      <a:pPr indent="0" lvl="0" marL="0" rtl="0" algn="ctr">
                        <a:spcBef>
                          <a:spcPts val="0"/>
                        </a:spcBef>
                        <a:spcAft>
                          <a:spcPts val="0"/>
                        </a:spcAft>
                        <a:buNone/>
                      </a:pPr>
                      <a:r>
                        <a:rPr b="1" lang="ja"/>
                        <a:t>できると思っている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自信を持たせる</a:t>
                      </a:r>
                      <a:endParaRPr b="1"/>
                    </a:p>
                  </a:txBody>
                  <a:tcPr marT="91425" marB="91425" marR="91425" marL="91425" anchor="ctr"/>
                </a:tc>
                <a:tc>
                  <a:txBody>
                    <a:bodyPr/>
                    <a:lstStyle/>
                    <a:p>
                      <a:pPr indent="0" lvl="0" marL="0" rtl="0" algn="ctr">
                        <a:spcBef>
                          <a:spcPts val="0"/>
                        </a:spcBef>
                        <a:spcAft>
                          <a:spcPts val="0"/>
                        </a:spcAft>
                        <a:buNone/>
                      </a:pPr>
                      <a:r>
                        <a:rPr b="1" lang="ja"/>
                        <a:t>任せる</a:t>
                      </a:r>
                      <a:endParaRPr b="1"/>
                    </a:p>
                  </a:txBody>
                  <a:tcPr marT="91425" marB="91425" marR="91425" marL="91425" anchor="ctr"/>
                </a:tc>
              </a:tr>
            </a:tbl>
          </a:graphicData>
        </a:graphic>
      </p:graphicFrame>
      <p:sp>
        <p:nvSpPr>
          <p:cNvPr id="278" name="Google Shape;278;p40"/>
          <p:cNvSpPr/>
          <p:nvPr/>
        </p:nvSpPr>
        <p:spPr>
          <a:xfrm>
            <a:off x="2977450" y="1262475"/>
            <a:ext cx="3897900" cy="22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メンバーの認識</a:t>
            </a:r>
            <a:endParaRPr b="1"/>
          </a:p>
        </p:txBody>
      </p:sp>
      <p:sp>
        <p:nvSpPr>
          <p:cNvPr id="279" name="Google Shape;279;p40"/>
          <p:cNvSpPr/>
          <p:nvPr/>
        </p:nvSpPr>
        <p:spPr>
          <a:xfrm>
            <a:off x="360000" y="1955925"/>
            <a:ext cx="315000" cy="223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上長の認識</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1"/>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285" name="Google Shape;28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286" name="Google Shape;286;p41"/>
          <p:cNvPicPr preferRelativeResize="0"/>
          <p:nvPr/>
        </p:nvPicPr>
        <p:blipFill>
          <a:blip r:embed="rId3">
            <a:alphaModFix/>
          </a:blip>
          <a:stretch>
            <a:fillRect/>
          </a:stretch>
        </p:blipFill>
        <p:spPr>
          <a:xfrm>
            <a:off x="1340063" y="1311400"/>
            <a:ext cx="6139876" cy="3693150"/>
          </a:xfrm>
          <a:prstGeom prst="rect">
            <a:avLst/>
          </a:prstGeom>
          <a:noFill/>
          <a:ln>
            <a:noFill/>
          </a:ln>
        </p:spPr>
      </p:pic>
      <p:sp>
        <p:nvSpPr>
          <p:cNvPr id="287" name="Google Shape;287;p41"/>
          <p:cNvSpPr/>
          <p:nvPr/>
        </p:nvSpPr>
        <p:spPr>
          <a:xfrm>
            <a:off x="1698275" y="925875"/>
            <a:ext cx="4867500" cy="31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a:t>教え方がうまい人は何をしているか（口頭編）</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2"/>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293" name="Google Shape;29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graphicFrame>
        <p:nvGraphicFramePr>
          <p:cNvPr id="294" name="Google Shape;294;p42"/>
          <p:cNvGraphicFramePr/>
          <p:nvPr/>
        </p:nvGraphicFramePr>
        <p:xfrm>
          <a:off x="790500" y="1589550"/>
          <a:ext cx="3000000" cy="3000000"/>
        </p:xfrm>
        <a:graphic>
          <a:graphicData uri="http://schemas.openxmlformats.org/drawingml/2006/table">
            <a:tbl>
              <a:tblPr>
                <a:noFill/>
                <a:tableStyleId>{B5E09D2F-972E-4A66-A7EB-15B77129AD26}</a:tableStyleId>
              </a:tblPr>
              <a:tblGrid>
                <a:gridCol w="1133875"/>
                <a:gridCol w="3052550"/>
                <a:gridCol w="3052575"/>
              </a:tblGrid>
              <a:tr h="315400">
                <a:tc>
                  <a:txBody>
                    <a:bodyPr/>
                    <a:lstStyle/>
                    <a:p>
                      <a:pPr indent="0" lvl="0" marL="0" rtl="0" algn="ctr">
                        <a:spcBef>
                          <a:spcPts val="0"/>
                        </a:spcBef>
                        <a:spcAft>
                          <a:spcPts val="0"/>
                        </a:spcAft>
                        <a:buNone/>
                      </a:pPr>
                      <a:r>
                        <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できないと思っている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できると思っている</a:t>
                      </a:r>
                      <a:endParaRPr b="1"/>
                    </a:p>
                  </a:txBody>
                  <a:tcPr marT="91425" marB="91425" marR="91425" marL="91425" anchor="ctr">
                    <a:solidFill>
                      <a:srgbClr val="F3F3F3"/>
                    </a:solidFill>
                  </a:tcPr>
                </a:tc>
              </a:tr>
              <a:tr h="1183875">
                <a:tc>
                  <a:txBody>
                    <a:bodyPr/>
                    <a:lstStyle/>
                    <a:p>
                      <a:pPr indent="0" lvl="0" marL="0" rtl="0" algn="ctr">
                        <a:spcBef>
                          <a:spcPts val="0"/>
                        </a:spcBef>
                        <a:spcAft>
                          <a:spcPts val="0"/>
                        </a:spcAft>
                        <a:buNone/>
                      </a:pPr>
                      <a:r>
                        <a:rPr b="1" lang="ja"/>
                        <a:t>できないと思っている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教える</a:t>
                      </a:r>
                      <a:endParaRPr b="1"/>
                    </a:p>
                  </a:txBody>
                  <a:tcPr marT="91425" marB="91425" marR="91425" marL="91425" anchor="ctr"/>
                </a:tc>
                <a:tc>
                  <a:txBody>
                    <a:bodyPr/>
                    <a:lstStyle/>
                    <a:p>
                      <a:pPr indent="0" lvl="0" marL="0" rtl="0" algn="ctr">
                        <a:spcBef>
                          <a:spcPts val="0"/>
                        </a:spcBef>
                        <a:spcAft>
                          <a:spcPts val="0"/>
                        </a:spcAft>
                        <a:buNone/>
                      </a:pPr>
                      <a:r>
                        <a:rPr b="1" lang="ja"/>
                        <a:t>FBする</a:t>
                      </a:r>
                      <a:endParaRPr b="1"/>
                    </a:p>
                  </a:txBody>
                  <a:tcPr marT="91425" marB="91425" marR="91425" marL="91425" anchor="ctr"/>
                </a:tc>
              </a:tr>
              <a:tr h="1298350">
                <a:tc>
                  <a:txBody>
                    <a:bodyPr/>
                    <a:lstStyle/>
                    <a:p>
                      <a:pPr indent="0" lvl="0" marL="0" rtl="0" algn="ctr">
                        <a:spcBef>
                          <a:spcPts val="0"/>
                        </a:spcBef>
                        <a:spcAft>
                          <a:spcPts val="0"/>
                        </a:spcAft>
                        <a:buNone/>
                      </a:pPr>
                      <a:r>
                        <a:rPr b="1" lang="ja"/>
                        <a:t>できると思っている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自信を持たせる</a:t>
                      </a:r>
                      <a:endParaRPr b="1"/>
                    </a:p>
                  </a:txBody>
                  <a:tcPr marT="91425" marB="91425" marR="91425" marL="91425" anchor="ctr">
                    <a:solidFill>
                      <a:srgbClr val="F4CCCC"/>
                    </a:solidFill>
                  </a:tcPr>
                </a:tc>
                <a:tc>
                  <a:txBody>
                    <a:bodyPr/>
                    <a:lstStyle/>
                    <a:p>
                      <a:pPr indent="0" lvl="0" marL="0" rtl="0" algn="ctr">
                        <a:spcBef>
                          <a:spcPts val="0"/>
                        </a:spcBef>
                        <a:spcAft>
                          <a:spcPts val="0"/>
                        </a:spcAft>
                        <a:buNone/>
                      </a:pPr>
                      <a:r>
                        <a:rPr b="1" lang="ja"/>
                        <a:t>任せる</a:t>
                      </a:r>
                      <a:endParaRPr b="1"/>
                    </a:p>
                  </a:txBody>
                  <a:tcPr marT="91425" marB="91425" marR="91425" marL="91425" anchor="ctr"/>
                </a:tc>
              </a:tr>
            </a:tbl>
          </a:graphicData>
        </a:graphic>
      </p:graphicFrame>
      <p:sp>
        <p:nvSpPr>
          <p:cNvPr id="295" name="Google Shape;295;p42"/>
          <p:cNvSpPr/>
          <p:nvPr/>
        </p:nvSpPr>
        <p:spPr>
          <a:xfrm>
            <a:off x="2977450" y="1262475"/>
            <a:ext cx="3897900" cy="22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メンバーの認識</a:t>
            </a:r>
            <a:endParaRPr b="1"/>
          </a:p>
        </p:txBody>
      </p:sp>
      <p:sp>
        <p:nvSpPr>
          <p:cNvPr id="296" name="Google Shape;296;p42"/>
          <p:cNvSpPr/>
          <p:nvPr/>
        </p:nvSpPr>
        <p:spPr>
          <a:xfrm>
            <a:off x="360000" y="1955925"/>
            <a:ext cx="315000" cy="223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上長の認識</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3"/>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302" name="Google Shape;302;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303" name="Google Shape;303;p43"/>
          <p:cNvSpPr/>
          <p:nvPr/>
        </p:nvSpPr>
        <p:spPr>
          <a:xfrm>
            <a:off x="1232375" y="1453550"/>
            <a:ext cx="6368700" cy="47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t>メンバーの自己評価が低く、チャレンジングな目標を立てられない</a:t>
            </a:r>
            <a:endParaRPr b="1" sz="1600"/>
          </a:p>
        </p:txBody>
      </p:sp>
      <p:sp>
        <p:nvSpPr>
          <p:cNvPr id="304" name="Google Shape;304;p43"/>
          <p:cNvSpPr/>
          <p:nvPr/>
        </p:nvSpPr>
        <p:spPr>
          <a:xfrm>
            <a:off x="3342875" y="1957525"/>
            <a:ext cx="2147700" cy="35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考えられる可能性</a:t>
            </a:r>
            <a:endParaRPr b="1"/>
          </a:p>
        </p:txBody>
      </p:sp>
      <p:sp>
        <p:nvSpPr>
          <p:cNvPr id="305" name="Google Shape;305;p43"/>
          <p:cNvSpPr/>
          <p:nvPr/>
        </p:nvSpPr>
        <p:spPr>
          <a:xfrm rot="10800000">
            <a:off x="4094525" y="2619763"/>
            <a:ext cx="644400" cy="199500"/>
          </a:xfrm>
          <a:prstGeom prst="triangle">
            <a:avLst>
              <a:gd fmla="val 50000"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43"/>
          <p:cNvSpPr/>
          <p:nvPr/>
        </p:nvSpPr>
        <p:spPr>
          <a:xfrm>
            <a:off x="1394375" y="3124800"/>
            <a:ext cx="6368700" cy="47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highlight>
                  <a:srgbClr val="F4CCCC"/>
                </a:highlight>
              </a:rPr>
              <a:t>自己効力感</a:t>
            </a:r>
            <a:r>
              <a:rPr b="1" lang="ja" sz="1600"/>
              <a:t>の不足</a:t>
            </a:r>
            <a:endParaRPr b="1" sz="1600"/>
          </a:p>
        </p:txBody>
      </p:sp>
      <p:sp>
        <p:nvSpPr>
          <p:cNvPr id="307" name="Google Shape;307;p43"/>
          <p:cNvSpPr/>
          <p:nvPr/>
        </p:nvSpPr>
        <p:spPr>
          <a:xfrm>
            <a:off x="1394375" y="3857575"/>
            <a:ext cx="6368700" cy="47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未来の自分に対する自信。「自分はこれをやれると思う」と思えること。</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4"/>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313" name="Google Shape;313;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314" name="Google Shape;314;p44"/>
          <p:cNvSpPr/>
          <p:nvPr/>
        </p:nvSpPr>
        <p:spPr>
          <a:xfrm>
            <a:off x="1225650" y="1161275"/>
            <a:ext cx="6368700" cy="47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t>自己効力感を高めるために、マネージャーや周囲にできること</a:t>
            </a:r>
            <a:endParaRPr b="1" sz="1600"/>
          </a:p>
        </p:txBody>
      </p:sp>
      <p:pic>
        <p:nvPicPr>
          <p:cNvPr id="315" name="Google Shape;315;p44"/>
          <p:cNvPicPr preferRelativeResize="0"/>
          <p:nvPr/>
        </p:nvPicPr>
        <p:blipFill>
          <a:blip r:embed="rId3">
            <a:alphaModFix/>
          </a:blip>
          <a:stretch>
            <a:fillRect/>
          </a:stretch>
        </p:blipFill>
        <p:spPr>
          <a:xfrm>
            <a:off x="2890100" y="1711100"/>
            <a:ext cx="3039780" cy="3030251"/>
          </a:xfrm>
          <a:prstGeom prst="rect">
            <a:avLst/>
          </a:prstGeom>
          <a:noFill/>
          <a:ln>
            <a:noFill/>
          </a:ln>
        </p:spPr>
      </p:pic>
      <p:sp>
        <p:nvSpPr>
          <p:cNvPr id="316" name="Google Shape;316;p44"/>
          <p:cNvSpPr/>
          <p:nvPr/>
        </p:nvSpPr>
        <p:spPr>
          <a:xfrm>
            <a:off x="284500" y="1759650"/>
            <a:ext cx="2551800" cy="14094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ja" sz="1100"/>
              <a:t>小さくていいから</a:t>
            </a:r>
            <a:r>
              <a:rPr b="1" lang="ja" sz="1100">
                <a:highlight>
                  <a:srgbClr val="F4CCCC"/>
                </a:highlight>
              </a:rPr>
              <a:t>成功体験</a:t>
            </a:r>
            <a:r>
              <a:rPr b="1" lang="ja" sz="1100"/>
              <a:t>を積ませる。</a:t>
            </a:r>
            <a:endParaRPr b="1" sz="1100"/>
          </a:p>
          <a:p>
            <a:pPr indent="-298450" lvl="0" marL="457200" rtl="0" algn="l">
              <a:lnSpc>
                <a:spcPct val="150000"/>
              </a:lnSpc>
              <a:spcBef>
                <a:spcPts val="0"/>
              </a:spcBef>
              <a:spcAft>
                <a:spcPts val="0"/>
              </a:spcAft>
              <a:buSzPts val="1100"/>
              <a:buChar char="●"/>
            </a:pPr>
            <a:r>
              <a:rPr b="1" lang="ja" sz="1100"/>
              <a:t>成功した際に、なぜ成功したのかを考えてもらうことで再現性が高まる。</a:t>
            </a:r>
            <a:endParaRPr b="1" sz="1100"/>
          </a:p>
        </p:txBody>
      </p:sp>
      <p:sp>
        <p:nvSpPr>
          <p:cNvPr id="317" name="Google Shape;317;p44"/>
          <p:cNvSpPr/>
          <p:nvPr/>
        </p:nvSpPr>
        <p:spPr>
          <a:xfrm>
            <a:off x="284500" y="3291325"/>
            <a:ext cx="2551800" cy="14163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ja" sz="1100"/>
              <a:t>「◯◯さんならできると思います」といった</a:t>
            </a:r>
            <a:r>
              <a:rPr b="1" lang="ja" sz="1100">
                <a:highlight>
                  <a:srgbClr val="F4CCCC"/>
                </a:highlight>
              </a:rPr>
              <a:t>言葉</a:t>
            </a:r>
            <a:r>
              <a:rPr b="1" lang="ja" sz="1100"/>
              <a:t>をかける。</a:t>
            </a:r>
            <a:endParaRPr b="1" sz="1100"/>
          </a:p>
          <a:p>
            <a:pPr indent="-298450" lvl="0" marL="457200" rtl="0" algn="l">
              <a:lnSpc>
                <a:spcPct val="150000"/>
              </a:lnSpc>
              <a:spcBef>
                <a:spcPts val="0"/>
              </a:spcBef>
              <a:spcAft>
                <a:spcPts val="0"/>
              </a:spcAft>
              <a:buSzPts val="1100"/>
              <a:buChar char="●"/>
            </a:pPr>
            <a:r>
              <a:rPr b="1" lang="ja" sz="1100"/>
              <a:t>「なぜなら◯</a:t>
            </a:r>
            <a:r>
              <a:rPr b="1" lang="ja" sz="1100">
                <a:solidFill>
                  <a:schemeClr val="accent2"/>
                </a:solidFill>
              </a:rPr>
              <a:t>◯だからです」と</a:t>
            </a:r>
            <a:r>
              <a:rPr b="1" lang="ja" sz="1100">
                <a:solidFill>
                  <a:schemeClr val="accent2"/>
                </a:solidFill>
                <a:highlight>
                  <a:srgbClr val="F4CCCC"/>
                </a:highlight>
              </a:rPr>
              <a:t>理由</a:t>
            </a:r>
            <a:r>
              <a:rPr b="1" lang="ja" sz="1100">
                <a:solidFill>
                  <a:schemeClr val="accent2"/>
                </a:solidFill>
              </a:rPr>
              <a:t>がセットだと効果的。</a:t>
            </a:r>
            <a:endParaRPr b="1" sz="1100"/>
          </a:p>
        </p:txBody>
      </p:sp>
      <p:sp>
        <p:nvSpPr>
          <p:cNvPr id="318" name="Google Shape;318;p44"/>
          <p:cNvSpPr/>
          <p:nvPr/>
        </p:nvSpPr>
        <p:spPr>
          <a:xfrm>
            <a:off x="5983675" y="1752250"/>
            <a:ext cx="2618700" cy="14094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ja" sz="1100"/>
              <a:t>自分が</a:t>
            </a:r>
            <a:r>
              <a:rPr b="1" lang="ja" sz="1100">
                <a:highlight>
                  <a:srgbClr val="F4CCCC"/>
                </a:highlight>
              </a:rPr>
              <a:t>やってみせ</a:t>
            </a:r>
            <a:r>
              <a:rPr b="1" lang="ja" sz="1100"/>
              <a:t>、「こういうふうにやればできる」と実感してもらう。</a:t>
            </a:r>
            <a:endParaRPr b="1" sz="1100"/>
          </a:p>
          <a:p>
            <a:pPr indent="-298450" lvl="0" marL="457200" rtl="0" algn="l">
              <a:lnSpc>
                <a:spcPct val="150000"/>
              </a:lnSpc>
              <a:spcBef>
                <a:spcPts val="0"/>
              </a:spcBef>
              <a:spcAft>
                <a:spcPts val="0"/>
              </a:spcAft>
              <a:buSzPts val="1100"/>
              <a:buChar char="●"/>
            </a:pPr>
            <a:r>
              <a:rPr b="1" lang="ja" sz="1100"/>
              <a:t>できている人の見本を見せる。</a:t>
            </a:r>
            <a:endParaRPr b="1" sz="1100"/>
          </a:p>
        </p:txBody>
      </p:sp>
      <p:sp>
        <p:nvSpPr>
          <p:cNvPr id="319" name="Google Shape;319;p44"/>
          <p:cNvSpPr/>
          <p:nvPr/>
        </p:nvSpPr>
        <p:spPr>
          <a:xfrm>
            <a:off x="5983675" y="3283925"/>
            <a:ext cx="2618700" cy="14163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ja" sz="1100"/>
              <a:t>職場の</a:t>
            </a:r>
            <a:r>
              <a:rPr b="1" lang="ja" sz="1100">
                <a:highlight>
                  <a:srgbClr val="F4CCCC"/>
                </a:highlight>
              </a:rPr>
              <a:t>コンディション</a:t>
            </a:r>
            <a:r>
              <a:rPr b="1" lang="ja" sz="1100"/>
              <a:t>やチームの雰囲気、労働時間などを適切に保つ。</a:t>
            </a:r>
            <a:endParaRPr b="1" sz="1100"/>
          </a:p>
          <a:p>
            <a:pPr indent="-298450" lvl="0" marL="457200" rtl="0" algn="l">
              <a:lnSpc>
                <a:spcPct val="150000"/>
              </a:lnSpc>
              <a:spcBef>
                <a:spcPts val="0"/>
              </a:spcBef>
              <a:spcAft>
                <a:spcPts val="0"/>
              </a:spcAft>
              <a:buSzPts val="1100"/>
              <a:buChar char="●"/>
            </a:pPr>
            <a:r>
              <a:rPr b="1" lang="ja" sz="1100">
                <a:highlight>
                  <a:srgbClr val="F4CCCC"/>
                </a:highlight>
              </a:rPr>
              <a:t>ストレスや体調不良</a:t>
            </a:r>
            <a:r>
              <a:rPr b="1" lang="ja" sz="1100"/>
              <a:t>がないようにサポートする。</a:t>
            </a:r>
            <a:endParaRPr b="1"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5"/>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325" name="Google Shape;32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graphicFrame>
        <p:nvGraphicFramePr>
          <p:cNvPr id="326" name="Google Shape;326;p45"/>
          <p:cNvGraphicFramePr/>
          <p:nvPr/>
        </p:nvGraphicFramePr>
        <p:xfrm>
          <a:off x="790500" y="1589550"/>
          <a:ext cx="3000000" cy="3000000"/>
        </p:xfrm>
        <a:graphic>
          <a:graphicData uri="http://schemas.openxmlformats.org/drawingml/2006/table">
            <a:tbl>
              <a:tblPr>
                <a:noFill/>
                <a:tableStyleId>{B5E09D2F-972E-4A66-A7EB-15B77129AD26}</a:tableStyleId>
              </a:tblPr>
              <a:tblGrid>
                <a:gridCol w="1133875"/>
                <a:gridCol w="3052550"/>
                <a:gridCol w="3052575"/>
              </a:tblGrid>
              <a:tr h="315400">
                <a:tc>
                  <a:txBody>
                    <a:bodyPr/>
                    <a:lstStyle/>
                    <a:p>
                      <a:pPr indent="0" lvl="0" marL="0" rtl="0" algn="ctr">
                        <a:spcBef>
                          <a:spcPts val="0"/>
                        </a:spcBef>
                        <a:spcAft>
                          <a:spcPts val="0"/>
                        </a:spcAft>
                        <a:buNone/>
                      </a:pPr>
                      <a:r>
                        <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できないと思っている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できると思っている</a:t>
                      </a:r>
                      <a:endParaRPr b="1"/>
                    </a:p>
                  </a:txBody>
                  <a:tcPr marT="91425" marB="91425" marR="91425" marL="91425" anchor="ctr">
                    <a:solidFill>
                      <a:srgbClr val="F3F3F3"/>
                    </a:solidFill>
                  </a:tcPr>
                </a:tc>
              </a:tr>
              <a:tr h="1183875">
                <a:tc>
                  <a:txBody>
                    <a:bodyPr/>
                    <a:lstStyle/>
                    <a:p>
                      <a:pPr indent="0" lvl="0" marL="0" rtl="0" algn="ctr">
                        <a:spcBef>
                          <a:spcPts val="0"/>
                        </a:spcBef>
                        <a:spcAft>
                          <a:spcPts val="0"/>
                        </a:spcAft>
                        <a:buNone/>
                      </a:pPr>
                      <a:r>
                        <a:rPr b="1" lang="ja"/>
                        <a:t>できないと思っている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教える</a:t>
                      </a:r>
                      <a:endParaRPr b="1"/>
                    </a:p>
                  </a:txBody>
                  <a:tcPr marT="91425" marB="91425" marR="91425" marL="91425" anchor="ctr"/>
                </a:tc>
                <a:tc>
                  <a:txBody>
                    <a:bodyPr/>
                    <a:lstStyle/>
                    <a:p>
                      <a:pPr indent="0" lvl="0" marL="0" rtl="0" algn="ctr">
                        <a:spcBef>
                          <a:spcPts val="0"/>
                        </a:spcBef>
                        <a:spcAft>
                          <a:spcPts val="0"/>
                        </a:spcAft>
                        <a:buNone/>
                      </a:pPr>
                      <a:r>
                        <a:rPr b="1" lang="ja">
                          <a:highlight>
                            <a:srgbClr val="F4CCCC"/>
                          </a:highlight>
                        </a:rPr>
                        <a:t>FBする</a:t>
                      </a:r>
                      <a:endParaRPr b="1">
                        <a:highlight>
                          <a:srgbClr val="F4CCCC"/>
                        </a:highlight>
                      </a:endParaRPr>
                    </a:p>
                  </a:txBody>
                  <a:tcPr marT="91425" marB="91425" marR="91425" marL="91425" anchor="ctr">
                    <a:solidFill>
                      <a:srgbClr val="F4CCCC"/>
                    </a:solidFill>
                  </a:tcPr>
                </a:tc>
              </a:tr>
              <a:tr h="1298350">
                <a:tc>
                  <a:txBody>
                    <a:bodyPr/>
                    <a:lstStyle/>
                    <a:p>
                      <a:pPr indent="0" lvl="0" marL="0" rtl="0" algn="ctr">
                        <a:spcBef>
                          <a:spcPts val="0"/>
                        </a:spcBef>
                        <a:spcAft>
                          <a:spcPts val="0"/>
                        </a:spcAft>
                        <a:buNone/>
                      </a:pPr>
                      <a:r>
                        <a:rPr b="1" lang="ja"/>
                        <a:t>できると思っている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自信を持たせる</a:t>
                      </a:r>
                      <a:endParaRPr b="1"/>
                    </a:p>
                  </a:txBody>
                  <a:tcPr marT="91425" marB="91425" marR="91425" marL="91425" anchor="ctr"/>
                </a:tc>
                <a:tc>
                  <a:txBody>
                    <a:bodyPr/>
                    <a:lstStyle/>
                    <a:p>
                      <a:pPr indent="0" lvl="0" marL="0" rtl="0" algn="ctr">
                        <a:spcBef>
                          <a:spcPts val="0"/>
                        </a:spcBef>
                        <a:spcAft>
                          <a:spcPts val="0"/>
                        </a:spcAft>
                        <a:buNone/>
                      </a:pPr>
                      <a:r>
                        <a:rPr b="1" lang="ja"/>
                        <a:t>任せる</a:t>
                      </a:r>
                      <a:endParaRPr b="1"/>
                    </a:p>
                  </a:txBody>
                  <a:tcPr marT="91425" marB="91425" marR="91425" marL="91425" anchor="ctr"/>
                </a:tc>
              </a:tr>
            </a:tbl>
          </a:graphicData>
        </a:graphic>
      </p:graphicFrame>
      <p:sp>
        <p:nvSpPr>
          <p:cNvPr id="327" name="Google Shape;327;p45"/>
          <p:cNvSpPr/>
          <p:nvPr/>
        </p:nvSpPr>
        <p:spPr>
          <a:xfrm>
            <a:off x="2977450" y="1262475"/>
            <a:ext cx="3897900" cy="22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メンバーの認識</a:t>
            </a:r>
            <a:endParaRPr b="1"/>
          </a:p>
        </p:txBody>
      </p:sp>
      <p:sp>
        <p:nvSpPr>
          <p:cNvPr id="328" name="Google Shape;328;p45"/>
          <p:cNvSpPr/>
          <p:nvPr/>
        </p:nvSpPr>
        <p:spPr>
          <a:xfrm>
            <a:off x="360000" y="1955925"/>
            <a:ext cx="315000" cy="223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上長の認識</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6"/>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334" name="Google Shape;334;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335" name="Google Shape;335;p46"/>
          <p:cNvSpPr/>
          <p:nvPr/>
        </p:nvSpPr>
        <p:spPr>
          <a:xfrm>
            <a:off x="2865900" y="1336550"/>
            <a:ext cx="3088200" cy="969600"/>
          </a:xfrm>
          <a:prstGeom prst="roundRect">
            <a:avLst>
              <a:gd fmla="val 16667"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t>観る</a:t>
            </a:r>
            <a:endParaRPr b="1"/>
          </a:p>
          <a:p>
            <a:pPr indent="0" lvl="0" marL="0" rtl="0" algn="ctr">
              <a:spcBef>
                <a:spcPts val="0"/>
              </a:spcBef>
              <a:spcAft>
                <a:spcPts val="0"/>
              </a:spcAft>
              <a:buNone/>
            </a:pPr>
            <a:r>
              <a:rPr b="1" lang="ja" sz="1200">
                <a:highlight>
                  <a:srgbClr val="F4CCCC"/>
                </a:highlight>
              </a:rPr>
              <a:t>Observation</a:t>
            </a:r>
            <a:endParaRPr b="1" sz="1200">
              <a:highlight>
                <a:srgbClr val="F4CCCC"/>
              </a:highlight>
            </a:endParaRPr>
          </a:p>
          <a:p>
            <a:pPr indent="0" lvl="0" marL="0" rtl="0" algn="ctr">
              <a:spcBef>
                <a:spcPts val="0"/>
              </a:spcBef>
              <a:spcAft>
                <a:spcPts val="0"/>
              </a:spcAft>
              <a:buNone/>
            </a:pPr>
            <a:r>
              <a:rPr b="1" lang="ja" sz="1200"/>
              <a:t>相手を観察し、具体的な事実を集める</a:t>
            </a:r>
            <a:endParaRPr b="1" sz="1200"/>
          </a:p>
        </p:txBody>
      </p:sp>
      <p:sp>
        <p:nvSpPr>
          <p:cNvPr id="336" name="Google Shape;336;p46"/>
          <p:cNvSpPr/>
          <p:nvPr/>
        </p:nvSpPr>
        <p:spPr>
          <a:xfrm>
            <a:off x="4217225" y="1107700"/>
            <a:ext cx="437700" cy="393600"/>
          </a:xfrm>
          <a:prstGeom prst="ellipse">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lt1"/>
                </a:solidFill>
              </a:rPr>
              <a:t>1</a:t>
            </a:r>
            <a:endParaRPr b="1" sz="1700">
              <a:solidFill>
                <a:schemeClr val="lt1"/>
              </a:solidFill>
            </a:endParaRPr>
          </a:p>
        </p:txBody>
      </p:sp>
      <p:sp>
        <p:nvSpPr>
          <p:cNvPr id="337" name="Google Shape;337;p46"/>
          <p:cNvSpPr/>
          <p:nvPr/>
        </p:nvSpPr>
        <p:spPr>
          <a:xfrm>
            <a:off x="3426275" y="2560175"/>
            <a:ext cx="2019600" cy="72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feedback</a:t>
            </a:r>
            <a:endParaRPr b="1"/>
          </a:p>
          <a:p>
            <a:pPr indent="0" lvl="0" marL="0" rtl="0" algn="ctr">
              <a:spcBef>
                <a:spcPts val="0"/>
              </a:spcBef>
              <a:spcAft>
                <a:spcPts val="0"/>
              </a:spcAft>
              <a:buNone/>
            </a:pPr>
            <a:r>
              <a:rPr b="1" lang="ja"/>
              <a:t>cycle</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7"/>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343" name="Google Shape;343;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344" name="Google Shape;344;p47"/>
          <p:cNvSpPr/>
          <p:nvPr/>
        </p:nvSpPr>
        <p:spPr>
          <a:xfrm>
            <a:off x="2668075" y="1161538"/>
            <a:ext cx="3088200" cy="969600"/>
          </a:xfrm>
          <a:prstGeom prst="roundRect">
            <a:avLst>
              <a:gd fmla="val 16667"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t>観る</a:t>
            </a:r>
            <a:endParaRPr b="1"/>
          </a:p>
          <a:p>
            <a:pPr indent="0" lvl="0" marL="0" rtl="0" algn="ctr">
              <a:spcBef>
                <a:spcPts val="0"/>
              </a:spcBef>
              <a:spcAft>
                <a:spcPts val="0"/>
              </a:spcAft>
              <a:buNone/>
            </a:pPr>
            <a:r>
              <a:rPr b="1" lang="ja" sz="1200">
                <a:highlight>
                  <a:srgbClr val="F4CCCC"/>
                </a:highlight>
              </a:rPr>
              <a:t>Observation</a:t>
            </a:r>
            <a:endParaRPr b="1" sz="1200">
              <a:highlight>
                <a:srgbClr val="F4CCCC"/>
              </a:highlight>
            </a:endParaRPr>
          </a:p>
          <a:p>
            <a:pPr indent="0" lvl="0" marL="0" rtl="0" algn="ctr">
              <a:spcBef>
                <a:spcPts val="0"/>
              </a:spcBef>
              <a:spcAft>
                <a:spcPts val="0"/>
              </a:spcAft>
              <a:buNone/>
            </a:pPr>
            <a:r>
              <a:rPr b="1" lang="ja" sz="1200"/>
              <a:t>相手を観察し、具体的な事実を集める</a:t>
            </a:r>
            <a:endParaRPr b="1" sz="1200"/>
          </a:p>
        </p:txBody>
      </p:sp>
      <p:sp>
        <p:nvSpPr>
          <p:cNvPr id="345" name="Google Shape;345;p47"/>
          <p:cNvSpPr/>
          <p:nvPr/>
        </p:nvSpPr>
        <p:spPr>
          <a:xfrm>
            <a:off x="4019400" y="932688"/>
            <a:ext cx="437700" cy="393600"/>
          </a:xfrm>
          <a:prstGeom prst="ellipse">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lt1"/>
                </a:solidFill>
              </a:rPr>
              <a:t>1</a:t>
            </a:r>
            <a:endParaRPr b="1" sz="1700">
              <a:solidFill>
                <a:schemeClr val="lt1"/>
              </a:solidFill>
            </a:endParaRPr>
          </a:p>
        </p:txBody>
      </p:sp>
      <p:sp>
        <p:nvSpPr>
          <p:cNvPr id="346" name="Google Shape;346;p47"/>
          <p:cNvSpPr/>
          <p:nvPr/>
        </p:nvSpPr>
        <p:spPr>
          <a:xfrm>
            <a:off x="3228450" y="2385163"/>
            <a:ext cx="2019600" cy="72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feedback</a:t>
            </a:r>
            <a:endParaRPr b="1"/>
          </a:p>
          <a:p>
            <a:pPr indent="0" lvl="0" marL="0" rtl="0" algn="ctr">
              <a:spcBef>
                <a:spcPts val="0"/>
              </a:spcBef>
              <a:spcAft>
                <a:spcPts val="0"/>
              </a:spcAft>
              <a:buNone/>
            </a:pPr>
            <a:r>
              <a:rPr b="1" lang="ja"/>
              <a:t>cycle</a:t>
            </a:r>
            <a:endParaRPr b="1"/>
          </a:p>
        </p:txBody>
      </p:sp>
      <p:sp>
        <p:nvSpPr>
          <p:cNvPr id="347" name="Google Shape;347;p47"/>
          <p:cNvSpPr/>
          <p:nvPr/>
        </p:nvSpPr>
        <p:spPr>
          <a:xfrm flipH="1" rot="10800000">
            <a:off x="5756275" y="1537807"/>
            <a:ext cx="1673700" cy="1112700"/>
          </a:xfrm>
          <a:prstGeom prst="bentUpArrow">
            <a:avLst>
              <a:gd fmla="val 6658" name="adj1"/>
              <a:gd fmla="val 14724"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348" name="Google Shape;348;p47"/>
          <p:cNvSpPr/>
          <p:nvPr/>
        </p:nvSpPr>
        <p:spPr>
          <a:xfrm>
            <a:off x="5515975" y="2879363"/>
            <a:ext cx="3088200" cy="969600"/>
          </a:xfrm>
          <a:prstGeom prst="roundRect">
            <a:avLst>
              <a:gd fmla="val 16667"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t>聴く</a:t>
            </a:r>
            <a:endParaRPr b="1"/>
          </a:p>
          <a:p>
            <a:pPr indent="0" lvl="0" marL="0" rtl="0" algn="ctr">
              <a:spcBef>
                <a:spcPts val="0"/>
              </a:spcBef>
              <a:spcAft>
                <a:spcPts val="0"/>
              </a:spcAft>
              <a:buNone/>
            </a:pPr>
            <a:r>
              <a:rPr b="1" lang="ja" sz="1200">
                <a:highlight>
                  <a:srgbClr val="F4CCCC"/>
                </a:highlight>
              </a:rPr>
              <a:t>Active Listening</a:t>
            </a:r>
            <a:endParaRPr b="1" sz="1200">
              <a:highlight>
                <a:srgbClr val="F4CCCC"/>
              </a:highlight>
            </a:endParaRPr>
          </a:p>
          <a:p>
            <a:pPr indent="0" lvl="0" marL="0" rtl="0" algn="ctr">
              <a:spcBef>
                <a:spcPts val="0"/>
              </a:spcBef>
              <a:spcAft>
                <a:spcPts val="0"/>
              </a:spcAft>
              <a:buNone/>
            </a:pPr>
            <a:r>
              <a:rPr b="1" lang="ja" sz="1200"/>
              <a:t>相手</a:t>
            </a:r>
            <a:r>
              <a:rPr b="1" lang="ja" sz="1200"/>
              <a:t>と対話し、考えや状況を把握する</a:t>
            </a:r>
            <a:endParaRPr b="1" sz="1200"/>
          </a:p>
        </p:txBody>
      </p:sp>
      <p:sp>
        <p:nvSpPr>
          <p:cNvPr id="349" name="Google Shape;349;p47"/>
          <p:cNvSpPr/>
          <p:nvPr/>
        </p:nvSpPr>
        <p:spPr>
          <a:xfrm>
            <a:off x="6841225" y="2650500"/>
            <a:ext cx="437700" cy="393600"/>
          </a:xfrm>
          <a:prstGeom prst="ellipse">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lt1"/>
                </a:solidFill>
              </a:rPr>
              <a:t>2</a:t>
            </a:r>
            <a:endParaRPr b="1" sz="1700">
              <a:solidFill>
                <a:schemeClr val="lt1"/>
              </a:solidFill>
            </a:endParaRPr>
          </a:p>
        </p:txBody>
      </p:sp>
      <p:sp>
        <p:nvSpPr>
          <p:cNvPr id="350" name="Google Shape;350;p47"/>
          <p:cNvSpPr/>
          <p:nvPr/>
        </p:nvSpPr>
        <p:spPr>
          <a:xfrm>
            <a:off x="6383975" y="840325"/>
            <a:ext cx="1952100" cy="393600"/>
          </a:xfrm>
          <a:prstGeom prst="wedgeRectCallout">
            <a:avLst>
              <a:gd fmla="val -80004" name="adj1"/>
              <a:gd fmla="val 106860"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t>説得力を高めるため</a:t>
            </a:r>
            <a:endParaRPr b="1" sz="1100"/>
          </a:p>
        </p:txBody>
      </p:sp>
      <p:sp>
        <p:nvSpPr>
          <p:cNvPr id="351" name="Google Shape;351;p47"/>
          <p:cNvSpPr/>
          <p:nvPr/>
        </p:nvSpPr>
        <p:spPr>
          <a:xfrm>
            <a:off x="6933575" y="4230975"/>
            <a:ext cx="1952100" cy="393600"/>
          </a:xfrm>
          <a:prstGeom prst="wedgeRectCallout">
            <a:avLst>
              <a:gd fmla="val -40563" name="adj1"/>
              <a:gd fmla="val -133689"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t>信頼関係を高めるため</a:t>
            </a:r>
            <a:endParaRPr b="1"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8"/>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357" name="Google Shape;357;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358" name="Google Shape;358;p48"/>
          <p:cNvSpPr/>
          <p:nvPr/>
        </p:nvSpPr>
        <p:spPr>
          <a:xfrm>
            <a:off x="2668075" y="1161538"/>
            <a:ext cx="3088200" cy="969600"/>
          </a:xfrm>
          <a:prstGeom prst="roundRect">
            <a:avLst>
              <a:gd fmla="val 16667"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t>観る</a:t>
            </a:r>
            <a:endParaRPr b="1"/>
          </a:p>
          <a:p>
            <a:pPr indent="0" lvl="0" marL="0" rtl="0" algn="ctr">
              <a:spcBef>
                <a:spcPts val="0"/>
              </a:spcBef>
              <a:spcAft>
                <a:spcPts val="0"/>
              </a:spcAft>
              <a:buNone/>
            </a:pPr>
            <a:r>
              <a:rPr b="1" lang="ja" sz="1200">
                <a:highlight>
                  <a:srgbClr val="F4CCCC"/>
                </a:highlight>
              </a:rPr>
              <a:t>Observation</a:t>
            </a:r>
            <a:endParaRPr b="1" sz="1200">
              <a:highlight>
                <a:srgbClr val="F4CCCC"/>
              </a:highlight>
            </a:endParaRPr>
          </a:p>
          <a:p>
            <a:pPr indent="0" lvl="0" marL="0" rtl="0" algn="ctr">
              <a:spcBef>
                <a:spcPts val="0"/>
              </a:spcBef>
              <a:spcAft>
                <a:spcPts val="0"/>
              </a:spcAft>
              <a:buNone/>
            </a:pPr>
            <a:r>
              <a:rPr b="1" lang="ja" sz="1200"/>
              <a:t>相手を観察し、具体的な事実を集める</a:t>
            </a:r>
            <a:endParaRPr b="1" sz="1200"/>
          </a:p>
        </p:txBody>
      </p:sp>
      <p:sp>
        <p:nvSpPr>
          <p:cNvPr id="359" name="Google Shape;359;p48"/>
          <p:cNvSpPr/>
          <p:nvPr/>
        </p:nvSpPr>
        <p:spPr>
          <a:xfrm>
            <a:off x="4019400" y="932688"/>
            <a:ext cx="437700" cy="393600"/>
          </a:xfrm>
          <a:prstGeom prst="ellipse">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lt1"/>
                </a:solidFill>
              </a:rPr>
              <a:t>1</a:t>
            </a:r>
            <a:endParaRPr b="1" sz="1700">
              <a:solidFill>
                <a:schemeClr val="lt1"/>
              </a:solidFill>
            </a:endParaRPr>
          </a:p>
        </p:txBody>
      </p:sp>
      <p:sp>
        <p:nvSpPr>
          <p:cNvPr id="360" name="Google Shape;360;p48"/>
          <p:cNvSpPr/>
          <p:nvPr/>
        </p:nvSpPr>
        <p:spPr>
          <a:xfrm>
            <a:off x="3228450" y="2385163"/>
            <a:ext cx="2019600" cy="72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feedback</a:t>
            </a:r>
            <a:endParaRPr b="1"/>
          </a:p>
          <a:p>
            <a:pPr indent="0" lvl="0" marL="0" rtl="0" algn="ctr">
              <a:spcBef>
                <a:spcPts val="0"/>
              </a:spcBef>
              <a:spcAft>
                <a:spcPts val="0"/>
              </a:spcAft>
              <a:buNone/>
            </a:pPr>
            <a:r>
              <a:rPr b="1" lang="ja"/>
              <a:t>cycle</a:t>
            </a:r>
            <a:endParaRPr b="1"/>
          </a:p>
        </p:txBody>
      </p:sp>
      <p:sp>
        <p:nvSpPr>
          <p:cNvPr id="361" name="Google Shape;361;p48"/>
          <p:cNvSpPr/>
          <p:nvPr/>
        </p:nvSpPr>
        <p:spPr>
          <a:xfrm flipH="1" rot="10800000">
            <a:off x="5756275" y="1537807"/>
            <a:ext cx="1673700" cy="1112700"/>
          </a:xfrm>
          <a:prstGeom prst="bentUpArrow">
            <a:avLst>
              <a:gd fmla="val 6658" name="adj1"/>
              <a:gd fmla="val 14724"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362" name="Google Shape;362;p48"/>
          <p:cNvSpPr/>
          <p:nvPr/>
        </p:nvSpPr>
        <p:spPr>
          <a:xfrm>
            <a:off x="5515975" y="2879363"/>
            <a:ext cx="3088200" cy="969600"/>
          </a:xfrm>
          <a:prstGeom prst="roundRect">
            <a:avLst>
              <a:gd fmla="val 16667"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t>聴く</a:t>
            </a:r>
            <a:endParaRPr b="1"/>
          </a:p>
          <a:p>
            <a:pPr indent="0" lvl="0" marL="0" rtl="0" algn="ctr">
              <a:spcBef>
                <a:spcPts val="0"/>
              </a:spcBef>
              <a:spcAft>
                <a:spcPts val="0"/>
              </a:spcAft>
              <a:buNone/>
            </a:pPr>
            <a:r>
              <a:rPr b="1" lang="ja" sz="1200">
                <a:highlight>
                  <a:srgbClr val="F4CCCC"/>
                </a:highlight>
              </a:rPr>
              <a:t>Active Listening</a:t>
            </a:r>
            <a:endParaRPr b="1" sz="1200">
              <a:highlight>
                <a:srgbClr val="F4CCCC"/>
              </a:highlight>
            </a:endParaRPr>
          </a:p>
          <a:p>
            <a:pPr indent="0" lvl="0" marL="0" rtl="0" algn="ctr">
              <a:spcBef>
                <a:spcPts val="0"/>
              </a:spcBef>
              <a:spcAft>
                <a:spcPts val="0"/>
              </a:spcAft>
              <a:buNone/>
            </a:pPr>
            <a:r>
              <a:rPr b="1" lang="ja" sz="1200"/>
              <a:t>相手と対話し、考えや状況を把握する</a:t>
            </a:r>
            <a:endParaRPr b="1" sz="1200"/>
          </a:p>
        </p:txBody>
      </p:sp>
      <p:sp>
        <p:nvSpPr>
          <p:cNvPr id="363" name="Google Shape;363;p48"/>
          <p:cNvSpPr/>
          <p:nvPr/>
        </p:nvSpPr>
        <p:spPr>
          <a:xfrm>
            <a:off x="6841225" y="2650500"/>
            <a:ext cx="437700" cy="393600"/>
          </a:xfrm>
          <a:prstGeom prst="ellipse">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lt1"/>
                </a:solidFill>
              </a:rPr>
              <a:t>2</a:t>
            </a:r>
            <a:endParaRPr b="1" sz="1700">
              <a:solidFill>
                <a:schemeClr val="lt1"/>
              </a:solidFill>
            </a:endParaRPr>
          </a:p>
        </p:txBody>
      </p:sp>
      <p:sp>
        <p:nvSpPr>
          <p:cNvPr id="364" name="Google Shape;364;p48"/>
          <p:cNvSpPr/>
          <p:nvPr/>
        </p:nvSpPr>
        <p:spPr>
          <a:xfrm>
            <a:off x="6383975" y="840325"/>
            <a:ext cx="1952100" cy="393600"/>
          </a:xfrm>
          <a:prstGeom prst="wedgeRectCallout">
            <a:avLst>
              <a:gd fmla="val -80004" name="adj1"/>
              <a:gd fmla="val 106860"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t>説得力を高めるため</a:t>
            </a:r>
            <a:endParaRPr b="1" sz="1100"/>
          </a:p>
        </p:txBody>
      </p:sp>
      <p:sp>
        <p:nvSpPr>
          <p:cNvPr id="365" name="Google Shape;365;p48"/>
          <p:cNvSpPr/>
          <p:nvPr/>
        </p:nvSpPr>
        <p:spPr>
          <a:xfrm>
            <a:off x="7429975" y="1948725"/>
            <a:ext cx="1952100" cy="393600"/>
          </a:xfrm>
          <a:prstGeom prst="wedgeRectCallout">
            <a:avLst>
              <a:gd fmla="val -40471" name="adj1"/>
              <a:gd fmla="val 165638"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t>信頼関係を高めるため</a:t>
            </a:r>
            <a:endParaRPr b="1" sz="1100"/>
          </a:p>
        </p:txBody>
      </p:sp>
      <p:sp>
        <p:nvSpPr>
          <p:cNvPr id="366" name="Google Shape;366;p48"/>
          <p:cNvSpPr/>
          <p:nvPr/>
        </p:nvSpPr>
        <p:spPr>
          <a:xfrm flipH="1" rot="-5400000">
            <a:off x="6067925" y="3592775"/>
            <a:ext cx="954600" cy="1467000"/>
          </a:xfrm>
          <a:prstGeom prst="bentUpArrow">
            <a:avLst>
              <a:gd fmla="val 6658" name="adj1"/>
              <a:gd fmla="val 16093" name="adj2"/>
              <a:gd fmla="val 19759"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367" name="Google Shape;367;p48"/>
          <p:cNvSpPr/>
          <p:nvPr/>
        </p:nvSpPr>
        <p:spPr>
          <a:xfrm>
            <a:off x="2694150" y="4077838"/>
            <a:ext cx="3088200" cy="969600"/>
          </a:xfrm>
          <a:prstGeom prst="roundRect">
            <a:avLst>
              <a:gd fmla="val 16667"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t>感情を伝える</a:t>
            </a:r>
            <a:endParaRPr b="1"/>
          </a:p>
          <a:p>
            <a:pPr indent="0" lvl="0" marL="0" rtl="0" algn="ctr">
              <a:spcBef>
                <a:spcPts val="0"/>
              </a:spcBef>
              <a:spcAft>
                <a:spcPts val="0"/>
              </a:spcAft>
              <a:buNone/>
            </a:pPr>
            <a:r>
              <a:rPr b="1" lang="ja" sz="1200">
                <a:highlight>
                  <a:srgbClr val="F4CCCC"/>
                </a:highlight>
              </a:rPr>
              <a:t>Emotional Impact</a:t>
            </a:r>
            <a:endParaRPr b="1" sz="1200">
              <a:highlight>
                <a:srgbClr val="F4CCCC"/>
              </a:highlight>
            </a:endParaRPr>
          </a:p>
          <a:p>
            <a:pPr indent="0" lvl="0" marL="0" rtl="0" algn="ctr">
              <a:spcBef>
                <a:spcPts val="0"/>
              </a:spcBef>
              <a:spcAft>
                <a:spcPts val="0"/>
              </a:spcAft>
              <a:buNone/>
            </a:pPr>
            <a:r>
              <a:rPr b="1" lang="ja" sz="1200"/>
              <a:t>その行動について自分の気持ちを伝える</a:t>
            </a:r>
            <a:endParaRPr b="1" sz="1200"/>
          </a:p>
        </p:txBody>
      </p:sp>
      <p:sp>
        <p:nvSpPr>
          <p:cNvPr id="368" name="Google Shape;368;p48"/>
          <p:cNvSpPr/>
          <p:nvPr/>
        </p:nvSpPr>
        <p:spPr>
          <a:xfrm>
            <a:off x="4019400" y="3848975"/>
            <a:ext cx="437700" cy="393600"/>
          </a:xfrm>
          <a:prstGeom prst="ellipse">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lt1"/>
                </a:solidFill>
              </a:rPr>
              <a:t>3</a:t>
            </a:r>
            <a:endParaRPr b="1" sz="1700">
              <a:solidFill>
                <a:schemeClr val="lt1"/>
              </a:solidFill>
            </a:endParaRPr>
          </a:p>
        </p:txBody>
      </p:sp>
      <p:sp>
        <p:nvSpPr>
          <p:cNvPr id="369" name="Google Shape;369;p48"/>
          <p:cNvSpPr/>
          <p:nvPr/>
        </p:nvSpPr>
        <p:spPr>
          <a:xfrm>
            <a:off x="6383975" y="4761900"/>
            <a:ext cx="1952100" cy="393600"/>
          </a:xfrm>
          <a:prstGeom prst="wedgeRectCallout">
            <a:avLst>
              <a:gd fmla="val -80694" name="adj1"/>
              <a:gd fmla="val -41089"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t>インパクトを高めるため</a:t>
            </a:r>
            <a:endParaRPr b="1"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9"/>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375" name="Google Shape;375;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376" name="Google Shape;376;p49"/>
          <p:cNvSpPr/>
          <p:nvPr/>
        </p:nvSpPr>
        <p:spPr>
          <a:xfrm>
            <a:off x="2866496" y="1150800"/>
            <a:ext cx="2985000" cy="937200"/>
          </a:xfrm>
          <a:prstGeom prst="roundRect">
            <a:avLst>
              <a:gd fmla="val 16667" name="adj"/>
            </a:avLst>
          </a:prstGeom>
          <a:solidFill>
            <a:srgbClr val="EFEFEF"/>
          </a:solidFill>
          <a:ln cap="flat" cmpd="sng" w="9200">
            <a:solidFill>
              <a:srgbClr val="EFEFEF"/>
            </a:solidFill>
            <a:prstDash val="solid"/>
            <a:round/>
            <a:headEnd len="sm" w="sm" type="none"/>
            <a:tailEnd len="sm" w="sm" type="none"/>
          </a:ln>
        </p:spPr>
        <p:txBody>
          <a:bodyPr anchorCtr="0" anchor="ctr" bIns="88375" lIns="88375" spcFirstLastPara="1" rIns="88375" wrap="square" tIns="88375">
            <a:noAutofit/>
          </a:bodyPr>
          <a:lstStyle/>
          <a:p>
            <a:pPr indent="0" lvl="0" marL="0" rtl="0" algn="ctr">
              <a:spcBef>
                <a:spcPts val="0"/>
              </a:spcBef>
              <a:spcAft>
                <a:spcPts val="0"/>
              </a:spcAft>
              <a:buNone/>
            </a:pPr>
            <a:r>
              <a:rPr b="1" lang="ja" sz="1353"/>
              <a:t>観る</a:t>
            </a:r>
            <a:endParaRPr b="1" sz="1353"/>
          </a:p>
          <a:p>
            <a:pPr indent="0" lvl="0" marL="0" rtl="0" algn="ctr">
              <a:spcBef>
                <a:spcPts val="0"/>
              </a:spcBef>
              <a:spcAft>
                <a:spcPts val="0"/>
              </a:spcAft>
              <a:buNone/>
            </a:pPr>
            <a:r>
              <a:rPr b="1" lang="ja" sz="1159">
                <a:highlight>
                  <a:srgbClr val="F4CCCC"/>
                </a:highlight>
              </a:rPr>
              <a:t>Observation</a:t>
            </a:r>
            <a:endParaRPr b="1" sz="1159">
              <a:highlight>
                <a:srgbClr val="F4CCCC"/>
              </a:highlight>
            </a:endParaRPr>
          </a:p>
          <a:p>
            <a:pPr indent="0" lvl="0" marL="0" rtl="0" algn="ctr">
              <a:spcBef>
                <a:spcPts val="0"/>
              </a:spcBef>
              <a:spcAft>
                <a:spcPts val="0"/>
              </a:spcAft>
              <a:buNone/>
            </a:pPr>
            <a:r>
              <a:rPr b="1" lang="ja" sz="1159"/>
              <a:t>相手を観察し、具体的な事実を集める</a:t>
            </a:r>
            <a:endParaRPr b="1" sz="1159"/>
          </a:p>
        </p:txBody>
      </p:sp>
      <p:sp>
        <p:nvSpPr>
          <p:cNvPr id="377" name="Google Shape;377;p49"/>
          <p:cNvSpPr/>
          <p:nvPr/>
        </p:nvSpPr>
        <p:spPr>
          <a:xfrm>
            <a:off x="4172651" y="929600"/>
            <a:ext cx="423000" cy="380400"/>
          </a:xfrm>
          <a:prstGeom prst="ellipse">
            <a:avLst/>
          </a:prstGeom>
          <a:solidFill>
            <a:srgbClr val="666666"/>
          </a:solidFill>
          <a:ln cap="flat" cmpd="sng" w="9200">
            <a:solidFill>
              <a:schemeClr val="dk2"/>
            </a:solidFill>
            <a:prstDash val="solid"/>
            <a:round/>
            <a:headEnd len="sm" w="sm" type="none"/>
            <a:tailEnd len="sm" w="sm" type="none"/>
          </a:ln>
        </p:spPr>
        <p:txBody>
          <a:bodyPr anchorCtr="0" anchor="ctr" bIns="88375" lIns="88375" spcFirstLastPara="1" rIns="88375" wrap="square" tIns="88375">
            <a:noAutofit/>
          </a:bodyPr>
          <a:lstStyle/>
          <a:p>
            <a:pPr indent="0" lvl="0" marL="0" rtl="0" algn="ctr">
              <a:spcBef>
                <a:spcPts val="0"/>
              </a:spcBef>
              <a:spcAft>
                <a:spcPts val="0"/>
              </a:spcAft>
              <a:buNone/>
            </a:pPr>
            <a:r>
              <a:rPr b="1" lang="ja" sz="1643">
                <a:solidFill>
                  <a:schemeClr val="lt1"/>
                </a:solidFill>
              </a:rPr>
              <a:t>1</a:t>
            </a:r>
            <a:endParaRPr b="1" sz="1643">
              <a:solidFill>
                <a:schemeClr val="lt1"/>
              </a:solidFill>
            </a:endParaRPr>
          </a:p>
        </p:txBody>
      </p:sp>
      <p:sp>
        <p:nvSpPr>
          <p:cNvPr id="378" name="Google Shape;378;p49"/>
          <p:cNvSpPr/>
          <p:nvPr/>
        </p:nvSpPr>
        <p:spPr>
          <a:xfrm>
            <a:off x="3408140" y="2333521"/>
            <a:ext cx="1952100" cy="696300"/>
          </a:xfrm>
          <a:prstGeom prst="rect">
            <a:avLst/>
          </a:prstGeom>
          <a:noFill/>
          <a:ln>
            <a:noFill/>
          </a:ln>
        </p:spPr>
        <p:txBody>
          <a:bodyPr anchorCtr="0" anchor="ctr" bIns="88375" lIns="88375" spcFirstLastPara="1" rIns="88375" wrap="square" tIns="88375">
            <a:noAutofit/>
          </a:bodyPr>
          <a:lstStyle/>
          <a:p>
            <a:pPr indent="0" lvl="0" marL="0" rtl="0" algn="ctr">
              <a:spcBef>
                <a:spcPts val="0"/>
              </a:spcBef>
              <a:spcAft>
                <a:spcPts val="0"/>
              </a:spcAft>
              <a:buNone/>
            </a:pPr>
            <a:r>
              <a:rPr b="1" lang="ja" sz="1353"/>
              <a:t>feedback</a:t>
            </a:r>
            <a:endParaRPr b="1" sz="1353"/>
          </a:p>
          <a:p>
            <a:pPr indent="0" lvl="0" marL="0" rtl="0" algn="ctr">
              <a:spcBef>
                <a:spcPts val="0"/>
              </a:spcBef>
              <a:spcAft>
                <a:spcPts val="0"/>
              </a:spcAft>
              <a:buNone/>
            </a:pPr>
            <a:r>
              <a:rPr b="1" lang="ja" sz="1353"/>
              <a:t>cycle</a:t>
            </a:r>
            <a:endParaRPr b="1" sz="1353"/>
          </a:p>
        </p:txBody>
      </p:sp>
      <p:sp>
        <p:nvSpPr>
          <p:cNvPr id="379" name="Google Shape;379;p49"/>
          <p:cNvSpPr/>
          <p:nvPr/>
        </p:nvSpPr>
        <p:spPr>
          <a:xfrm flipH="1" rot="10800000">
            <a:off x="5851469" y="1514488"/>
            <a:ext cx="1452900" cy="1075500"/>
          </a:xfrm>
          <a:prstGeom prst="bentUpArrow">
            <a:avLst>
              <a:gd fmla="val 6658" name="adj1"/>
              <a:gd fmla="val 14724" name="adj2"/>
              <a:gd fmla="val 18336" name="adj3"/>
            </a:avLst>
          </a:prstGeom>
          <a:solidFill>
            <a:srgbClr val="999999"/>
          </a:solidFill>
          <a:ln>
            <a:noFill/>
          </a:ln>
        </p:spPr>
        <p:txBody>
          <a:bodyPr anchorCtr="0" anchor="ctr" bIns="81125" lIns="81125" spcFirstLastPara="1" rIns="81125" wrap="square" tIns="81125">
            <a:noAutofit/>
          </a:bodyPr>
          <a:lstStyle/>
          <a:p>
            <a:pPr indent="0" lvl="0" marL="0" rtl="0" algn="ctr">
              <a:spcBef>
                <a:spcPts val="0"/>
              </a:spcBef>
              <a:spcAft>
                <a:spcPts val="0"/>
              </a:spcAft>
              <a:buNone/>
            </a:pPr>
            <a:r>
              <a:t/>
            </a:r>
            <a:endParaRPr sz="1242"/>
          </a:p>
        </p:txBody>
      </p:sp>
      <p:sp>
        <p:nvSpPr>
          <p:cNvPr id="380" name="Google Shape;380;p49"/>
          <p:cNvSpPr/>
          <p:nvPr/>
        </p:nvSpPr>
        <p:spPr>
          <a:xfrm>
            <a:off x="5619202" y="2811200"/>
            <a:ext cx="2985000" cy="937200"/>
          </a:xfrm>
          <a:prstGeom prst="roundRect">
            <a:avLst>
              <a:gd fmla="val 16667" name="adj"/>
            </a:avLst>
          </a:prstGeom>
          <a:solidFill>
            <a:srgbClr val="EFEFEF"/>
          </a:solidFill>
          <a:ln cap="flat" cmpd="sng" w="9200">
            <a:solidFill>
              <a:srgbClr val="EFEFEF"/>
            </a:solidFill>
            <a:prstDash val="solid"/>
            <a:round/>
            <a:headEnd len="sm" w="sm" type="none"/>
            <a:tailEnd len="sm" w="sm" type="none"/>
          </a:ln>
        </p:spPr>
        <p:txBody>
          <a:bodyPr anchorCtr="0" anchor="ctr" bIns="88375" lIns="88375" spcFirstLastPara="1" rIns="88375" wrap="square" tIns="88375">
            <a:noAutofit/>
          </a:bodyPr>
          <a:lstStyle/>
          <a:p>
            <a:pPr indent="0" lvl="0" marL="0" rtl="0" algn="ctr">
              <a:spcBef>
                <a:spcPts val="0"/>
              </a:spcBef>
              <a:spcAft>
                <a:spcPts val="0"/>
              </a:spcAft>
              <a:buNone/>
            </a:pPr>
            <a:r>
              <a:rPr b="1" lang="ja" sz="1353"/>
              <a:t>聴く</a:t>
            </a:r>
            <a:endParaRPr b="1" sz="1353"/>
          </a:p>
          <a:p>
            <a:pPr indent="0" lvl="0" marL="0" rtl="0" algn="ctr">
              <a:spcBef>
                <a:spcPts val="0"/>
              </a:spcBef>
              <a:spcAft>
                <a:spcPts val="0"/>
              </a:spcAft>
              <a:buNone/>
            </a:pPr>
            <a:r>
              <a:rPr b="1" lang="ja" sz="1159">
                <a:highlight>
                  <a:srgbClr val="F4CCCC"/>
                </a:highlight>
              </a:rPr>
              <a:t>Active Listening</a:t>
            </a:r>
            <a:endParaRPr b="1" sz="1159">
              <a:highlight>
                <a:srgbClr val="F4CCCC"/>
              </a:highlight>
            </a:endParaRPr>
          </a:p>
          <a:p>
            <a:pPr indent="0" lvl="0" marL="0" rtl="0" algn="ctr">
              <a:spcBef>
                <a:spcPts val="0"/>
              </a:spcBef>
              <a:spcAft>
                <a:spcPts val="0"/>
              </a:spcAft>
              <a:buNone/>
            </a:pPr>
            <a:r>
              <a:rPr b="1" lang="ja" sz="1159"/>
              <a:t>相手と対話し、考えや状況を把握する</a:t>
            </a:r>
            <a:endParaRPr b="1" sz="1159"/>
          </a:p>
        </p:txBody>
      </p:sp>
      <p:sp>
        <p:nvSpPr>
          <p:cNvPr id="381" name="Google Shape;381;p49"/>
          <p:cNvSpPr/>
          <p:nvPr/>
        </p:nvSpPr>
        <p:spPr>
          <a:xfrm>
            <a:off x="6900250" y="2584950"/>
            <a:ext cx="437700" cy="393600"/>
          </a:xfrm>
          <a:prstGeom prst="ellipse">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lt1"/>
                </a:solidFill>
              </a:rPr>
              <a:t>2</a:t>
            </a:r>
            <a:endParaRPr b="1" sz="1700">
              <a:solidFill>
                <a:schemeClr val="lt1"/>
              </a:solidFill>
            </a:endParaRPr>
          </a:p>
        </p:txBody>
      </p:sp>
      <p:sp>
        <p:nvSpPr>
          <p:cNvPr id="382" name="Google Shape;382;p49"/>
          <p:cNvSpPr/>
          <p:nvPr/>
        </p:nvSpPr>
        <p:spPr>
          <a:xfrm>
            <a:off x="6458188" y="840325"/>
            <a:ext cx="1886700" cy="380400"/>
          </a:xfrm>
          <a:prstGeom prst="wedgeRectCallout">
            <a:avLst>
              <a:gd fmla="val -80004" name="adj1"/>
              <a:gd fmla="val 106860" name="adj2"/>
            </a:avLst>
          </a:prstGeom>
          <a:solidFill>
            <a:srgbClr val="9FC5E8"/>
          </a:solidFill>
          <a:ln>
            <a:noFill/>
          </a:ln>
        </p:spPr>
        <p:txBody>
          <a:bodyPr anchorCtr="0" anchor="ctr" bIns="88375" lIns="88375" spcFirstLastPara="1" rIns="88375" wrap="square" tIns="88375">
            <a:noAutofit/>
          </a:bodyPr>
          <a:lstStyle/>
          <a:p>
            <a:pPr indent="0" lvl="0" marL="0" rtl="0" algn="ctr">
              <a:spcBef>
                <a:spcPts val="0"/>
              </a:spcBef>
              <a:spcAft>
                <a:spcPts val="0"/>
              </a:spcAft>
              <a:buNone/>
            </a:pPr>
            <a:r>
              <a:rPr b="1" lang="ja" sz="1063"/>
              <a:t>説得力を高めるため</a:t>
            </a:r>
            <a:endParaRPr b="1" sz="1063"/>
          </a:p>
        </p:txBody>
      </p:sp>
      <p:sp>
        <p:nvSpPr>
          <p:cNvPr id="383" name="Google Shape;383;p49"/>
          <p:cNvSpPr/>
          <p:nvPr/>
        </p:nvSpPr>
        <p:spPr>
          <a:xfrm>
            <a:off x="7429975" y="1961925"/>
            <a:ext cx="1821900" cy="380400"/>
          </a:xfrm>
          <a:prstGeom prst="wedgeRectCallout">
            <a:avLst>
              <a:gd fmla="val -40471" name="adj1"/>
              <a:gd fmla="val 165638"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t>信頼関係を高めるため</a:t>
            </a:r>
            <a:endParaRPr b="1" sz="1100"/>
          </a:p>
        </p:txBody>
      </p:sp>
      <p:sp>
        <p:nvSpPr>
          <p:cNvPr id="384" name="Google Shape;384;p49"/>
          <p:cNvSpPr/>
          <p:nvPr/>
        </p:nvSpPr>
        <p:spPr>
          <a:xfrm flipH="1" rot="-5400000">
            <a:off x="6152716" y="3500750"/>
            <a:ext cx="922800" cy="1418100"/>
          </a:xfrm>
          <a:prstGeom prst="bentUpArrow">
            <a:avLst>
              <a:gd fmla="val 6658" name="adj1"/>
              <a:gd fmla="val 16093" name="adj2"/>
              <a:gd fmla="val 19759" name="adj3"/>
            </a:avLst>
          </a:prstGeom>
          <a:solidFill>
            <a:srgbClr val="999999"/>
          </a:solidFill>
          <a:ln>
            <a:noFill/>
          </a:ln>
        </p:spPr>
        <p:txBody>
          <a:bodyPr anchorCtr="0" anchor="ctr" bIns="81125" lIns="81125" spcFirstLastPara="1" rIns="81125" wrap="square" tIns="81125">
            <a:noAutofit/>
          </a:bodyPr>
          <a:lstStyle/>
          <a:p>
            <a:pPr indent="0" lvl="0" marL="0" rtl="0" algn="ctr">
              <a:spcBef>
                <a:spcPts val="0"/>
              </a:spcBef>
              <a:spcAft>
                <a:spcPts val="0"/>
              </a:spcAft>
              <a:buNone/>
            </a:pPr>
            <a:r>
              <a:t/>
            </a:r>
            <a:endParaRPr sz="1242"/>
          </a:p>
        </p:txBody>
      </p:sp>
      <p:sp>
        <p:nvSpPr>
          <p:cNvPr id="385" name="Google Shape;385;p49"/>
          <p:cNvSpPr/>
          <p:nvPr/>
        </p:nvSpPr>
        <p:spPr>
          <a:xfrm>
            <a:off x="2891699" y="3969612"/>
            <a:ext cx="2985000" cy="937200"/>
          </a:xfrm>
          <a:prstGeom prst="roundRect">
            <a:avLst>
              <a:gd fmla="val 16667" name="adj"/>
            </a:avLst>
          </a:prstGeom>
          <a:solidFill>
            <a:srgbClr val="EFEFEF"/>
          </a:solidFill>
          <a:ln cap="flat" cmpd="sng" w="9200">
            <a:solidFill>
              <a:srgbClr val="EFEFEF"/>
            </a:solidFill>
            <a:prstDash val="solid"/>
            <a:round/>
            <a:headEnd len="sm" w="sm" type="none"/>
            <a:tailEnd len="sm" w="sm" type="none"/>
          </a:ln>
        </p:spPr>
        <p:txBody>
          <a:bodyPr anchorCtr="0" anchor="ctr" bIns="88375" lIns="88375" spcFirstLastPara="1" rIns="88375" wrap="square" tIns="88375">
            <a:noAutofit/>
          </a:bodyPr>
          <a:lstStyle/>
          <a:p>
            <a:pPr indent="0" lvl="0" marL="0" rtl="0" algn="ctr">
              <a:spcBef>
                <a:spcPts val="0"/>
              </a:spcBef>
              <a:spcAft>
                <a:spcPts val="0"/>
              </a:spcAft>
              <a:buNone/>
            </a:pPr>
            <a:r>
              <a:rPr b="1" lang="ja" sz="1353"/>
              <a:t>感情を伝える</a:t>
            </a:r>
            <a:endParaRPr b="1" sz="1353"/>
          </a:p>
          <a:p>
            <a:pPr indent="0" lvl="0" marL="0" rtl="0" algn="ctr">
              <a:spcBef>
                <a:spcPts val="0"/>
              </a:spcBef>
              <a:spcAft>
                <a:spcPts val="0"/>
              </a:spcAft>
              <a:buNone/>
            </a:pPr>
            <a:r>
              <a:rPr b="1" lang="ja" sz="1159">
                <a:highlight>
                  <a:srgbClr val="F4CCCC"/>
                </a:highlight>
              </a:rPr>
              <a:t>Emotional Impact</a:t>
            </a:r>
            <a:endParaRPr b="1" sz="1159">
              <a:highlight>
                <a:srgbClr val="F4CCCC"/>
              </a:highlight>
            </a:endParaRPr>
          </a:p>
          <a:p>
            <a:pPr indent="0" lvl="0" marL="0" rtl="0" algn="ctr">
              <a:spcBef>
                <a:spcPts val="0"/>
              </a:spcBef>
              <a:spcAft>
                <a:spcPts val="0"/>
              </a:spcAft>
              <a:buNone/>
            </a:pPr>
            <a:r>
              <a:rPr b="1" lang="ja" sz="1159"/>
              <a:t>その行動について自分の気持ちを伝える</a:t>
            </a:r>
            <a:endParaRPr b="1" sz="1159"/>
          </a:p>
        </p:txBody>
      </p:sp>
      <p:sp>
        <p:nvSpPr>
          <p:cNvPr id="386" name="Google Shape;386;p49"/>
          <p:cNvSpPr/>
          <p:nvPr/>
        </p:nvSpPr>
        <p:spPr>
          <a:xfrm>
            <a:off x="4172651" y="3748400"/>
            <a:ext cx="423000" cy="380400"/>
          </a:xfrm>
          <a:prstGeom prst="ellipse">
            <a:avLst/>
          </a:prstGeom>
          <a:solidFill>
            <a:srgbClr val="666666"/>
          </a:solidFill>
          <a:ln cap="flat" cmpd="sng" w="9200">
            <a:solidFill>
              <a:schemeClr val="dk2"/>
            </a:solidFill>
            <a:prstDash val="solid"/>
            <a:round/>
            <a:headEnd len="sm" w="sm" type="none"/>
            <a:tailEnd len="sm" w="sm" type="none"/>
          </a:ln>
        </p:spPr>
        <p:txBody>
          <a:bodyPr anchorCtr="0" anchor="ctr" bIns="88375" lIns="88375" spcFirstLastPara="1" rIns="88375" wrap="square" tIns="88375">
            <a:noAutofit/>
          </a:bodyPr>
          <a:lstStyle/>
          <a:p>
            <a:pPr indent="0" lvl="0" marL="0" rtl="0" algn="ctr">
              <a:spcBef>
                <a:spcPts val="0"/>
              </a:spcBef>
              <a:spcAft>
                <a:spcPts val="0"/>
              </a:spcAft>
              <a:buNone/>
            </a:pPr>
            <a:r>
              <a:rPr b="1" lang="ja" sz="1643">
                <a:solidFill>
                  <a:schemeClr val="lt1"/>
                </a:solidFill>
              </a:rPr>
              <a:t>3</a:t>
            </a:r>
            <a:endParaRPr b="1" sz="1643">
              <a:solidFill>
                <a:schemeClr val="lt1"/>
              </a:solidFill>
            </a:endParaRPr>
          </a:p>
        </p:txBody>
      </p:sp>
      <p:sp>
        <p:nvSpPr>
          <p:cNvPr id="387" name="Google Shape;387;p49"/>
          <p:cNvSpPr/>
          <p:nvPr/>
        </p:nvSpPr>
        <p:spPr>
          <a:xfrm>
            <a:off x="6458188" y="4630807"/>
            <a:ext cx="1886700" cy="380400"/>
          </a:xfrm>
          <a:prstGeom prst="wedgeRectCallout">
            <a:avLst>
              <a:gd fmla="val -80694" name="adj1"/>
              <a:gd fmla="val -41089" name="adj2"/>
            </a:avLst>
          </a:prstGeom>
          <a:solidFill>
            <a:srgbClr val="9FC5E8"/>
          </a:solidFill>
          <a:ln>
            <a:noFill/>
          </a:ln>
        </p:spPr>
        <p:txBody>
          <a:bodyPr anchorCtr="0" anchor="ctr" bIns="88375" lIns="88375" spcFirstLastPara="1" rIns="88375" wrap="square" tIns="88375">
            <a:noAutofit/>
          </a:bodyPr>
          <a:lstStyle/>
          <a:p>
            <a:pPr indent="0" lvl="0" marL="0" rtl="0" algn="ctr">
              <a:spcBef>
                <a:spcPts val="0"/>
              </a:spcBef>
              <a:spcAft>
                <a:spcPts val="0"/>
              </a:spcAft>
              <a:buNone/>
            </a:pPr>
            <a:r>
              <a:rPr b="1" lang="ja" sz="1063"/>
              <a:t>インパクトを高めるため</a:t>
            </a:r>
            <a:endParaRPr b="1" sz="1063"/>
          </a:p>
        </p:txBody>
      </p:sp>
      <p:sp>
        <p:nvSpPr>
          <p:cNvPr id="388" name="Google Shape;388;p49"/>
          <p:cNvSpPr/>
          <p:nvPr/>
        </p:nvSpPr>
        <p:spPr>
          <a:xfrm flipH="1">
            <a:off x="1499506" y="3748400"/>
            <a:ext cx="1363800" cy="786900"/>
          </a:xfrm>
          <a:prstGeom prst="bentUpArrow">
            <a:avLst>
              <a:gd fmla="val 7134" name="adj1"/>
              <a:gd fmla="val 15777" name="adj2"/>
              <a:gd fmla="val 18336" name="adj3"/>
            </a:avLst>
          </a:prstGeom>
          <a:solidFill>
            <a:srgbClr val="999999"/>
          </a:solidFill>
          <a:ln>
            <a:noFill/>
          </a:ln>
        </p:spPr>
        <p:txBody>
          <a:bodyPr anchorCtr="0" anchor="ctr" bIns="81125" lIns="81125" spcFirstLastPara="1" rIns="81125" wrap="square" tIns="81125">
            <a:noAutofit/>
          </a:bodyPr>
          <a:lstStyle/>
          <a:p>
            <a:pPr indent="0" lvl="0" marL="0" rtl="0" algn="ctr">
              <a:spcBef>
                <a:spcPts val="0"/>
              </a:spcBef>
              <a:spcAft>
                <a:spcPts val="0"/>
              </a:spcAft>
              <a:buNone/>
            </a:pPr>
            <a:r>
              <a:t/>
            </a:r>
            <a:endParaRPr sz="1242"/>
          </a:p>
        </p:txBody>
      </p:sp>
      <p:sp>
        <p:nvSpPr>
          <p:cNvPr id="389" name="Google Shape;389;p49"/>
          <p:cNvSpPr/>
          <p:nvPr/>
        </p:nvSpPr>
        <p:spPr>
          <a:xfrm>
            <a:off x="164197" y="2811200"/>
            <a:ext cx="2985000" cy="937200"/>
          </a:xfrm>
          <a:prstGeom prst="roundRect">
            <a:avLst>
              <a:gd fmla="val 16667" name="adj"/>
            </a:avLst>
          </a:prstGeom>
          <a:solidFill>
            <a:srgbClr val="EFEFEF"/>
          </a:solidFill>
          <a:ln cap="flat" cmpd="sng" w="9200">
            <a:solidFill>
              <a:srgbClr val="EFEFEF"/>
            </a:solidFill>
            <a:prstDash val="solid"/>
            <a:round/>
            <a:headEnd len="sm" w="sm" type="none"/>
            <a:tailEnd len="sm" w="sm" type="none"/>
          </a:ln>
        </p:spPr>
        <p:txBody>
          <a:bodyPr anchorCtr="0" anchor="ctr" bIns="88375" lIns="88375" spcFirstLastPara="1" rIns="88375" wrap="square" tIns="88375">
            <a:noAutofit/>
          </a:bodyPr>
          <a:lstStyle/>
          <a:p>
            <a:pPr indent="0" lvl="0" marL="0" rtl="0" algn="ctr">
              <a:spcBef>
                <a:spcPts val="0"/>
              </a:spcBef>
              <a:spcAft>
                <a:spcPts val="0"/>
              </a:spcAft>
              <a:buNone/>
            </a:pPr>
            <a:r>
              <a:rPr b="1" lang="ja" sz="1353"/>
              <a:t>行動を促す</a:t>
            </a:r>
            <a:endParaRPr b="1" sz="1353"/>
          </a:p>
          <a:p>
            <a:pPr indent="0" lvl="0" marL="0" rtl="0" algn="ctr">
              <a:spcBef>
                <a:spcPts val="0"/>
              </a:spcBef>
              <a:spcAft>
                <a:spcPts val="0"/>
              </a:spcAft>
              <a:buNone/>
            </a:pPr>
            <a:r>
              <a:rPr b="1" lang="ja" sz="1159">
                <a:highlight>
                  <a:srgbClr val="F4CCCC"/>
                </a:highlight>
              </a:rPr>
              <a:t>Action Advice</a:t>
            </a:r>
            <a:endParaRPr b="1" sz="1159">
              <a:highlight>
                <a:srgbClr val="F4CCCC"/>
              </a:highlight>
            </a:endParaRPr>
          </a:p>
          <a:p>
            <a:pPr indent="0" lvl="0" marL="0" rtl="0" algn="ctr">
              <a:spcBef>
                <a:spcPts val="0"/>
              </a:spcBef>
              <a:spcAft>
                <a:spcPts val="0"/>
              </a:spcAft>
              <a:buNone/>
            </a:pPr>
            <a:r>
              <a:rPr b="1" lang="ja" sz="1159"/>
              <a:t>自分ならこうする/指示する</a:t>
            </a:r>
            <a:endParaRPr b="1" sz="1159"/>
          </a:p>
        </p:txBody>
      </p:sp>
      <p:sp>
        <p:nvSpPr>
          <p:cNvPr id="390" name="Google Shape;390;p49"/>
          <p:cNvSpPr/>
          <p:nvPr/>
        </p:nvSpPr>
        <p:spPr>
          <a:xfrm>
            <a:off x="1445149" y="2589988"/>
            <a:ext cx="423000" cy="380400"/>
          </a:xfrm>
          <a:prstGeom prst="ellipse">
            <a:avLst/>
          </a:prstGeom>
          <a:solidFill>
            <a:srgbClr val="666666"/>
          </a:solidFill>
          <a:ln cap="flat" cmpd="sng" w="9200">
            <a:solidFill>
              <a:schemeClr val="dk2"/>
            </a:solidFill>
            <a:prstDash val="solid"/>
            <a:round/>
            <a:headEnd len="sm" w="sm" type="none"/>
            <a:tailEnd len="sm" w="sm" type="none"/>
          </a:ln>
        </p:spPr>
        <p:txBody>
          <a:bodyPr anchorCtr="0" anchor="ctr" bIns="88375" lIns="88375" spcFirstLastPara="1" rIns="88375" wrap="square" tIns="88375">
            <a:noAutofit/>
          </a:bodyPr>
          <a:lstStyle/>
          <a:p>
            <a:pPr indent="0" lvl="0" marL="0" rtl="0" algn="ctr">
              <a:spcBef>
                <a:spcPts val="0"/>
              </a:spcBef>
              <a:spcAft>
                <a:spcPts val="0"/>
              </a:spcAft>
              <a:buNone/>
            </a:pPr>
            <a:r>
              <a:rPr b="1" lang="ja" sz="1643">
                <a:solidFill>
                  <a:schemeClr val="lt1"/>
                </a:solidFill>
              </a:rPr>
              <a:t>4</a:t>
            </a:r>
            <a:endParaRPr b="1" sz="1643">
              <a:solidFill>
                <a:schemeClr val="lt1"/>
              </a:solidFill>
            </a:endParaRPr>
          </a:p>
        </p:txBody>
      </p:sp>
      <p:sp>
        <p:nvSpPr>
          <p:cNvPr id="391" name="Google Shape;391;p49"/>
          <p:cNvSpPr/>
          <p:nvPr/>
        </p:nvSpPr>
        <p:spPr>
          <a:xfrm flipH="1" rot="5400000">
            <a:off x="1645057" y="1335227"/>
            <a:ext cx="1166700" cy="1249500"/>
          </a:xfrm>
          <a:prstGeom prst="bentUpArrow">
            <a:avLst>
              <a:gd fmla="val 6198" name="adj1"/>
              <a:gd fmla="val 12875" name="adj2"/>
              <a:gd fmla="val 16727" name="adj3"/>
            </a:avLst>
          </a:prstGeom>
          <a:solidFill>
            <a:srgbClr val="999999"/>
          </a:solidFill>
          <a:ln>
            <a:noFill/>
          </a:ln>
        </p:spPr>
        <p:txBody>
          <a:bodyPr anchorCtr="0" anchor="ctr" bIns="81125" lIns="81125" spcFirstLastPara="1" rIns="81125" wrap="square" tIns="81125">
            <a:noAutofit/>
          </a:bodyPr>
          <a:lstStyle/>
          <a:p>
            <a:pPr indent="0" lvl="0" marL="0" rtl="0" algn="ctr">
              <a:spcBef>
                <a:spcPts val="0"/>
              </a:spcBef>
              <a:spcAft>
                <a:spcPts val="0"/>
              </a:spcAft>
              <a:buNone/>
            </a:pPr>
            <a:r>
              <a:t/>
            </a:r>
            <a:endParaRPr sz="1242"/>
          </a:p>
        </p:txBody>
      </p:sp>
      <p:sp>
        <p:nvSpPr>
          <p:cNvPr id="392" name="Google Shape;392;p49"/>
          <p:cNvSpPr/>
          <p:nvPr/>
        </p:nvSpPr>
        <p:spPr>
          <a:xfrm>
            <a:off x="-415675" y="4290647"/>
            <a:ext cx="1886700" cy="380400"/>
          </a:xfrm>
          <a:prstGeom prst="wedgeRectCallout">
            <a:avLst>
              <a:gd fmla="val 35299" name="adj1"/>
              <a:gd fmla="val -185582" name="adj2"/>
            </a:avLst>
          </a:prstGeom>
          <a:solidFill>
            <a:srgbClr val="9FC5E8"/>
          </a:solidFill>
          <a:ln>
            <a:noFill/>
          </a:ln>
        </p:spPr>
        <p:txBody>
          <a:bodyPr anchorCtr="0" anchor="ctr" bIns="88375" lIns="88375" spcFirstLastPara="1" rIns="88375" wrap="square" tIns="88375">
            <a:noAutofit/>
          </a:bodyPr>
          <a:lstStyle/>
          <a:p>
            <a:pPr indent="0" lvl="0" marL="0" rtl="0" algn="ctr">
              <a:spcBef>
                <a:spcPts val="0"/>
              </a:spcBef>
              <a:spcAft>
                <a:spcPts val="0"/>
              </a:spcAft>
              <a:buNone/>
            </a:pPr>
            <a:r>
              <a:rPr b="1" lang="ja" sz="1063"/>
              <a:t>成功可能性を高めるため</a:t>
            </a:r>
            <a:endParaRPr b="1" sz="1063"/>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0"/>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398" name="Google Shape;398;p50"/>
          <p:cNvSpPr txBox="1"/>
          <p:nvPr>
            <p:ph idx="1" type="body"/>
          </p:nvPr>
        </p:nvSpPr>
        <p:spPr>
          <a:xfrm>
            <a:off x="360000" y="1152475"/>
            <a:ext cx="8424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ja"/>
              <a:t>フィードバックの基本「4つの度」</a:t>
            </a:r>
            <a:endParaRPr b="1"/>
          </a:p>
          <a:p>
            <a:pPr indent="-342900" lvl="0" marL="457200" rtl="0" algn="l">
              <a:spcBef>
                <a:spcPts val="1200"/>
              </a:spcBef>
              <a:spcAft>
                <a:spcPts val="0"/>
              </a:spcAft>
              <a:buSzPts val="1800"/>
              <a:buChar char="●"/>
            </a:pPr>
            <a:r>
              <a:rPr b="1" lang="ja"/>
              <a:t>鮮度</a:t>
            </a:r>
            <a:r>
              <a:rPr lang="ja"/>
              <a:t>　即時・タイムリーにフィードバックする</a:t>
            </a:r>
            <a:endParaRPr/>
          </a:p>
          <a:p>
            <a:pPr indent="-342900" lvl="0" marL="457200" rtl="0" algn="l">
              <a:spcBef>
                <a:spcPts val="0"/>
              </a:spcBef>
              <a:spcAft>
                <a:spcPts val="0"/>
              </a:spcAft>
              <a:buSzPts val="1800"/>
              <a:buChar char="●"/>
            </a:pPr>
            <a:r>
              <a:rPr b="1" lang="ja"/>
              <a:t>態度</a:t>
            </a:r>
            <a:r>
              <a:rPr lang="ja"/>
              <a:t>　誠実にフィードバックする</a:t>
            </a:r>
            <a:endParaRPr/>
          </a:p>
          <a:p>
            <a:pPr indent="-342900" lvl="0" marL="457200" rtl="0" algn="l">
              <a:spcBef>
                <a:spcPts val="0"/>
              </a:spcBef>
              <a:spcAft>
                <a:spcPts val="0"/>
              </a:spcAft>
              <a:buSzPts val="1800"/>
              <a:buChar char="●"/>
            </a:pPr>
            <a:r>
              <a:rPr b="1" lang="ja"/>
              <a:t>粒度</a:t>
            </a:r>
            <a:r>
              <a:rPr lang="ja"/>
              <a:t>　具体的にフィードバックする</a:t>
            </a:r>
            <a:endParaRPr/>
          </a:p>
          <a:p>
            <a:pPr indent="0" lvl="0" marL="457200" rtl="0" algn="l">
              <a:spcBef>
                <a:spcPts val="1200"/>
              </a:spcBef>
              <a:spcAft>
                <a:spcPts val="0"/>
              </a:spcAft>
              <a:buNone/>
            </a:pPr>
            <a:r>
              <a:rPr lang="ja"/>
              <a:t>　　　NG:もっとがんばれ、ちゃんとやれ、だからだめなんだよ</a:t>
            </a:r>
            <a:endParaRPr/>
          </a:p>
          <a:p>
            <a:pPr indent="-342900" lvl="0" marL="457200" rtl="0" algn="l">
              <a:spcBef>
                <a:spcPts val="1200"/>
              </a:spcBef>
              <a:spcAft>
                <a:spcPts val="0"/>
              </a:spcAft>
              <a:buSzPts val="1800"/>
              <a:buChar char="●"/>
            </a:pPr>
            <a:r>
              <a:rPr b="1" lang="ja"/>
              <a:t>温度</a:t>
            </a:r>
            <a:r>
              <a:rPr lang="ja"/>
              <a:t>　人として温かみをもってフィードバックする</a:t>
            </a:r>
            <a:endParaRPr/>
          </a:p>
        </p:txBody>
      </p:sp>
      <p:sp>
        <p:nvSpPr>
          <p:cNvPr id="399" name="Google Shape;39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1"/>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405" name="Google Shape;405;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graphicFrame>
        <p:nvGraphicFramePr>
          <p:cNvPr id="406" name="Google Shape;406;p51"/>
          <p:cNvGraphicFramePr/>
          <p:nvPr/>
        </p:nvGraphicFramePr>
        <p:xfrm>
          <a:off x="790500" y="1589550"/>
          <a:ext cx="3000000" cy="3000000"/>
        </p:xfrm>
        <a:graphic>
          <a:graphicData uri="http://schemas.openxmlformats.org/drawingml/2006/table">
            <a:tbl>
              <a:tblPr>
                <a:noFill/>
                <a:tableStyleId>{B5E09D2F-972E-4A66-A7EB-15B77129AD26}</a:tableStyleId>
              </a:tblPr>
              <a:tblGrid>
                <a:gridCol w="1133875"/>
                <a:gridCol w="3052550"/>
                <a:gridCol w="3052575"/>
              </a:tblGrid>
              <a:tr h="315400">
                <a:tc>
                  <a:txBody>
                    <a:bodyPr/>
                    <a:lstStyle/>
                    <a:p>
                      <a:pPr indent="0" lvl="0" marL="0" rtl="0" algn="ctr">
                        <a:spcBef>
                          <a:spcPts val="0"/>
                        </a:spcBef>
                        <a:spcAft>
                          <a:spcPts val="0"/>
                        </a:spcAft>
                        <a:buNone/>
                      </a:pPr>
                      <a:r>
                        <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できないと思っている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できると思っている</a:t>
                      </a:r>
                      <a:endParaRPr b="1"/>
                    </a:p>
                  </a:txBody>
                  <a:tcPr marT="91425" marB="91425" marR="91425" marL="91425" anchor="ctr">
                    <a:solidFill>
                      <a:srgbClr val="F3F3F3"/>
                    </a:solidFill>
                  </a:tcPr>
                </a:tc>
              </a:tr>
              <a:tr h="1183875">
                <a:tc>
                  <a:txBody>
                    <a:bodyPr/>
                    <a:lstStyle/>
                    <a:p>
                      <a:pPr indent="0" lvl="0" marL="0" rtl="0" algn="ctr">
                        <a:spcBef>
                          <a:spcPts val="0"/>
                        </a:spcBef>
                        <a:spcAft>
                          <a:spcPts val="0"/>
                        </a:spcAft>
                        <a:buNone/>
                      </a:pPr>
                      <a:r>
                        <a:rPr b="1" lang="ja"/>
                        <a:t>できないと思っている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教える</a:t>
                      </a:r>
                      <a:endParaRPr b="1"/>
                    </a:p>
                  </a:txBody>
                  <a:tcPr marT="91425" marB="91425" marR="91425" marL="91425" anchor="ctr"/>
                </a:tc>
                <a:tc>
                  <a:txBody>
                    <a:bodyPr/>
                    <a:lstStyle/>
                    <a:p>
                      <a:pPr indent="0" lvl="0" marL="0" rtl="0" algn="ctr">
                        <a:spcBef>
                          <a:spcPts val="0"/>
                        </a:spcBef>
                        <a:spcAft>
                          <a:spcPts val="0"/>
                        </a:spcAft>
                        <a:buNone/>
                      </a:pPr>
                      <a:r>
                        <a:rPr b="1" lang="ja"/>
                        <a:t>FBする</a:t>
                      </a:r>
                      <a:endParaRPr b="1"/>
                    </a:p>
                  </a:txBody>
                  <a:tcPr marT="91425" marB="91425" marR="91425" marL="91425" anchor="ctr"/>
                </a:tc>
              </a:tr>
              <a:tr h="1298350">
                <a:tc>
                  <a:txBody>
                    <a:bodyPr/>
                    <a:lstStyle/>
                    <a:p>
                      <a:pPr indent="0" lvl="0" marL="0" rtl="0" algn="ctr">
                        <a:spcBef>
                          <a:spcPts val="0"/>
                        </a:spcBef>
                        <a:spcAft>
                          <a:spcPts val="0"/>
                        </a:spcAft>
                        <a:buNone/>
                      </a:pPr>
                      <a:r>
                        <a:rPr b="1" lang="ja"/>
                        <a:t>できると思っている</a:t>
                      </a:r>
                      <a:endParaRPr b="1"/>
                    </a:p>
                  </a:txBody>
                  <a:tcPr marT="91425" marB="91425" marR="91425" marL="91425" anchor="ctr">
                    <a:solidFill>
                      <a:srgbClr val="F3F3F3"/>
                    </a:solidFill>
                  </a:tcPr>
                </a:tc>
                <a:tc>
                  <a:txBody>
                    <a:bodyPr/>
                    <a:lstStyle/>
                    <a:p>
                      <a:pPr indent="0" lvl="0" marL="0" rtl="0" algn="ctr">
                        <a:spcBef>
                          <a:spcPts val="0"/>
                        </a:spcBef>
                        <a:spcAft>
                          <a:spcPts val="0"/>
                        </a:spcAft>
                        <a:buNone/>
                      </a:pPr>
                      <a:r>
                        <a:rPr b="1" lang="ja"/>
                        <a:t>自信を持たせる</a:t>
                      </a:r>
                      <a:endParaRPr b="1"/>
                    </a:p>
                  </a:txBody>
                  <a:tcPr marT="91425" marB="91425" marR="91425" marL="91425" anchor="ctr"/>
                </a:tc>
                <a:tc>
                  <a:txBody>
                    <a:bodyPr/>
                    <a:lstStyle/>
                    <a:p>
                      <a:pPr indent="0" lvl="0" marL="0" rtl="0" algn="ctr">
                        <a:spcBef>
                          <a:spcPts val="0"/>
                        </a:spcBef>
                        <a:spcAft>
                          <a:spcPts val="0"/>
                        </a:spcAft>
                        <a:buNone/>
                      </a:pPr>
                      <a:r>
                        <a:rPr b="1" lang="ja"/>
                        <a:t>任せる</a:t>
                      </a:r>
                      <a:endParaRPr b="1"/>
                    </a:p>
                  </a:txBody>
                  <a:tcPr marT="91425" marB="91425" marR="91425" marL="91425" anchor="ctr">
                    <a:solidFill>
                      <a:srgbClr val="F4CCCC"/>
                    </a:solidFill>
                  </a:tcPr>
                </a:tc>
              </a:tr>
            </a:tbl>
          </a:graphicData>
        </a:graphic>
      </p:graphicFrame>
      <p:sp>
        <p:nvSpPr>
          <p:cNvPr id="407" name="Google Shape;407;p51"/>
          <p:cNvSpPr/>
          <p:nvPr/>
        </p:nvSpPr>
        <p:spPr>
          <a:xfrm>
            <a:off x="2977450" y="1262475"/>
            <a:ext cx="3897900" cy="22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メンバーの認識</a:t>
            </a:r>
            <a:endParaRPr b="1"/>
          </a:p>
        </p:txBody>
      </p:sp>
      <p:sp>
        <p:nvSpPr>
          <p:cNvPr id="408" name="Google Shape;408;p51"/>
          <p:cNvSpPr/>
          <p:nvPr/>
        </p:nvSpPr>
        <p:spPr>
          <a:xfrm>
            <a:off x="360000" y="1955925"/>
            <a:ext cx="315000" cy="223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t>上長の認識</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2"/>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相手に応じた支援</a:t>
            </a:r>
            <a:endParaRPr/>
          </a:p>
        </p:txBody>
      </p:sp>
      <p:sp>
        <p:nvSpPr>
          <p:cNvPr id="414" name="Google Shape;414;p52"/>
          <p:cNvSpPr txBox="1"/>
          <p:nvPr>
            <p:ph idx="1" type="body"/>
          </p:nvPr>
        </p:nvSpPr>
        <p:spPr>
          <a:xfrm>
            <a:off x="360000" y="1152475"/>
            <a:ext cx="8424000" cy="34164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ja" sz="1600"/>
              <a:t>権限移譲には「移譲レベル」がある。</a:t>
            </a:r>
            <a:endParaRPr b="1" sz="1600"/>
          </a:p>
          <a:p>
            <a:pPr indent="0" lvl="0" marL="0" rtl="0" algn="ctr">
              <a:lnSpc>
                <a:spcPct val="115000"/>
              </a:lnSpc>
              <a:spcBef>
                <a:spcPts val="1200"/>
              </a:spcBef>
              <a:spcAft>
                <a:spcPts val="0"/>
              </a:spcAft>
              <a:buNone/>
            </a:pPr>
            <a:r>
              <a:rPr b="1" lang="ja" sz="1600"/>
              <a:t>「任せる」といっても、何をどこまで任せるかは</a:t>
            </a:r>
            <a:endParaRPr b="1" sz="1600"/>
          </a:p>
          <a:p>
            <a:pPr indent="0" lvl="0" marL="0" rtl="0" algn="ctr">
              <a:lnSpc>
                <a:spcPct val="115000"/>
              </a:lnSpc>
              <a:spcBef>
                <a:spcPts val="1200"/>
              </a:spcBef>
              <a:spcAft>
                <a:spcPts val="1200"/>
              </a:spcAft>
              <a:buNone/>
            </a:pPr>
            <a:r>
              <a:rPr b="1" lang="ja" sz="1600"/>
              <a:t>相手と認識をすり合わせておく必要がある。</a:t>
            </a:r>
            <a:endParaRPr b="1" sz="1600"/>
          </a:p>
        </p:txBody>
      </p:sp>
      <p:sp>
        <p:nvSpPr>
          <p:cNvPr id="415" name="Google Shape;41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416" name="Google Shape;416;p52"/>
          <p:cNvPicPr preferRelativeResize="0"/>
          <p:nvPr/>
        </p:nvPicPr>
        <p:blipFill>
          <a:blip r:embed="rId3">
            <a:alphaModFix/>
          </a:blip>
          <a:stretch>
            <a:fillRect/>
          </a:stretch>
        </p:blipFill>
        <p:spPr>
          <a:xfrm>
            <a:off x="322600" y="2486149"/>
            <a:ext cx="8174799" cy="1762800"/>
          </a:xfrm>
          <a:prstGeom prst="rect">
            <a:avLst/>
          </a:prstGeom>
          <a:noFill/>
          <a:ln>
            <a:noFill/>
          </a:ln>
        </p:spPr>
      </p:pic>
      <p:sp>
        <p:nvSpPr>
          <p:cNvPr id="417" name="Google Shape;417;p52"/>
          <p:cNvSpPr/>
          <p:nvPr/>
        </p:nvSpPr>
        <p:spPr>
          <a:xfrm>
            <a:off x="1434300" y="4426675"/>
            <a:ext cx="5951400" cy="29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1100" u="sng">
                <a:solidFill>
                  <a:schemeClr val="hlink"/>
                </a:solidFill>
                <a:hlinkClick r:id="rId4"/>
              </a:rPr>
              <a:t>デリゲーションポーカー</a:t>
            </a:r>
            <a:r>
              <a:rPr lang="ja" sz="1100"/>
              <a:t> ・・・チーム内の権限のレベルをすり合わせていくワークショップ</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3"/>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sz="3600"/>
              <a:t>kickoffワークショップ</a:t>
            </a:r>
            <a:endParaRPr sz="3600"/>
          </a:p>
        </p:txBody>
      </p:sp>
      <p:sp>
        <p:nvSpPr>
          <p:cNvPr id="423" name="Google Shape;423;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4"/>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p>
            <a:pPr indent="0" lvl="0" marL="0" rtl="0" algn="l">
              <a:lnSpc>
                <a:spcPct val="150000"/>
              </a:lnSpc>
              <a:spcBef>
                <a:spcPts val="0"/>
              </a:spcBef>
              <a:spcAft>
                <a:spcPts val="0"/>
              </a:spcAft>
              <a:buNone/>
            </a:pPr>
            <a:r>
              <a:rPr lang="ja" sz="2500"/>
              <a:t>4月のkickoffでは、経験学習をベースにバリュー体現についてのワークショップを実施します。</a:t>
            </a:r>
            <a:endParaRPr sz="2500"/>
          </a:p>
          <a:p>
            <a:pPr indent="0" lvl="0" marL="0" rtl="0" algn="l">
              <a:lnSpc>
                <a:spcPct val="150000"/>
              </a:lnSpc>
              <a:spcBef>
                <a:spcPts val="0"/>
              </a:spcBef>
              <a:spcAft>
                <a:spcPts val="0"/>
              </a:spcAft>
              <a:buNone/>
            </a:pPr>
            <a:r>
              <a:rPr b="0" lang="ja" sz="1600"/>
              <a:t>※経験学習の中の「振り返る→学びを得る→次の行動を決める」までをやります。</a:t>
            </a:r>
            <a:endParaRPr b="0" sz="1600"/>
          </a:p>
          <a:p>
            <a:pPr indent="0" lvl="0" marL="0" rtl="0" algn="l">
              <a:lnSpc>
                <a:spcPct val="150000"/>
              </a:lnSpc>
              <a:spcBef>
                <a:spcPts val="0"/>
              </a:spcBef>
              <a:spcAft>
                <a:spcPts val="0"/>
              </a:spcAft>
              <a:buNone/>
            </a:pPr>
            <a:r>
              <a:t/>
            </a:r>
            <a:endParaRPr b="0" sz="1600"/>
          </a:p>
          <a:p>
            <a:pPr indent="0" lvl="0" marL="0" rtl="0" algn="l">
              <a:lnSpc>
                <a:spcPct val="150000"/>
              </a:lnSpc>
              <a:spcBef>
                <a:spcPts val="0"/>
              </a:spcBef>
              <a:spcAft>
                <a:spcPts val="0"/>
              </a:spcAft>
              <a:buNone/>
            </a:pPr>
            <a:r>
              <a:rPr lang="ja" sz="2500"/>
              <a:t>ワークショップで得た学びも経験学習のサイクルで継続支援をいただけるといいかと思います。</a:t>
            </a:r>
            <a:endParaRPr sz="2500"/>
          </a:p>
        </p:txBody>
      </p:sp>
      <p:sp>
        <p:nvSpPr>
          <p:cNvPr id="429" name="Google Shape;429;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5"/>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経験学習モデル</a:t>
            </a:r>
            <a:endParaRPr/>
          </a:p>
        </p:txBody>
      </p:sp>
      <p:sp>
        <p:nvSpPr>
          <p:cNvPr id="435" name="Google Shape;435;p55"/>
          <p:cNvSpPr/>
          <p:nvPr/>
        </p:nvSpPr>
        <p:spPr>
          <a:xfrm>
            <a:off x="3524849" y="1243550"/>
            <a:ext cx="15462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経験する</a:t>
            </a:r>
            <a:endParaRPr b="1" sz="1469"/>
          </a:p>
        </p:txBody>
      </p:sp>
      <p:sp>
        <p:nvSpPr>
          <p:cNvPr id="436" name="Google Shape;436;p55"/>
          <p:cNvSpPr/>
          <p:nvPr/>
        </p:nvSpPr>
        <p:spPr>
          <a:xfrm>
            <a:off x="1200075" y="2524338"/>
            <a:ext cx="16737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次の行動を決める</a:t>
            </a:r>
            <a:endParaRPr b="1" sz="1469"/>
          </a:p>
        </p:txBody>
      </p:sp>
      <p:sp>
        <p:nvSpPr>
          <p:cNvPr id="437" name="Google Shape;437;p55"/>
          <p:cNvSpPr/>
          <p:nvPr/>
        </p:nvSpPr>
        <p:spPr>
          <a:xfrm>
            <a:off x="3524849" y="3590874"/>
            <a:ext cx="15462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学びを得る</a:t>
            </a:r>
            <a:endParaRPr b="1" sz="1469"/>
          </a:p>
        </p:txBody>
      </p:sp>
      <p:sp>
        <p:nvSpPr>
          <p:cNvPr id="438" name="Google Shape;438;p55"/>
          <p:cNvSpPr/>
          <p:nvPr/>
        </p:nvSpPr>
        <p:spPr>
          <a:xfrm>
            <a:off x="5886126" y="2524357"/>
            <a:ext cx="1432500" cy="358500"/>
          </a:xfrm>
          <a:prstGeom prst="rect">
            <a:avLst/>
          </a:prstGeom>
          <a:noFill/>
          <a:ln cap="flat" cmpd="sng" w="26250">
            <a:solidFill>
              <a:schemeClr val="accent1"/>
            </a:solidFill>
            <a:prstDash val="solid"/>
            <a:round/>
            <a:headEnd len="sm" w="sm" type="none"/>
            <a:tailEnd len="sm" w="sm" type="none"/>
          </a:ln>
        </p:spPr>
        <p:txBody>
          <a:bodyPr anchorCtr="0" anchor="ctr" bIns="83925" lIns="83925" spcFirstLastPara="1" rIns="83925" wrap="square" tIns="83925">
            <a:noAutofit/>
          </a:bodyPr>
          <a:lstStyle/>
          <a:p>
            <a:pPr indent="0" lvl="0" marL="0" rtl="0" algn="ctr">
              <a:spcBef>
                <a:spcPts val="0"/>
              </a:spcBef>
              <a:spcAft>
                <a:spcPts val="0"/>
              </a:spcAft>
              <a:buNone/>
            </a:pPr>
            <a:r>
              <a:rPr b="1" lang="ja" sz="1469"/>
              <a:t>振り返る</a:t>
            </a:r>
            <a:endParaRPr b="1" sz="1469"/>
          </a:p>
        </p:txBody>
      </p:sp>
      <p:sp>
        <p:nvSpPr>
          <p:cNvPr id="439" name="Google Shape;439;p55"/>
          <p:cNvSpPr/>
          <p:nvPr/>
        </p:nvSpPr>
        <p:spPr>
          <a:xfrm flipH="1" rot="10800000">
            <a:off x="5078625" y="1396370"/>
            <a:ext cx="1673700" cy="1112700"/>
          </a:xfrm>
          <a:prstGeom prst="bentUpArrow">
            <a:avLst>
              <a:gd fmla="val 6658" name="adj1"/>
              <a:gd fmla="val 14724"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440" name="Google Shape;440;p55"/>
          <p:cNvSpPr/>
          <p:nvPr/>
        </p:nvSpPr>
        <p:spPr>
          <a:xfrm flipH="1" rot="-5400000">
            <a:off x="5336211" y="2663080"/>
            <a:ext cx="1075800" cy="1546200"/>
          </a:xfrm>
          <a:prstGeom prst="bentUpArrow">
            <a:avLst>
              <a:gd fmla="val 6658" name="adj1"/>
              <a:gd fmla="val 16093" name="adj2"/>
              <a:gd fmla="val 19759"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441" name="Google Shape;441;p55"/>
          <p:cNvSpPr/>
          <p:nvPr/>
        </p:nvSpPr>
        <p:spPr>
          <a:xfrm flipH="1">
            <a:off x="1869627" y="2864623"/>
            <a:ext cx="1640100" cy="986100"/>
          </a:xfrm>
          <a:prstGeom prst="bentUpArrow">
            <a:avLst>
              <a:gd fmla="val 7134" name="adj1"/>
              <a:gd fmla="val 15777" name="adj2"/>
              <a:gd fmla="val 18336"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442" name="Google Shape;442;p55"/>
          <p:cNvSpPr/>
          <p:nvPr/>
        </p:nvSpPr>
        <p:spPr>
          <a:xfrm flipH="1" rot="5400000">
            <a:off x="2106227" y="1079647"/>
            <a:ext cx="1255200" cy="1566900"/>
          </a:xfrm>
          <a:prstGeom prst="bentUpArrow">
            <a:avLst>
              <a:gd fmla="val 6198" name="adj1"/>
              <a:gd fmla="val 12875" name="adj2"/>
              <a:gd fmla="val 16727" name="adj3"/>
            </a:avLst>
          </a:prstGeom>
          <a:solidFill>
            <a:srgbClr val="999999"/>
          </a:solidFill>
          <a:ln>
            <a:noFill/>
          </a:ln>
        </p:spPr>
        <p:txBody>
          <a:bodyPr anchorCtr="0" anchor="ctr" bIns="83925" lIns="83925" spcFirstLastPara="1" rIns="83925" wrap="square" tIns="83925">
            <a:noAutofit/>
          </a:bodyPr>
          <a:lstStyle/>
          <a:p>
            <a:pPr indent="0" lvl="0" marL="0" rtl="0" algn="ctr">
              <a:spcBef>
                <a:spcPts val="0"/>
              </a:spcBef>
              <a:spcAft>
                <a:spcPts val="0"/>
              </a:spcAft>
              <a:buNone/>
            </a:pPr>
            <a:r>
              <a:t/>
            </a:r>
            <a:endParaRPr sz="1285"/>
          </a:p>
        </p:txBody>
      </p:sp>
      <p:sp>
        <p:nvSpPr>
          <p:cNvPr id="443" name="Google Shape;443;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444" name="Google Shape;444;p55"/>
          <p:cNvSpPr/>
          <p:nvPr/>
        </p:nvSpPr>
        <p:spPr>
          <a:xfrm>
            <a:off x="6989875" y="3241775"/>
            <a:ext cx="1710000" cy="525300"/>
          </a:xfrm>
          <a:prstGeom prst="wedgeRectCallout">
            <a:avLst>
              <a:gd fmla="val -41731" name="adj1"/>
              <a:gd fmla="val -112793"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洗い出し、直視し、</a:t>
            </a:r>
            <a:endParaRPr b="1" sz="1200"/>
          </a:p>
          <a:p>
            <a:pPr indent="0" lvl="0" marL="0" rtl="0" algn="ctr">
              <a:spcBef>
                <a:spcPts val="0"/>
              </a:spcBef>
              <a:spcAft>
                <a:spcPts val="0"/>
              </a:spcAft>
              <a:buNone/>
            </a:pPr>
            <a:r>
              <a:rPr b="1" lang="ja" sz="1200"/>
              <a:t>評価する</a:t>
            </a:r>
            <a:endParaRPr b="1" sz="1200"/>
          </a:p>
        </p:txBody>
      </p:sp>
      <p:sp>
        <p:nvSpPr>
          <p:cNvPr id="445" name="Google Shape;445;p55"/>
          <p:cNvSpPr/>
          <p:nvPr/>
        </p:nvSpPr>
        <p:spPr>
          <a:xfrm>
            <a:off x="3897275" y="4363275"/>
            <a:ext cx="3368700" cy="420300"/>
          </a:xfrm>
          <a:prstGeom prst="wedgeRectCallout">
            <a:avLst>
              <a:gd fmla="val -38935" name="adj1"/>
              <a:gd fmla="val -134226"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今後や他のケースに活かせそうな教訓を得る</a:t>
            </a:r>
            <a:endParaRPr b="1" sz="1200"/>
          </a:p>
        </p:txBody>
      </p:sp>
      <p:sp>
        <p:nvSpPr>
          <p:cNvPr id="446" name="Google Shape;446;p55"/>
          <p:cNvSpPr/>
          <p:nvPr/>
        </p:nvSpPr>
        <p:spPr>
          <a:xfrm>
            <a:off x="48850" y="1755925"/>
            <a:ext cx="1857900" cy="393600"/>
          </a:xfrm>
          <a:prstGeom prst="wedgeRectCallout">
            <a:avLst>
              <a:gd fmla="val 42766" name="adj1"/>
              <a:gd fmla="val 129097" name="adj2"/>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t>次はどうアプローチしていくか決める</a:t>
            </a:r>
            <a:endParaRPr b="1" sz="1200"/>
          </a:p>
        </p:txBody>
      </p:sp>
      <p:sp>
        <p:nvSpPr>
          <p:cNvPr id="447" name="Google Shape;447;p55"/>
          <p:cNvSpPr/>
          <p:nvPr/>
        </p:nvSpPr>
        <p:spPr>
          <a:xfrm>
            <a:off x="6006950" y="556850"/>
            <a:ext cx="2928600" cy="6867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100"/>
              <a:t>特にスタートアップは挑戦の機会が多くあるので、経験を活かした成長支援（＝経験学習のサポート）が重要かつ効果的</a:t>
            </a:r>
            <a:endParaRPr b="1" sz="11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6"/>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sz="3600"/>
              <a:t>共有タイム</a:t>
            </a:r>
            <a:endParaRPr sz="3600"/>
          </a:p>
        </p:txBody>
      </p:sp>
      <p:sp>
        <p:nvSpPr>
          <p:cNvPr id="453" name="Google Shape;453;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7"/>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p>
            <a:pPr indent="0" lvl="0" marL="0" rtl="0" algn="l">
              <a:lnSpc>
                <a:spcPct val="150000"/>
              </a:lnSpc>
              <a:spcBef>
                <a:spcPts val="0"/>
              </a:spcBef>
              <a:spcAft>
                <a:spcPts val="0"/>
              </a:spcAft>
              <a:buNone/>
            </a:pPr>
            <a:r>
              <a:rPr b="0" lang="ja" sz="3200"/>
              <a:t>みなさんがこれまでのFBで</a:t>
            </a:r>
            <a:endParaRPr b="0" sz="3200"/>
          </a:p>
          <a:p>
            <a:pPr indent="-431800" lvl="0" marL="457200" rtl="0" algn="l">
              <a:lnSpc>
                <a:spcPct val="150000"/>
              </a:lnSpc>
              <a:spcBef>
                <a:spcPts val="0"/>
              </a:spcBef>
              <a:spcAft>
                <a:spcPts val="0"/>
              </a:spcAft>
              <a:buSzPts val="3200"/>
              <a:buChar char="●"/>
            </a:pPr>
            <a:r>
              <a:rPr lang="ja" sz="3200"/>
              <a:t>困ったこと</a:t>
            </a:r>
            <a:endParaRPr sz="3200"/>
          </a:p>
          <a:p>
            <a:pPr indent="-431800" lvl="0" marL="457200" rtl="0" algn="l">
              <a:lnSpc>
                <a:spcPct val="150000"/>
              </a:lnSpc>
              <a:spcBef>
                <a:spcPts val="0"/>
              </a:spcBef>
              <a:spcAft>
                <a:spcPts val="0"/>
              </a:spcAft>
              <a:buSzPts val="3200"/>
              <a:buChar char="●"/>
            </a:pPr>
            <a:r>
              <a:rPr lang="ja" sz="3200"/>
              <a:t>難しいなと感じたこと</a:t>
            </a:r>
            <a:endParaRPr sz="3200"/>
          </a:p>
          <a:p>
            <a:pPr indent="0" lvl="0" marL="0" rtl="0" algn="l">
              <a:lnSpc>
                <a:spcPct val="150000"/>
              </a:lnSpc>
              <a:spcBef>
                <a:spcPts val="0"/>
              </a:spcBef>
              <a:spcAft>
                <a:spcPts val="0"/>
              </a:spcAft>
              <a:buNone/>
            </a:pPr>
            <a:r>
              <a:rPr b="0" lang="ja" sz="3200"/>
              <a:t>を共有して、みんなでアイデアを出し合いましょう。</a:t>
            </a:r>
            <a:endParaRPr b="0" sz="3200"/>
          </a:p>
        </p:txBody>
      </p:sp>
      <p:sp>
        <p:nvSpPr>
          <p:cNvPr id="459" name="Google Shape;459;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ontractS">
  <a:themeElements>
    <a:clrScheme name="Simple Light">
      <a:dk1>
        <a:srgbClr val="151515"/>
      </a:dk1>
      <a:lt1>
        <a:srgbClr val="FFFFFF"/>
      </a:lt1>
      <a:dk2>
        <a:srgbClr val="747374"/>
      </a:dk2>
      <a:lt2>
        <a:srgbClr val="CCCDCE"/>
      </a:lt2>
      <a:accent1>
        <a:srgbClr val="E5E6E5"/>
      </a:accent1>
      <a:accent2>
        <a:srgbClr val="000000"/>
      </a:accent2>
      <a:accent3>
        <a:srgbClr val="78909C"/>
      </a:accent3>
      <a:accent4>
        <a:srgbClr val="E83B18"/>
      </a:accent4>
      <a:accent5>
        <a:srgbClr val="16A294"/>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
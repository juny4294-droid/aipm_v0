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ken.shikigaku.jp/2332/"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ouken.shikigaku.jp/2332/"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d0bfc539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d0bfc539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d0bfc5397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d0bfc5397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bfa4ba3b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bfa4ba3b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bfa4ba3b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bfa4ba3b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0bfc5397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0bfc5397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d0bfc5397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d0bfc5397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d0bfc5397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d0bfc5397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d0bfc5397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d0bfc5397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d0bfc5397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d0bfc5397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d0bfc5397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d0bfc5397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d0bfc5397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d0bfc5397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solidFill>
                  <a:schemeClr val="dk1"/>
                </a:solidFill>
              </a:rPr>
              <a:t>成長を促し目的へ近づく</a:t>
            </a: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変化に適応し目的へ近づく</a:t>
            </a: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目線を揃えて自律</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81d2b430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81d2b430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u="sng">
                <a:solidFill>
                  <a:schemeClr val="hlink"/>
                </a:solidFill>
                <a:hlinkClick r:id="rId2"/>
              </a:rPr>
              <a:t>https://souken.shikigaku.jp/2332/</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bfa4ba3b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bfa4ba3b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u="sng">
                <a:solidFill>
                  <a:schemeClr val="hlink"/>
                </a:solidFill>
                <a:hlinkClick r:id="rId2"/>
              </a:rPr>
              <a:t>https://souken.shikigaku.jp/2332/</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81d2b430b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81d2b430b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d0bfc5397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d0bfc5397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81d2b430b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81d2b430b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パニックゾーン：高い目標を掲げたもののどうアクションしたら良いか分からず放置されて立ち止まっている状態</a:t>
            </a:r>
            <a:endParaRPr/>
          </a:p>
          <a:p>
            <a:pPr indent="0" lvl="0" marL="0" rtl="0" algn="l">
              <a:spcBef>
                <a:spcPts val="0"/>
              </a:spcBef>
              <a:spcAft>
                <a:spcPts val="0"/>
              </a:spcAft>
              <a:buNone/>
            </a:pPr>
            <a:r>
              <a:rPr lang="ja"/>
              <a:t>コンフォートゾーン：面倒見が良すぎて居心地の良い現実の状態に収まっており出てこようとしない状態</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bfa4ba3b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bfa4ba3b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d0bfc5397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d0bfc5397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d0bfc5397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d0bfc5397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d0bfc5397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d0bfc5397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81d2b430b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81d2b430b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81d2b430b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81d2b430b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d0bfc5397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d0bfc5397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bfa4ba3b1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cbfa4ba3b1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81d2b430b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81d2b430b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bfa4ba3b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bfa4ba3b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bfa4ba3b1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bfa4ba3b1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bfa4ba3b1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bfa4ba3b1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bfa4ba3b1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cbfa4ba3b1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bfa4ba3b1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cbfa4ba3b1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cbfa4ba3b1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cbfa4ba3b1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bfa4ba3b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bfa4ba3b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cbfa4ba3b1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cbfa4ba3b1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bfa4ba3b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cbfa4ba3b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bfa4ba3b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bfa4ba3b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cbfa4ba3b1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cbfa4ba3b1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cbfa4ba3b1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cbfa4ba3b1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cbfa4ba3b1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cbfa4ba3b1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cbfa4ba3b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cbfa4ba3b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cbfa4ba3b1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cbfa4ba3b1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60000" y="744575"/>
            <a:ext cx="84240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b="1"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2" name="Google Shape;12;p2"/>
          <p:cNvSpPr txBox="1"/>
          <p:nvPr>
            <p:ph idx="1" type="subTitle"/>
          </p:nvPr>
        </p:nvSpPr>
        <p:spPr>
          <a:xfrm>
            <a:off x="360000" y="2834125"/>
            <a:ext cx="84240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4" name="Shape 14"/>
        <p:cNvGrpSpPr/>
        <p:nvPr/>
      </p:nvGrpSpPr>
      <p:grpSpPr>
        <a:xfrm>
          <a:off x="0" y="0"/>
          <a:ext cx="0" cy="0"/>
          <a:chOff x="0" y="0"/>
          <a:chExt cx="0" cy="0"/>
        </a:xfrm>
      </p:grpSpPr>
      <p:sp>
        <p:nvSpPr>
          <p:cNvPr id="15" name="Google Shape;15;p3"/>
          <p:cNvSpPr/>
          <p:nvPr/>
        </p:nvSpPr>
        <p:spPr>
          <a:xfrm>
            <a:off x="125"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360000" y="2150850"/>
            <a:ext cx="8424000" cy="841800"/>
          </a:xfrm>
          <a:prstGeom prst="rect">
            <a:avLst/>
          </a:prstGeom>
          <a:noFill/>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60000" y="1152475"/>
            <a:ext cx="84240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60000" y="1152475"/>
            <a:ext cx="39033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80700" y="1152475"/>
            <a:ext cx="39033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カスタム レイアウト 2">
  <p:cSld name="CUSTOM_1">
    <p:spTree>
      <p:nvGrpSpPr>
        <p:cNvPr id="30" name="Shape 30"/>
        <p:cNvGrpSpPr/>
        <p:nvPr/>
      </p:nvGrpSpPr>
      <p:grpSpPr>
        <a:xfrm>
          <a:off x="0" y="0"/>
          <a:ext cx="0" cy="0"/>
          <a:chOff x="0" y="0"/>
          <a:chExt cx="0" cy="0"/>
        </a:xfrm>
      </p:grpSpPr>
      <p:sp>
        <p:nvSpPr>
          <p:cNvPr id="31" name="Google Shape;31;p7"/>
          <p:cNvSpPr txBox="1"/>
          <p:nvPr>
            <p:ph type="title"/>
          </p:nvPr>
        </p:nvSpPr>
        <p:spPr>
          <a:xfrm>
            <a:off x="360000" y="360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8"/>
          <p:cNvSpPr txBox="1"/>
          <p:nvPr>
            <p:ph type="title"/>
          </p:nvPr>
        </p:nvSpPr>
        <p:spPr>
          <a:xfrm>
            <a:off x="360000" y="360000"/>
            <a:ext cx="4050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8"/>
          <p:cNvSpPr txBox="1"/>
          <p:nvPr>
            <p:ph idx="1" type="body"/>
          </p:nvPr>
        </p:nvSpPr>
        <p:spPr>
          <a:xfrm>
            <a:off x="360000" y="1389600"/>
            <a:ext cx="4050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0"/>
              </a:spcBef>
              <a:spcAft>
                <a:spcPts val="0"/>
              </a:spcAft>
              <a:buClr>
                <a:schemeClr val="dk1"/>
              </a:buClr>
              <a:buSzPts val="1200"/>
              <a:buChar char="○"/>
              <a:defRPr sz="1200">
                <a:solidFill>
                  <a:schemeClr val="dk1"/>
                </a:solidFill>
              </a:defRPr>
            </a:lvl2pPr>
            <a:lvl3pPr indent="-304800" lvl="2" marL="1371600">
              <a:spcBef>
                <a:spcPts val="0"/>
              </a:spcBef>
              <a:spcAft>
                <a:spcPts val="0"/>
              </a:spcAft>
              <a:buClr>
                <a:schemeClr val="dk1"/>
              </a:buClr>
              <a:buSzPts val="1200"/>
              <a:buChar char="■"/>
              <a:defRPr sz="1200">
                <a:solidFill>
                  <a:schemeClr val="dk1"/>
                </a:solidFill>
              </a:defRPr>
            </a:lvl3pPr>
            <a:lvl4pPr indent="-304800" lvl="3" marL="1828800">
              <a:spcBef>
                <a:spcPts val="0"/>
              </a:spcBef>
              <a:spcAft>
                <a:spcPts val="0"/>
              </a:spcAft>
              <a:buClr>
                <a:schemeClr val="dk1"/>
              </a:buClr>
              <a:buSzPts val="1200"/>
              <a:buChar char="●"/>
              <a:defRPr sz="1200">
                <a:solidFill>
                  <a:schemeClr val="dk1"/>
                </a:solidFill>
              </a:defRPr>
            </a:lvl4pPr>
            <a:lvl5pPr indent="-304800" lvl="4" marL="2286000">
              <a:spcBef>
                <a:spcPts val="0"/>
              </a:spcBef>
              <a:spcAft>
                <a:spcPts val="0"/>
              </a:spcAft>
              <a:buClr>
                <a:schemeClr val="dk1"/>
              </a:buClr>
              <a:buSzPts val="1200"/>
              <a:buChar char="○"/>
              <a:defRPr sz="1200">
                <a:solidFill>
                  <a:schemeClr val="dk1"/>
                </a:solidFill>
              </a:defRPr>
            </a:lvl5pPr>
            <a:lvl6pPr indent="-304800" lvl="5" marL="2743200">
              <a:spcBef>
                <a:spcPts val="0"/>
              </a:spcBef>
              <a:spcAft>
                <a:spcPts val="0"/>
              </a:spcAft>
              <a:buClr>
                <a:schemeClr val="dk1"/>
              </a:buClr>
              <a:buSzPts val="1200"/>
              <a:buChar char="■"/>
              <a:defRPr sz="1200">
                <a:solidFill>
                  <a:schemeClr val="dk1"/>
                </a:solidFill>
              </a:defRPr>
            </a:lvl6pPr>
            <a:lvl7pPr indent="-304800" lvl="6" marL="3200400">
              <a:spcBef>
                <a:spcPts val="0"/>
              </a:spcBef>
              <a:spcAft>
                <a:spcPts val="0"/>
              </a:spcAft>
              <a:buClr>
                <a:schemeClr val="dk1"/>
              </a:buClr>
              <a:buSzPts val="1200"/>
              <a:buChar char="●"/>
              <a:defRPr sz="1200">
                <a:solidFill>
                  <a:schemeClr val="dk1"/>
                </a:solidFill>
              </a:defRPr>
            </a:lvl7pPr>
            <a:lvl8pPr indent="-304800" lvl="7" marL="3657600">
              <a:spcBef>
                <a:spcPts val="0"/>
              </a:spcBef>
              <a:spcAft>
                <a:spcPts val="0"/>
              </a:spcAft>
              <a:buClr>
                <a:schemeClr val="dk1"/>
              </a:buClr>
              <a:buSzPts val="1200"/>
              <a:buChar char="○"/>
              <a:defRPr sz="1200">
                <a:solidFill>
                  <a:schemeClr val="dk1"/>
                </a:solidFill>
              </a:defRPr>
            </a:lvl8pPr>
            <a:lvl9pPr indent="-304800" lvl="8" marL="4114800">
              <a:spcBef>
                <a:spcPts val="0"/>
              </a:spcBef>
              <a:spcAft>
                <a:spcPts val="0"/>
              </a:spcAft>
              <a:buClr>
                <a:schemeClr val="dk1"/>
              </a:buClr>
              <a:buSzPts val="1200"/>
              <a:buChar char="■"/>
              <a:defRPr sz="1200">
                <a:solidFill>
                  <a:schemeClr val="dk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左揃え　Light">
  <p:cSld name="MAIN_POINT">
    <p:spTree>
      <p:nvGrpSpPr>
        <p:cNvPr id="36" name="Shape 36"/>
        <p:cNvGrpSpPr/>
        <p:nvPr/>
      </p:nvGrpSpPr>
      <p:grpSpPr>
        <a:xfrm>
          <a:off x="0" y="0"/>
          <a:ext cx="0" cy="0"/>
          <a:chOff x="0" y="0"/>
          <a:chExt cx="0" cy="0"/>
        </a:xfrm>
      </p:grpSpPr>
      <p:sp>
        <p:nvSpPr>
          <p:cNvPr id="37" name="Google Shape;37;p9"/>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p:cSld name="MAIN_POINT_1">
    <p:spTree>
      <p:nvGrpSpPr>
        <p:cNvPr id="39" name="Shape 39"/>
        <p:cNvGrpSpPr/>
        <p:nvPr/>
      </p:nvGrpSpPr>
      <p:grpSpPr>
        <a:xfrm>
          <a:off x="0" y="0"/>
          <a:ext cx="0" cy="0"/>
          <a:chOff x="0" y="0"/>
          <a:chExt cx="0" cy="0"/>
        </a:xfrm>
      </p:grpSpPr>
      <p:sp>
        <p:nvSpPr>
          <p:cNvPr id="40" name="Google Shape;40;p10"/>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2">
  <p:cSld name="MAIN_POINT_1_3">
    <p:spTree>
      <p:nvGrpSpPr>
        <p:cNvPr id="42" name="Shape 42"/>
        <p:cNvGrpSpPr/>
        <p:nvPr/>
      </p:nvGrpSpPr>
      <p:grpSpPr>
        <a:xfrm>
          <a:off x="0" y="0"/>
          <a:ext cx="0" cy="0"/>
          <a:chOff x="0" y="0"/>
          <a:chExt cx="0" cy="0"/>
        </a:xfrm>
      </p:grpSpPr>
      <p:sp>
        <p:nvSpPr>
          <p:cNvPr id="43" name="Google Shape;43;p11"/>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2 　中央揃え　Light">
  <p:cSld name="MAIN_POINT_1_2">
    <p:spTree>
      <p:nvGrpSpPr>
        <p:cNvPr id="45" name="Shape 45"/>
        <p:cNvGrpSpPr/>
        <p:nvPr/>
      </p:nvGrpSpPr>
      <p:grpSpPr>
        <a:xfrm>
          <a:off x="0" y="0"/>
          <a:ext cx="0" cy="0"/>
          <a:chOff x="0" y="0"/>
          <a:chExt cx="0" cy="0"/>
        </a:xfrm>
      </p:grpSpPr>
      <p:sp>
        <p:nvSpPr>
          <p:cNvPr id="46" name="Google Shape;46;p12"/>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7" name="Google Shape;4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48" name="Google Shape;48;p12"/>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2 　中央揃え　Light 1">
  <p:cSld name="MAIN_POINT_1_2_2">
    <p:spTree>
      <p:nvGrpSpPr>
        <p:cNvPr id="49" name="Shape 49"/>
        <p:cNvGrpSpPr/>
        <p:nvPr/>
      </p:nvGrpSpPr>
      <p:grpSpPr>
        <a:xfrm>
          <a:off x="0" y="0"/>
          <a:ext cx="0" cy="0"/>
          <a:chOff x="0" y="0"/>
          <a:chExt cx="0" cy="0"/>
        </a:xfrm>
      </p:grpSpPr>
      <p:sp>
        <p:nvSpPr>
          <p:cNvPr id="50" name="Google Shape;50;p13"/>
          <p:cNvSpPr/>
          <p:nvPr/>
        </p:nvSpPr>
        <p:spPr>
          <a:xfrm>
            <a:off x="180925" y="184700"/>
            <a:ext cx="8783100" cy="4760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3"/>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53" name="Google Shape;53;p13"/>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３ 　中央揃え　Light ">
  <p:cSld name="MAIN_POINT_1_2_1">
    <p:spTree>
      <p:nvGrpSpPr>
        <p:cNvPr id="54" name="Shape 54"/>
        <p:cNvGrpSpPr/>
        <p:nvPr/>
      </p:nvGrpSpPr>
      <p:grpSpPr>
        <a:xfrm>
          <a:off x="0" y="0"/>
          <a:ext cx="0" cy="0"/>
          <a:chOff x="0" y="0"/>
          <a:chExt cx="0" cy="0"/>
        </a:xfrm>
      </p:grpSpPr>
      <p:sp>
        <p:nvSpPr>
          <p:cNvPr id="55" name="Google Shape;55;p14"/>
          <p:cNvSpPr txBox="1"/>
          <p:nvPr>
            <p:ph type="title"/>
          </p:nvPr>
        </p:nvSpPr>
        <p:spPr>
          <a:xfrm>
            <a:off x="360000" y="1740025"/>
            <a:ext cx="8424000" cy="2119200"/>
          </a:xfrm>
          <a:prstGeom prst="rect">
            <a:avLst/>
          </a:prstGeom>
        </p:spPr>
        <p:txBody>
          <a:bodyPr anchorCtr="0" anchor="ctr" bIns="91425" lIns="91425" spcFirstLastPara="1" rIns="91425" wrap="square" tIns="91425">
            <a:normAutofit/>
          </a:bodyPr>
          <a:lstStyle>
            <a:lvl1pPr lvl="0" rtl="0">
              <a:spcBef>
                <a:spcPts val="0"/>
              </a:spcBef>
              <a:spcAft>
                <a:spcPts val="0"/>
              </a:spcAft>
              <a:buSzPts val="2400"/>
              <a:buNone/>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6" name="Google Shape;5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4"/>
          <p:cNvSpPr txBox="1"/>
          <p:nvPr>
            <p:ph idx="1" type="subTitle"/>
          </p:nvPr>
        </p:nvSpPr>
        <p:spPr>
          <a:xfrm>
            <a:off x="360000" y="1066250"/>
            <a:ext cx="84240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３ 　中央揃え　Light  1">
  <p:cSld name="MAIN_POINT_1_2_1_1">
    <p:spTree>
      <p:nvGrpSpPr>
        <p:cNvPr id="58" name="Shape 58"/>
        <p:cNvGrpSpPr/>
        <p:nvPr/>
      </p:nvGrpSpPr>
      <p:grpSpPr>
        <a:xfrm>
          <a:off x="0" y="0"/>
          <a:ext cx="0" cy="0"/>
          <a:chOff x="0" y="0"/>
          <a:chExt cx="0" cy="0"/>
        </a:xfrm>
      </p:grpSpPr>
      <p:sp>
        <p:nvSpPr>
          <p:cNvPr id="59" name="Google Shape;59;p15"/>
          <p:cNvSpPr txBox="1"/>
          <p:nvPr>
            <p:ph type="title"/>
          </p:nvPr>
        </p:nvSpPr>
        <p:spPr>
          <a:xfrm>
            <a:off x="360000" y="1740025"/>
            <a:ext cx="8424000" cy="2119200"/>
          </a:xfrm>
          <a:prstGeom prst="rect">
            <a:avLst/>
          </a:prstGeom>
        </p:spPr>
        <p:txBody>
          <a:bodyPr anchorCtr="0" anchor="ctr" bIns="91425" lIns="91425" spcFirstLastPara="1" rIns="91425" wrap="square" tIns="91425">
            <a:normAutofit/>
          </a:bodyPr>
          <a:lstStyle>
            <a:lvl1pPr lvl="0" rtl="0">
              <a:spcBef>
                <a:spcPts val="0"/>
              </a:spcBef>
              <a:spcAft>
                <a:spcPts val="0"/>
              </a:spcAft>
              <a:buSzPts val="2400"/>
              <a:buNone/>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5"/>
          <p:cNvSpPr txBox="1"/>
          <p:nvPr>
            <p:ph idx="1" type="subTitle"/>
          </p:nvPr>
        </p:nvSpPr>
        <p:spPr>
          <a:xfrm>
            <a:off x="360000" y="360000"/>
            <a:ext cx="8424000" cy="792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3000"/>
              <a:buNone/>
              <a:defRPr b="1" sz="30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左揃え　Dark">
  <p:cSld name="MAIN_POINT_2">
    <p:bg>
      <p:bgPr>
        <a:solidFill>
          <a:schemeClr val="dk1"/>
        </a:solid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要点 　中央揃え　Light 1">
  <p:cSld name="MAIN_POINT_1_1">
    <p:bg>
      <p:bgPr>
        <a:solidFill>
          <a:schemeClr val="dk1"/>
        </a:solidFill>
      </p:bgPr>
    </p:bg>
    <p:spTree>
      <p:nvGrpSpPr>
        <p:cNvPr id="65" name="Shape 65"/>
        <p:cNvGrpSpPr/>
        <p:nvPr/>
      </p:nvGrpSpPr>
      <p:grpSpPr>
        <a:xfrm>
          <a:off x="0" y="0"/>
          <a:ext cx="0" cy="0"/>
          <a:chOff x="0" y="0"/>
          <a:chExt cx="0" cy="0"/>
        </a:xfrm>
      </p:grpSpPr>
      <p:sp>
        <p:nvSpPr>
          <p:cNvPr id="66" name="Google Shape;66;p17"/>
          <p:cNvSpPr txBox="1"/>
          <p:nvPr>
            <p:ph type="title"/>
          </p:nvPr>
        </p:nvSpPr>
        <p:spPr>
          <a:xfrm>
            <a:off x="360000" y="450150"/>
            <a:ext cx="8424000" cy="4090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4800"/>
              <a:buNone/>
              <a:defRPr sz="48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7" name="Google Shape;6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 name="Shape 68"/>
        <p:cNvGrpSpPr/>
        <p:nvPr/>
      </p:nvGrpSpPr>
      <p:grpSpPr>
        <a:xfrm>
          <a:off x="0" y="0"/>
          <a:ext cx="0" cy="0"/>
          <a:chOff x="0" y="0"/>
          <a:chExt cx="0" cy="0"/>
        </a:xfrm>
      </p:grpSpPr>
      <p:sp>
        <p:nvSpPr>
          <p:cNvPr id="69" name="Google Shape;69;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8"/>
          <p:cNvSpPr txBox="1"/>
          <p:nvPr>
            <p:ph type="title"/>
          </p:nvPr>
        </p:nvSpPr>
        <p:spPr>
          <a:xfrm>
            <a:off x="360000" y="1233175"/>
            <a:ext cx="39507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1" name="Google Shape;71;p18"/>
          <p:cNvSpPr txBox="1"/>
          <p:nvPr>
            <p:ph idx="1" type="subTitle"/>
          </p:nvPr>
        </p:nvSpPr>
        <p:spPr>
          <a:xfrm>
            <a:off x="360000" y="2803075"/>
            <a:ext cx="40500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2" name="Google Shape;72;p18"/>
          <p:cNvSpPr txBox="1"/>
          <p:nvPr>
            <p:ph idx="2" type="body"/>
          </p:nvPr>
        </p:nvSpPr>
        <p:spPr>
          <a:xfrm>
            <a:off x="4924250" y="724075"/>
            <a:ext cx="38523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p19"/>
          <p:cNvSpPr txBox="1"/>
          <p:nvPr>
            <p:ph idx="1" type="body"/>
          </p:nvPr>
        </p:nvSpPr>
        <p:spPr>
          <a:xfrm>
            <a:off x="360000" y="4230575"/>
            <a:ext cx="59505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sz="1400"/>
            </a:lvl1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7" name="Shape 77"/>
        <p:cNvGrpSpPr/>
        <p:nvPr/>
      </p:nvGrpSpPr>
      <p:grpSpPr>
        <a:xfrm>
          <a:off x="0" y="0"/>
          <a:ext cx="0" cy="0"/>
          <a:chOff x="0" y="0"/>
          <a:chExt cx="0" cy="0"/>
        </a:xfrm>
      </p:grpSpPr>
      <p:sp>
        <p:nvSpPr>
          <p:cNvPr id="78" name="Google Shape;78;p2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9" name="Google Shape;79;p20"/>
          <p:cNvSpPr txBox="1"/>
          <p:nvPr>
            <p:ph idx="1" type="body"/>
          </p:nvPr>
        </p:nvSpPr>
        <p:spPr>
          <a:xfrm>
            <a:off x="360000" y="3152225"/>
            <a:ext cx="84240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80" name="Google Shape;8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カスタム レイアウト 1">
  <p:cSld name="CUSTOM">
    <p:spTree>
      <p:nvGrpSpPr>
        <p:cNvPr id="83" name="Shape 83"/>
        <p:cNvGrpSpPr/>
        <p:nvPr/>
      </p:nvGrpSpPr>
      <p:grpSpPr>
        <a:xfrm>
          <a:off x="0" y="0"/>
          <a:ext cx="0" cy="0"/>
          <a:chOff x="0" y="0"/>
          <a:chExt cx="0" cy="0"/>
        </a:xfrm>
      </p:grpSpPr>
      <p:sp>
        <p:nvSpPr>
          <p:cNvPr id="84" name="Google Shape;84;p22"/>
          <p:cNvSpPr/>
          <p:nvPr/>
        </p:nvSpPr>
        <p:spPr>
          <a:xfrm>
            <a:off x="0" y="0"/>
            <a:ext cx="3056400" cy="51435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2"/>
          <p:cNvSpPr txBox="1"/>
          <p:nvPr>
            <p:ph type="title"/>
          </p:nvPr>
        </p:nvSpPr>
        <p:spPr>
          <a:xfrm>
            <a:off x="360000" y="36000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 name="Google Shape;86;p22"/>
          <p:cNvSpPr txBox="1"/>
          <p:nvPr>
            <p:ph idx="1" type="body"/>
          </p:nvPr>
        </p:nvSpPr>
        <p:spPr>
          <a:xfrm>
            <a:off x="3313375" y="1152475"/>
            <a:ext cx="54705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bg>
      <p:bgPr>
        <a:solidFill>
          <a:schemeClr val="accent1"/>
        </a:solidFill>
      </p:bgPr>
    </p:bg>
    <p:spTree>
      <p:nvGrpSpPr>
        <p:cNvPr id="87" name="Shape 87"/>
        <p:cNvGrpSpPr/>
        <p:nvPr/>
      </p:nvGrpSpPr>
      <p:grpSpPr>
        <a:xfrm>
          <a:off x="0" y="0"/>
          <a:ext cx="0" cy="0"/>
          <a:chOff x="0" y="0"/>
          <a:chExt cx="0" cy="0"/>
        </a:xfrm>
      </p:grpSpPr>
      <p:sp>
        <p:nvSpPr>
          <p:cNvPr id="88" name="Google Shape;88;p23"/>
          <p:cNvSpPr txBox="1"/>
          <p:nvPr>
            <p:ph idx="1" type="body"/>
          </p:nvPr>
        </p:nvSpPr>
        <p:spPr>
          <a:xfrm>
            <a:off x="383423" y="2358826"/>
            <a:ext cx="8238000" cy="641700"/>
          </a:xfrm>
          <a:prstGeom prst="rect">
            <a:avLst/>
          </a:prstGeom>
          <a:noFill/>
          <a:ln>
            <a:noFill/>
          </a:ln>
        </p:spPr>
        <p:txBody>
          <a:bodyPr anchorCtr="0" anchor="t" bIns="34275" lIns="0" spcFirstLastPara="1" rIns="0" wrap="square" tIns="34275">
            <a:normAutofit/>
          </a:bodyPr>
          <a:lstStyle>
            <a:lvl1pPr indent="-228600" lvl="0" marL="457200" marR="0" rtl="0" algn="l">
              <a:spcBef>
                <a:spcPts val="70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9" name="Google Shape;89;p23"/>
          <p:cNvSpPr txBox="1"/>
          <p:nvPr>
            <p:ph idx="2" type="body"/>
          </p:nvPr>
        </p:nvSpPr>
        <p:spPr>
          <a:xfrm>
            <a:off x="383423" y="3000573"/>
            <a:ext cx="8238000" cy="641700"/>
          </a:xfrm>
          <a:prstGeom prst="rect">
            <a:avLst/>
          </a:prstGeom>
          <a:noFill/>
          <a:ln>
            <a:noFill/>
          </a:ln>
        </p:spPr>
        <p:txBody>
          <a:bodyPr anchorCtr="0" anchor="t" bIns="34275" lIns="0" spcFirstLastPara="1" rIns="0" wrap="square" tIns="34275">
            <a:normAutofit/>
          </a:bodyPr>
          <a:lstStyle>
            <a:lvl1pPr indent="-228600" lvl="0" marL="457200" marR="0" rtl="0" algn="l">
              <a:spcBef>
                <a:spcPts val="30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0" name="Google Shape;90;p23"/>
          <p:cNvSpPr txBox="1"/>
          <p:nvPr>
            <p:ph idx="3" type="body"/>
          </p:nvPr>
        </p:nvSpPr>
        <p:spPr>
          <a:xfrm>
            <a:off x="383423" y="1618450"/>
            <a:ext cx="5345700" cy="418200"/>
          </a:xfrm>
          <a:prstGeom prst="rect">
            <a:avLst/>
          </a:prstGeom>
          <a:noFill/>
          <a:ln>
            <a:noFill/>
          </a:ln>
        </p:spPr>
        <p:txBody>
          <a:bodyPr anchorCtr="0" anchor="t" bIns="34275" lIns="0" spcFirstLastPara="1" rIns="0" wrap="square" tIns="34275">
            <a:normAutofit/>
          </a:bodyPr>
          <a:lstStyle>
            <a:lvl1pPr indent="-228600" lvl="0" marL="457200" marR="0" rtl="0" algn="l">
              <a:lnSpc>
                <a:spcPct val="100000"/>
              </a:lnSpc>
              <a:spcBef>
                <a:spcPts val="40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1" name="Google Shape;91;p23"/>
          <p:cNvSpPr txBox="1"/>
          <p:nvPr>
            <p:ph idx="4" type="body"/>
          </p:nvPr>
        </p:nvSpPr>
        <p:spPr>
          <a:xfrm>
            <a:off x="383423" y="4055791"/>
            <a:ext cx="5345700" cy="641700"/>
          </a:xfrm>
          <a:prstGeom prst="rect">
            <a:avLst/>
          </a:prstGeom>
          <a:noFill/>
          <a:ln>
            <a:noFill/>
          </a:ln>
        </p:spPr>
        <p:txBody>
          <a:bodyPr anchorCtr="0" anchor="b" bIns="34275" lIns="0" spcFirstLastPara="1" rIns="0" wrap="square" tIns="34275">
            <a:normAutofit/>
          </a:bodyPr>
          <a:lstStyle>
            <a:lvl1pPr indent="-228600" lvl="0" marL="457200" marR="0" rtl="0" algn="l">
              <a:lnSpc>
                <a:spcPct val="140000"/>
              </a:lnSpc>
              <a:spcBef>
                <a:spcPts val="0"/>
              </a:spcBef>
              <a:spcAft>
                <a:spcPts val="0"/>
              </a:spcAft>
              <a:buClr>
                <a:schemeClr val="lt1"/>
              </a:buClr>
              <a:buSzPts val="1100"/>
              <a:buFont typeface="Arial"/>
              <a:buNone/>
              <a:defRPr b="0" i="0" sz="1100" u="none" cap="none" strike="noStrike">
                <a:solidFill>
                  <a:schemeClr val="lt1"/>
                </a:solidFill>
                <a:latin typeface="Arial"/>
                <a:ea typeface="Arial"/>
                <a:cs typeface="Arial"/>
                <a:sym typeface="Arial"/>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12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1200"/>
              </a:spcBef>
              <a:spcAft>
                <a:spcPts val="12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アジェンダ">
  <p:cSld name="7_アジェンダ">
    <p:spTree>
      <p:nvGrpSpPr>
        <p:cNvPr id="92" name="Shape 92"/>
        <p:cNvGrpSpPr/>
        <p:nvPr/>
      </p:nvGrpSpPr>
      <p:grpSpPr>
        <a:xfrm>
          <a:off x="0" y="0"/>
          <a:ext cx="0" cy="0"/>
          <a:chOff x="0" y="0"/>
          <a:chExt cx="0" cy="0"/>
        </a:xfrm>
      </p:grpSpPr>
      <p:sp>
        <p:nvSpPr>
          <p:cNvPr id="93" name="Google Shape;93;p24"/>
          <p:cNvSpPr txBox="1"/>
          <p:nvPr>
            <p:ph idx="12" type="sldNum"/>
          </p:nvPr>
        </p:nvSpPr>
        <p:spPr>
          <a:xfrm>
            <a:off x="8630888" y="4901717"/>
            <a:ext cx="342000" cy="1425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BFBFBF"/>
                </a:solidFill>
                <a:latin typeface="HiraKakuPro-W3"/>
                <a:ea typeface="HiraKakuPro-W3"/>
                <a:cs typeface="HiraKakuPro-W3"/>
                <a:sym typeface="HiraKakuPro-W3"/>
              </a:defRPr>
            </a:lvl9pPr>
          </a:lstStyle>
          <a:p>
            <a:pPr indent="0" lvl="0" marL="0" rtl="0" algn="r">
              <a:spcBef>
                <a:spcPts val="0"/>
              </a:spcBef>
              <a:spcAft>
                <a:spcPts val="0"/>
              </a:spcAft>
              <a:buNone/>
            </a:pPr>
            <a:fld id="{00000000-1234-1234-1234-123412341234}" type="slidenum">
              <a:rPr lang="ja"/>
              <a:t>‹#›</a:t>
            </a:fld>
            <a:endParaRPr/>
          </a:p>
        </p:txBody>
      </p:sp>
      <p:sp>
        <p:nvSpPr>
          <p:cNvPr id="94" name="Google Shape;94;p24"/>
          <p:cNvSpPr txBox="1"/>
          <p:nvPr>
            <p:ph type="title"/>
          </p:nvPr>
        </p:nvSpPr>
        <p:spPr>
          <a:xfrm>
            <a:off x="383425" y="294450"/>
            <a:ext cx="7151400" cy="289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1400"/>
              <a:buFont typeface="HiraKakuPro-W3"/>
              <a:buNone/>
              <a:defRPr b="1" i="0" sz="1400" u="none" cap="none" strike="noStrike">
                <a:solidFill>
                  <a:schemeClr val="accent1"/>
                </a:solidFill>
                <a:latin typeface="HiraKakuPro-W3"/>
                <a:ea typeface="HiraKakuPro-W3"/>
                <a:cs typeface="HiraKakuPro-W3"/>
                <a:sym typeface="HiraKakuPro-W3"/>
              </a:defRPr>
            </a:lvl1pPr>
            <a:lvl2pPr lvl="1"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2pPr>
            <a:lvl3pPr lvl="2"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3pPr>
            <a:lvl4pPr lvl="3"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4pPr>
            <a:lvl5pPr lvl="4"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5pPr>
            <a:lvl6pPr lvl="5"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6pPr>
            <a:lvl7pPr lvl="6"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7pPr>
            <a:lvl8pPr lvl="7"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8pPr>
            <a:lvl9pPr lvl="8" marR="0" rtl="0" algn="l">
              <a:lnSpc>
                <a:spcPct val="100000"/>
              </a:lnSpc>
              <a:spcBef>
                <a:spcPts val="0"/>
              </a:spcBef>
              <a:spcAft>
                <a:spcPts val="0"/>
              </a:spcAft>
              <a:buClr>
                <a:srgbClr val="000000"/>
              </a:buClr>
              <a:buSzPts val="1100"/>
              <a:buFont typeface="HiraKakuPro-W3"/>
              <a:buNone/>
              <a:defRPr b="0" i="0" sz="1400" u="none" cap="none" strike="noStrike">
                <a:solidFill>
                  <a:srgbClr val="000000"/>
                </a:solidFill>
                <a:latin typeface="HiraKakuPro-W3"/>
                <a:ea typeface="HiraKakuPro-W3"/>
                <a:cs typeface="HiraKakuPro-W3"/>
                <a:sym typeface="HiraKakuPro-W3"/>
              </a:defRPr>
            </a:lvl9pPr>
          </a:lstStyle>
          <a:p/>
        </p:txBody>
      </p:sp>
      <p:sp>
        <p:nvSpPr>
          <p:cNvPr id="95" name="Google Shape;95;p24"/>
          <p:cNvSpPr txBox="1"/>
          <p:nvPr>
            <p:ph idx="1" type="body"/>
          </p:nvPr>
        </p:nvSpPr>
        <p:spPr>
          <a:xfrm>
            <a:off x="383381" y="764697"/>
            <a:ext cx="8377200" cy="1614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30000"/>
              </a:lnSpc>
              <a:spcBef>
                <a:spcPts val="0"/>
              </a:spcBef>
              <a:spcAft>
                <a:spcPts val="0"/>
              </a:spcAft>
              <a:buClr>
                <a:srgbClr val="404040"/>
              </a:buClr>
              <a:buSzPts val="1100"/>
              <a:buFont typeface="HiraKakuPro-W3"/>
              <a:buNone/>
              <a:defRPr b="0" i="0" sz="1100" u="none" cap="none" strike="noStrike">
                <a:solidFill>
                  <a:srgbClr val="404040"/>
                </a:solidFill>
                <a:latin typeface="HiraKakuPro-W3"/>
                <a:ea typeface="HiraKakuPro-W3"/>
                <a:cs typeface="HiraKakuPro-W3"/>
                <a:sym typeface="HiraKakuPro-W3"/>
              </a:defRPr>
            </a:lvl1pPr>
            <a:lvl2pPr indent="-298450" lvl="1" marL="9144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2pPr>
            <a:lvl3pPr indent="-298450" lvl="2" marL="13716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3pPr>
            <a:lvl4pPr indent="-298450" lvl="3" marL="18288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4pPr>
            <a:lvl5pPr indent="-298450" lvl="4" marL="2286000" marR="0" rtl="0" algn="l">
              <a:lnSpc>
                <a:spcPct val="150000"/>
              </a:lnSpc>
              <a:spcBef>
                <a:spcPts val="0"/>
              </a:spcBef>
              <a:spcAft>
                <a:spcPts val="0"/>
              </a:spcAft>
              <a:buClr>
                <a:srgbClr val="404040"/>
              </a:buClr>
              <a:buSzPts val="1100"/>
              <a:buFont typeface="HiraKakuPro-W3"/>
              <a:buChar char="»"/>
              <a:defRPr b="0" i="0" sz="1100" u="none" cap="none" strike="noStrike">
                <a:solidFill>
                  <a:srgbClr val="404040"/>
                </a:solidFill>
                <a:latin typeface="HiraKakuPro-W3"/>
                <a:ea typeface="HiraKakuPro-W3"/>
                <a:cs typeface="HiraKakuPro-W3"/>
                <a:sym typeface="HiraKakuPro-W3"/>
              </a:defRPr>
            </a:lvl5pPr>
            <a:lvl6pPr indent="-355600" lvl="5" marL="27432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6pPr>
            <a:lvl7pPr indent="-355600" lvl="6" marL="32004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7pPr>
            <a:lvl8pPr indent="-355600" lvl="7" marL="36576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8pPr>
            <a:lvl9pPr indent="-355600" lvl="8" marL="4114800" marR="0" rtl="0" algn="l">
              <a:lnSpc>
                <a:spcPct val="100000"/>
              </a:lnSpc>
              <a:spcBef>
                <a:spcPts val="400"/>
              </a:spcBef>
              <a:spcAft>
                <a:spcPts val="0"/>
              </a:spcAft>
              <a:buClr>
                <a:schemeClr val="dk1"/>
              </a:buClr>
              <a:buSzPts val="2000"/>
              <a:buFont typeface="HiraKakuPro-W3"/>
              <a:buChar char="•"/>
              <a:defRPr b="0" i="0" sz="2000" u="none" cap="none" strike="noStrike">
                <a:solidFill>
                  <a:schemeClr val="dk1"/>
                </a:solidFill>
                <a:latin typeface="HiraKakuPro-W3"/>
                <a:ea typeface="HiraKakuPro-W3"/>
                <a:cs typeface="HiraKakuPro-W3"/>
                <a:sym typeface="HiraKakuPro-W3"/>
              </a:defRPr>
            </a:lvl9pPr>
          </a:lstStyle>
          <a:p/>
        </p:txBody>
      </p:sp>
    </p:spTree>
  </p:cSld>
  <p:clrMapOvr>
    <a:masterClrMapping/>
  </p:clrMapOvr>
  <p:extLst>
    <p:ext uri="{DCECCB84-F9BA-43D5-87BE-67443E8EF086}">
      <p15:sldGuideLst>
        <p15:guide id="1" orient="horz" pos="1620">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36000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60000" y="1152475"/>
            <a:ext cx="8424000" cy="3416400"/>
          </a:xfrm>
          <a:prstGeom prst="rect">
            <a:avLst/>
          </a:prstGeom>
          <a:noFill/>
          <a:ln>
            <a:noFill/>
          </a:ln>
        </p:spPr>
        <p:txBody>
          <a:bodyPr anchorCtr="0" anchor="t" bIns="91425" lIns="91425" spcFirstLastPara="1" rIns="91425" wrap="square" tIns="91425">
            <a:normAutofit/>
          </a:bodyPr>
          <a:lstStyle>
            <a:lvl1pPr indent="-342900" lvl="0" marL="457200">
              <a:lnSpc>
                <a:spcPct val="150000"/>
              </a:lnSpc>
              <a:spcBef>
                <a:spcPts val="0"/>
              </a:spcBef>
              <a:spcAft>
                <a:spcPts val="0"/>
              </a:spcAft>
              <a:buClr>
                <a:schemeClr val="dk1"/>
              </a:buClr>
              <a:buSzPts val="1800"/>
              <a:buChar char="●"/>
              <a:defRPr sz="1800">
                <a:solidFill>
                  <a:schemeClr val="dk1"/>
                </a:solidFill>
              </a:defRPr>
            </a:lvl1pPr>
            <a:lvl2pPr indent="-317500" lvl="1" marL="914400">
              <a:lnSpc>
                <a:spcPct val="150000"/>
              </a:lnSpc>
              <a:spcBef>
                <a:spcPts val="0"/>
              </a:spcBef>
              <a:spcAft>
                <a:spcPts val="0"/>
              </a:spcAft>
              <a:buClr>
                <a:schemeClr val="dk1"/>
              </a:buClr>
              <a:buSzPts val="1400"/>
              <a:buChar char="○"/>
              <a:defRPr>
                <a:solidFill>
                  <a:schemeClr val="dk1"/>
                </a:solidFill>
              </a:defRPr>
            </a:lvl2pPr>
            <a:lvl3pPr indent="-317500" lvl="2" marL="1371600">
              <a:lnSpc>
                <a:spcPct val="150000"/>
              </a:lnSpc>
              <a:spcBef>
                <a:spcPts val="0"/>
              </a:spcBef>
              <a:spcAft>
                <a:spcPts val="0"/>
              </a:spcAft>
              <a:buClr>
                <a:schemeClr val="dk1"/>
              </a:buClr>
              <a:buSzPts val="1400"/>
              <a:buChar char="■"/>
              <a:defRPr>
                <a:solidFill>
                  <a:schemeClr val="dk1"/>
                </a:solidFill>
              </a:defRPr>
            </a:lvl3pPr>
            <a:lvl4pPr indent="-317500" lvl="3" marL="1828800">
              <a:lnSpc>
                <a:spcPct val="150000"/>
              </a:lnSpc>
              <a:spcBef>
                <a:spcPts val="0"/>
              </a:spcBef>
              <a:spcAft>
                <a:spcPts val="0"/>
              </a:spcAft>
              <a:buClr>
                <a:schemeClr val="dk1"/>
              </a:buClr>
              <a:buSzPts val="1400"/>
              <a:buChar char="●"/>
              <a:defRPr>
                <a:solidFill>
                  <a:schemeClr val="dk1"/>
                </a:solidFill>
              </a:defRPr>
            </a:lvl4pPr>
            <a:lvl5pPr indent="-317500" lvl="4" marL="2286000">
              <a:lnSpc>
                <a:spcPct val="150000"/>
              </a:lnSpc>
              <a:spcBef>
                <a:spcPts val="0"/>
              </a:spcBef>
              <a:spcAft>
                <a:spcPts val="0"/>
              </a:spcAft>
              <a:buClr>
                <a:schemeClr val="dk1"/>
              </a:buClr>
              <a:buSzPts val="1400"/>
              <a:buChar char="○"/>
              <a:defRPr>
                <a:solidFill>
                  <a:schemeClr val="dk1"/>
                </a:solidFill>
              </a:defRPr>
            </a:lvl5pPr>
            <a:lvl6pPr indent="-317500" lvl="5" marL="2743200">
              <a:lnSpc>
                <a:spcPct val="150000"/>
              </a:lnSpc>
              <a:spcBef>
                <a:spcPts val="0"/>
              </a:spcBef>
              <a:spcAft>
                <a:spcPts val="0"/>
              </a:spcAft>
              <a:buClr>
                <a:schemeClr val="dk1"/>
              </a:buClr>
              <a:buSzPts val="1400"/>
              <a:buChar char="■"/>
              <a:defRPr>
                <a:solidFill>
                  <a:schemeClr val="dk1"/>
                </a:solidFill>
              </a:defRPr>
            </a:lvl6pPr>
            <a:lvl7pPr indent="-317500" lvl="6" marL="3200400">
              <a:lnSpc>
                <a:spcPct val="150000"/>
              </a:lnSpc>
              <a:spcBef>
                <a:spcPts val="0"/>
              </a:spcBef>
              <a:spcAft>
                <a:spcPts val="0"/>
              </a:spcAft>
              <a:buClr>
                <a:schemeClr val="dk1"/>
              </a:buClr>
              <a:buSzPts val="1400"/>
              <a:buChar char="●"/>
              <a:defRPr>
                <a:solidFill>
                  <a:schemeClr val="dk1"/>
                </a:solidFill>
              </a:defRPr>
            </a:lvl7pPr>
            <a:lvl8pPr indent="-317500" lvl="7" marL="3657600">
              <a:lnSpc>
                <a:spcPct val="150000"/>
              </a:lnSpc>
              <a:spcBef>
                <a:spcPts val="0"/>
              </a:spcBef>
              <a:spcAft>
                <a:spcPts val="0"/>
              </a:spcAft>
              <a:buClr>
                <a:schemeClr val="dk1"/>
              </a:buClr>
              <a:buSzPts val="1400"/>
              <a:buChar char="○"/>
              <a:defRPr>
                <a:solidFill>
                  <a:schemeClr val="dk1"/>
                </a:solidFill>
              </a:defRPr>
            </a:lvl8pPr>
            <a:lvl9pPr indent="-317500" lvl="8" marL="4114800">
              <a:lnSpc>
                <a:spcPct val="150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pic>
        <p:nvPicPr>
          <p:cNvPr id="9" name="Google Shape;9;p1"/>
          <p:cNvPicPr preferRelativeResize="0"/>
          <p:nvPr/>
        </p:nvPicPr>
        <p:blipFill>
          <a:blip r:embed="rId1">
            <a:alphaModFix/>
          </a:blip>
          <a:stretch>
            <a:fillRect/>
          </a:stretch>
        </p:blipFill>
        <p:spPr>
          <a:xfrm>
            <a:off x="8339425" y="108550"/>
            <a:ext cx="681723" cy="178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113">
          <p15:clr>
            <a:srgbClr val="EA4335"/>
          </p15:clr>
        </p15:guide>
        <p15:guide id="4" orient="horz" pos="113">
          <p15:clr>
            <a:srgbClr val="EA4335"/>
          </p15:clr>
        </p15:guide>
        <p15:guide id="5" orient="horz" pos="3127">
          <p15:clr>
            <a:srgbClr val="EA4335"/>
          </p15:clr>
        </p15:guide>
        <p15:guide id="6" pos="5647">
          <p15:clr>
            <a:srgbClr val="EA4335"/>
          </p15:clr>
        </p15:guide>
        <p15:guide id="7" pos="227">
          <p15:clr>
            <a:srgbClr val="EA4335"/>
          </p15:clr>
        </p15:guide>
        <p15:guide id="8" pos="5533">
          <p15:clr>
            <a:srgbClr val="EA4335"/>
          </p15:clr>
        </p15:guide>
        <p15:guide id="9" orient="horz" pos="227">
          <p15:clr>
            <a:srgbClr val="EA4335"/>
          </p15:clr>
        </p15:guide>
        <p15:guide id="10" orient="horz" pos="3013">
          <p15:clr>
            <a:srgbClr val="EA4335"/>
          </p15:clr>
        </p15:guide>
        <p15:guide id="11" pos="2778">
          <p15:clr>
            <a:srgbClr val="EA4335"/>
          </p15:clr>
        </p15:guide>
        <p15:guide id="12" pos="298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docs.google.com/spreadsheets/d/1Fhicz7JwWtoVvGAVjumMzJzBkB2HMu8hIaVSZLFywz4/edit?gid=854372515#gid=85437251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notion.so/contractsinc/ee43fd6b764646a5a03eaea7fdc6089a?v=9916988e89f145428d74196f639e6f3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5"/>
          <p:cNvSpPr txBox="1"/>
          <p:nvPr>
            <p:ph type="title"/>
          </p:nvPr>
        </p:nvSpPr>
        <p:spPr>
          <a:xfrm>
            <a:off x="360000" y="2150850"/>
            <a:ext cx="84240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FY26目標評価勉強会</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本日のゴール</a:t>
            </a:r>
            <a:endParaRPr/>
          </a:p>
        </p:txBody>
      </p:sp>
      <p:sp>
        <p:nvSpPr>
          <p:cNvPr id="106" name="Google Shape;106;p26"/>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ja" sz="3000"/>
              <a:t>新制度における「目標設定の考え方」と「評価・フィードバックのポイント」を理解し、実践できる状態にする。</a:t>
            </a:r>
            <a:endParaRPr b="1"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改めて、人事評価制度改定の目的</a:t>
            </a:r>
            <a:endParaRPr/>
          </a:p>
        </p:txBody>
      </p:sp>
      <p:sp>
        <p:nvSpPr>
          <p:cNvPr id="112" name="Google Shape;112;p27"/>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ja" sz="3000"/>
              <a:t>会社として求める人材（バリュー体現）や</a:t>
            </a:r>
            <a:endParaRPr b="1" sz="3000"/>
          </a:p>
          <a:p>
            <a:pPr indent="0" lvl="0" marL="0" rtl="0" algn="ctr">
              <a:spcBef>
                <a:spcPts val="1200"/>
              </a:spcBef>
              <a:spcAft>
                <a:spcPts val="0"/>
              </a:spcAft>
              <a:buNone/>
            </a:pPr>
            <a:r>
              <a:rPr b="1" lang="ja" sz="3000"/>
              <a:t>事業に貢献している人材を適切に評価し、</a:t>
            </a:r>
            <a:endParaRPr b="1" sz="3000"/>
          </a:p>
          <a:p>
            <a:pPr indent="0" lvl="0" marL="0" rtl="0" algn="ctr">
              <a:spcBef>
                <a:spcPts val="1200"/>
              </a:spcBef>
              <a:spcAft>
                <a:spcPts val="1200"/>
              </a:spcAft>
              <a:buNone/>
            </a:pPr>
            <a:r>
              <a:rPr b="1" lang="ja" sz="3000"/>
              <a:t>社員の挑戦を促す制度にするため</a:t>
            </a:r>
            <a:endParaRPr b="1"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8"/>
          <p:cNvSpPr txBox="1"/>
          <p:nvPr>
            <p:ph type="title"/>
          </p:nvPr>
        </p:nvSpPr>
        <p:spPr>
          <a:xfrm>
            <a:off x="360000" y="1301600"/>
            <a:ext cx="8424000" cy="16911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ja" sz="3000"/>
              <a:t>まずは、</a:t>
            </a:r>
            <a:endParaRPr sz="3000"/>
          </a:p>
          <a:p>
            <a:pPr indent="0" lvl="0" marL="0" rtl="0" algn="ctr">
              <a:lnSpc>
                <a:spcPct val="115000"/>
              </a:lnSpc>
              <a:spcBef>
                <a:spcPts val="1200"/>
              </a:spcBef>
              <a:spcAft>
                <a:spcPts val="1200"/>
              </a:spcAft>
              <a:buNone/>
            </a:pPr>
            <a:r>
              <a:rPr lang="ja" sz="3000"/>
              <a:t>一般的な評価・目標制度について学ぼう</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9"/>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評価制度とは何か</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0"/>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評価制度の目的とは？</a:t>
            </a:r>
            <a:endParaRPr/>
          </a:p>
        </p:txBody>
      </p:sp>
      <p:sp>
        <p:nvSpPr>
          <p:cNvPr id="128" name="Google Shape;128;p30"/>
          <p:cNvSpPr/>
          <p:nvPr/>
        </p:nvSpPr>
        <p:spPr>
          <a:xfrm>
            <a:off x="1158750" y="1305788"/>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１	公平感のある処遇の分配</a:t>
            </a:r>
            <a:endParaRPr b="1" sz="1800"/>
          </a:p>
        </p:txBody>
      </p:sp>
      <p:sp>
        <p:nvSpPr>
          <p:cNvPr id="129" name="Google Shape;129;p30"/>
          <p:cNvSpPr/>
          <p:nvPr/>
        </p:nvSpPr>
        <p:spPr>
          <a:xfrm>
            <a:off x="1158750" y="2488113"/>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２</a:t>
            </a:r>
            <a:r>
              <a:rPr b="1" lang="ja" sz="1800"/>
              <a:t>	</a:t>
            </a:r>
            <a:r>
              <a:rPr b="1" lang="ja" sz="1800"/>
              <a:t>社員の活用と育成</a:t>
            </a:r>
            <a:endParaRPr b="1" sz="1800"/>
          </a:p>
        </p:txBody>
      </p:sp>
      <p:sp>
        <p:nvSpPr>
          <p:cNvPr id="130" name="Google Shape;130;p30"/>
          <p:cNvSpPr/>
          <p:nvPr/>
        </p:nvSpPr>
        <p:spPr>
          <a:xfrm>
            <a:off x="1158750" y="3670450"/>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３</a:t>
            </a:r>
            <a:r>
              <a:rPr b="1" lang="ja" sz="1800"/>
              <a:t>	</a:t>
            </a:r>
            <a:r>
              <a:rPr b="1" lang="ja" sz="1800"/>
              <a:t>企業文化の醸成</a:t>
            </a:r>
            <a:endParaRPr b="1"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1"/>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公平感のある処遇の分配</a:t>
            </a:r>
            <a:endParaRPr/>
          </a:p>
        </p:txBody>
      </p:sp>
      <p:sp>
        <p:nvSpPr>
          <p:cNvPr id="136" name="Google Shape;136;p31"/>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ja" sz="2400"/>
              <a:t>処遇		：賃金、仕事のアサインなど</a:t>
            </a:r>
            <a:br>
              <a:rPr b="1" lang="ja" sz="2400"/>
            </a:br>
            <a:r>
              <a:rPr b="1" lang="ja" sz="2400"/>
              <a:t>公平感	：「与えるもの」ではなく「感じるもの」</a:t>
            </a:r>
            <a:endParaRPr b="1"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社員の活用と育成</a:t>
            </a:r>
            <a:endParaRPr/>
          </a:p>
        </p:txBody>
      </p:sp>
      <p:sp>
        <p:nvSpPr>
          <p:cNvPr id="142" name="Google Shape;142;p32"/>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ja" sz="2400"/>
              <a:t>活用		：どうすればもっと活躍できるかを共に考える</a:t>
            </a:r>
            <a:br>
              <a:rPr b="1" lang="ja" sz="2400"/>
            </a:br>
            <a:r>
              <a:rPr b="1" lang="ja" sz="2400"/>
              <a:t>育成		：一人ひとりが活躍するために必要な援助</a:t>
            </a:r>
            <a:endParaRPr b="1"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3"/>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企業文化の醸成</a:t>
            </a:r>
            <a:endParaRPr/>
          </a:p>
        </p:txBody>
      </p:sp>
      <p:sp>
        <p:nvSpPr>
          <p:cNvPr id="148" name="Google Shape;148;p33"/>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ja" sz="2400"/>
              <a:t>企業文化	：「良し／悪し」の価値基準</a:t>
            </a:r>
            <a:br>
              <a:rPr b="1" lang="ja" sz="2400"/>
            </a:br>
            <a:r>
              <a:rPr b="1" lang="ja" sz="2400"/>
              <a:t>醸成		：フィードバックの積み重ねによる深化</a:t>
            </a:r>
            <a:endParaRPr b="1"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4"/>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目標制度とは何か</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目標制度の目的とは？</a:t>
            </a:r>
            <a:endParaRPr/>
          </a:p>
        </p:txBody>
      </p:sp>
      <p:sp>
        <p:nvSpPr>
          <p:cNvPr id="159" name="Google Shape;159;p35"/>
          <p:cNvSpPr/>
          <p:nvPr/>
        </p:nvSpPr>
        <p:spPr>
          <a:xfrm>
            <a:off x="1158750" y="1305788"/>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１	</a:t>
            </a:r>
            <a:r>
              <a:rPr b="1" lang="ja" sz="1800"/>
              <a:t>成長を促し目的へ近づく</a:t>
            </a:r>
            <a:endParaRPr b="1" sz="1800"/>
          </a:p>
        </p:txBody>
      </p:sp>
      <p:sp>
        <p:nvSpPr>
          <p:cNvPr id="160" name="Google Shape;160;p35"/>
          <p:cNvSpPr/>
          <p:nvPr/>
        </p:nvSpPr>
        <p:spPr>
          <a:xfrm>
            <a:off x="1158750" y="2488113"/>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２	</a:t>
            </a:r>
            <a:r>
              <a:rPr b="1" lang="ja" sz="1800"/>
              <a:t>エンゲージメントを高める</a:t>
            </a:r>
            <a:endParaRPr b="1" sz="1800"/>
          </a:p>
        </p:txBody>
      </p:sp>
      <p:sp>
        <p:nvSpPr>
          <p:cNvPr id="161" name="Google Shape;161;p35"/>
          <p:cNvSpPr/>
          <p:nvPr/>
        </p:nvSpPr>
        <p:spPr>
          <a:xfrm>
            <a:off x="1158750" y="3670450"/>
            <a:ext cx="6826500" cy="10035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ja" sz="1800"/>
              <a:t>　３	</a:t>
            </a:r>
            <a:r>
              <a:rPr b="1" lang="ja" sz="1800"/>
              <a:t>自己組織化する</a:t>
            </a:r>
            <a:endParaRPr b="1"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企業の目的とは何か</a:t>
            </a:r>
            <a:endParaRPr/>
          </a:p>
        </p:txBody>
      </p:sp>
      <p:pic>
        <p:nvPicPr>
          <p:cNvPr id="167" name="Google Shape;167;p36"/>
          <p:cNvPicPr preferRelativeResize="0"/>
          <p:nvPr/>
        </p:nvPicPr>
        <p:blipFill>
          <a:blip r:embed="rId3">
            <a:alphaModFix/>
          </a:blip>
          <a:stretch>
            <a:fillRect/>
          </a:stretch>
        </p:blipFill>
        <p:spPr>
          <a:xfrm>
            <a:off x="5567725" y="1561600"/>
            <a:ext cx="2891650" cy="2291625"/>
          </a:xfrm>
          <a:prstGeom prst="rect">
            <a:avLst/>
          </a:prstGeom>
          <a:noFill/>
          <a:ln>
            <a:noFill/>
          </a:ln>
        </p:spPr>
      </p:pic>
      <p:sp>
        <p:nvSpPr>
          <p:cNvPr id="168" name="Google Shape;168;p36"/>
          <p:cNvSpPr txBox="1"/>
          <p:nvPr/>
        </p:nvSpPr>
        <p:spPr>
          <a:xfrm>
            <a:off x="6009900" y="3999600"/>
            <a:ext cx="2007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t>ピーター・ドラッカー</a:t>
            </a:r>
            <a:endParaRPr/>
          </a:p>
        </p:txBody>
      </p:sp>
      <p:sp>
        <p:nvSpPr>
          <p:cNvPr id="169" name="Google Shape;169;p36"/>
          <p:cNvSpPr/>
          <p:nvPr/>
        </p:nvSpPr>
        <p:spPr>
          <a:xfrm>
            <a:off x="700575" y="2878825"/>
            <a:ext cx="4374000" cy="859500"/>
          </a:xfrm>
          <a:prstGeom prst="wedgeRoundRectCallout">
            <a:avLst>
              <a:gd fmla="val 59702" name="adj1"/>
              <a:gd fmla="val -49238" name="adj2"/>
              <a:gd fmla="val 0" name="adj3"/>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ja" sz="1800"/>
              <a:t>“企業の目的として有効な定義は一つしかない。顧客の創造である。”</a:t>
            </a:r>
            <a:endParaRPr i="1" sz="1800"/>
          </a:p>
        </p:txBody>
      </p:sp>
      <p:sp>
        <p:nvSpPr>
          <p:cNvPr id="170" name="Google Shape;170;p36"/>
          <p:cNvSpPr/>
          <p:nvPr/>
        </p:nvSpPr>
        <p:spPr>
          <a:xfrm>
            <a:off x="700575" y="1661700"/>
            <a:ext cx="4374000" cy="859500"/>
          </a:xfrm>
          <a:prstGeom prst="wedgeRoundRectCallout">
            <a:avLst>
              <a:gd fmla="val -58608" name="adj1"/>
              <a:gd fmla="val 48583" name="adj2"/>
              <a:gd fmla="val 0" name="adj3"/>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ja" sz="1800"/>
              <a:t>“</a:t>
            </a:r>
            <a:r>
              <a:rPr i="1" lang="ja" sz="1800"/>
              <a:t>企業の目的ってなんすか？</a:t>
            </a:r>
            <a:r>
              <a:rPr i="1" lang="ja" sz="1800"/>
              <a:t>”</a:t>
            </a:r>
            <a:endParaRPr i="1"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ContractSの目的（Vision）</a:t>
            </a:r>
            <a:endParaRPr/>
          </a:p>
        </p:txBody>
      </p:sp>
      <p:sp>
        <p:nvSpPr>
          <p:cNvPr id="176" name="Google Shape;176;p37"/>
          <p:cNvSpPr txBox="1"/>
          <p:nvPr/>
        </p:nvSpPr>
        <p:spPr>
          <a:xfrm>
            <a:off x="6151275" y="3986150"/>
            <a:ext cx="2007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t>リョーヘイ・ハナイ</a:t>
            </a:r>
            <a:endParaRPr/>
          </a:p>
        </p:txBody>
      </p:sp>
      <p:sp>
        <p:nvSpPr>
          <p:cNvPr id="177" name="Google Shape;177;p37"/>
          <p:cNvSpPr/>
          <p:nvPr/>
        </p:nvSpPr>
        <p:spPr>
          <a:xfrm>
            <a:off x="700575" y="2878825"/>
            <a:ext cx="4374000" cy="859500"/>
          </a:xfrm>
          <a:prstGeom prst="wedgeRoundRectCallout">
            <a:avLst>
              <a:gd fmla="val 59702" name="adj1"/>
              <a:gd fmla="val -49238" name="adj2"/>
              <a:gd fmla="val 0" name="adj3"/>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ja" sz="1800"/>
              <a:t>“</a:t>
            </a:r>
            <a:r>
              <a:rPr i="1" lang="ja" sz="1800"/>
              <a:t>契約データで顧客のビジネスを最適化すること。</a:t>
            </a:r>
            <a:r>
              <a:rPr i="1" lang="ja" sz="1800"/>
              <a:t>”</a:t>
            </a:r>
            <a:endParaRPr i="1" sz="1800"/>
          </a:p>
        </p:txBody>
      </p:sp>
      <p:sp>
        <p:nvSpPr>
          <p:cNvPr id="178" name="Google Shape;178;p37"/>
          <p:cNvSpPr/>
          <p:nvPr/>
        </p:nvSpPr>
        <p:spPr>
          <a:xfrm>
            <a:off x="700575" y="1661700"/>
            <a:ext cx="4374000" cy="859500"/>
          </a:xfrm>
          <a:prstGeom prst="wedgeRoundRectCallout">
            <a:avLst>
              <a:gd fmla="val -58608" name="adj1"/>
              <a:gd fmla="val 48583" name="adj2"/>
              <a:gd fmla="val 0" name="adj3"/>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ja" sz="1800"/>
              <a:t>“</a:t>
            </a:r>
            <a:r>
              <a:rPr i="1" lang="ja" sz="1800"/>
              <a:t>ContractS</a:t>
            </a:r>
            <a:r>
              <a:rPr i="1" lang="ja" sz="1800"/>
              <a:t>の目的ってなんすか？”</a:t>
            </a:r>
            <a:endParaRPr i="1" sz="1800"/>
          </a:p>
        </p:txBody>
      </p:sp>
      <p:pic>
        <p:nvPicPr>
          <p:cNvPr id="179" name="Google Shape;179;p37"/>
          <p:cNvPicPr preferRelativeResize="0"/>
          <p:nvPr/>
        </p:nvPicPr>
        <p:blipFill rotWithShape="1">
          <a:blip r:embed="rId3">
            <a:alphaModFix/>
          </a:blip>
          <a:srcRect b="1719" l="10675" r="18348" t="1728"/>
          <a:stretch/>
        </p:blipFill>
        <p:spPr>
          <a:xfrm>
            <a:off x="6361225" y="1701250"/>
            <a:ext cx="1732774" cy="2099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8"/>
          <p:cNvSpPr txBox="1"/>
          <p:nvPr>
            <p:ph type="title"/>
          </p:nvPr>
        </p:nvSpPr>
        <p:spPr>
          <a:xfrm>
            <a:off x="360000" y="360000"/>
            <a:ext cx="5964900" cy="5727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rPr lang="ja"/>
              <a:t>目的と目標</a:t>
            </a:r>
            <a:endParaRPr/>
          </a:p>
        </p:txBody>
      </p:sp>
      <p:grpSp>
        <p:nvGrpSpPr>
          <p:cNvPr id="185" name="Google Shape;185;p38"/>
          <p:cNvGrpSpPr/>
          <p:nvPr/>
        </p:nvGrpSpPr>
        <p:grpSpPr>
          <a:xfrm>
            <a:off x="988513" y="2571761"/>
            <a:ext cx="3151532" cy="2170262"/>
            <a:chOff x="360000" y="1453125"/>
            <a:chExt cx="3913974" cy="2671749"/>
          </a:xfrm>
        </p:grpSpPr>
        <p:pic>
          <p:nvPicPr>
            <p:cNvPr id="186" name="Google Shape;186;p38"/>
            <p:cNvPicPr preferRelativeResize="0"/>
            <p:nvPr/>
          </p:nvPicPr>
          <p:blipFill>
            <a:blip r:embed="rId3">
              <a:alphaModFix/>
            </a:blip>
            <a:stretch>
              <a:fillRect/>
            </a:stretch>
          </p:blipFill>
          <p:spPr>
            <a:xfrm>
              <a:off x="360000" y="1453125"/>
              <a:ext cx="3913974" cy="2671749"/>
            </a:xfrm>
            <a:prstGeom prst="rect">
              <a:avLst/>
            </a:prstGeom>
            <a:noFill/>
            <a:ln>
              <a:noFill/>
            </a:ln>
          </p:spPr>
        </p:pic>
        <p:sp>
          <p:nvSpPr>
            <p:cNvPr id="187" name="Google Shape;187;p38"/>
            <p:cNvSpPr/>
            <p:nvPr/>
          </p:nvSpPr>
          <p:spPr>
            <a:xfrm>
              <a:off x="439075" y="1515875"/>
              <a:ext cx="2237100" cy="34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 name="Google Shape;188;p38"/>
          <p:cNvSpPr txBox="1"/>
          <p:nvPr>
            <p:ph idx="1" type="body"/>
          </p:nvPr>
        </p:nvSpPr>
        <p:spPr>
          <a:xfrm>
            <a:off x="360000" y="1248475"/>
            <a:ext cx="8424000" cy="10767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1200"/>
              </a:spcAft>
              <a:buNone/>
            </a:pPr>
            <a:r>
              <a:rPr b="1" lang="ja" sz="2400"/>
              <a:t>目的	：ありたい姿・理想とする最終到達点</a:t>
            </a:r>
            <a:br>
              <a:rPr b="1" lang="ja" sz="2400"/>
            </a:br>
            <a:r>
              <a:rPr b="1" lang="ja" sz="2400"/>
              <a:t>目標	：目的を達成するためのステップ</a:t>
            </a:r>
            <a:endParaRPr b="1" sz="2400"/>
          </a:p>
        </p:txBody>
      </p:sp>
      <p:sp>
        <p:nvSpPr>
          <p:cNvPr id="189" name="Google Shape;189;p38"/>
          <p:cNvSpPr txBox="1"/>
          <p:nvPr/>
        </p:nvSpPr>
        <p:spPr>
          <a:xfrm>
            <a:off x="4140050" y="3287425"/>
            <a:ext cx="405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t>ありたい姿・理想とする最終到達点</a:t>
            </a:r>
            <a:endParaRPr sz="1800"/>
          </a:p>
          <a:p>
            <a:pPr indent="0" lvl="0" marL="0" rtl="0" algn="ctr">
              <a:spcBef>
                <a:spcPts val="0"/>
              </a:spcBef>
              <a:spcAft>
                <a:spcPts val="0"/>
              </a:spcAft>
              <a:buNone/>
            </a:pPr>
            <a:r>
              <a:rPr lang="ja" sz="1800"/>
              <a:t>＝Vision</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9"/>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目標がどのように成り立つか</a:t>
            </a:r>
            <a:endParaRPr/>
          </a:p>
        </p:txBody>
      </p:sp>
      <p:sp>
        <p:nvSpPr>
          <p:cNvPr id="195" name="Google Shape;195;p39"/>
          <p:cNvSpPr/>
          <p:nvPr/>
        </p:nvSpPr>
        <p:spPr>
          <a:xfrm>
            <a:off x="359999" y="1149000"/>
            <a:ext cx="3262680" cy="1007748"/>
          </a:xfrm>
          <a:prstGeom prst="cloud">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solidFill>
                  <a:srgbClr val="141D3C"/>
                </a:solidFill>
                <a:latin typeface="Calibri"/>
                <a:ea typeface="Calibri"/>
                <a:cs typeface="Calibri"/>
                <a:sym typeface="Calibri"/>
              </a:rPr>
              <a:t>企業が目指す姿</a:t>
            </a:r>
            <a:endParaRPr sz="1800">
              <a:solidFill>
                <a:srgbClr val="141D3C"/>
              </a:solidFill>
              <a:latin typeface="Calibri"/>
              <a:ea typeface="Calibri"/>
              <a:cs typeface="Calibri"/>
              <a:sym typeface="Calibri"/>
            </a:endParaRPr>
          </a:p>
        </p:txBody>
      </p:sp>
      <p:sp>
        <p:nvSpPr>
          <p:cNvPr id="196" name="Google Shape;196;p39"/>
          <p:cNvSpPr/>
          <p:nvPr/>
        </p:nvSpPr>
        <p:spPr>
          <a:xfrm>
            <a:off x="5506256" y="1149000"/>
            <a:ext cx="3262680" cy="1007748"/>
          </a:xfrm>
          <a:prstGeom prst="cloud">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800">
                <a:solidFill>
                  <a:srgbClr val="141D3C"/>
                </a:solidFill>
                <a:latin typeface="Calibri"/>
                <a:ea typeface="Calibri"/>
                <a:cs typeface="Calibri"/>
                <a:sym typeface="Calibri"/>
              </a:rPr>
              <a:t>個人が目指す姿</a:t>
            </a:r>
            <a:endParaRPr sz="1800">
              <a:solidFill>
                <a:srgbClr val="141D3C"/>
              </a:solidFill>
              <a:latin typeface="Calibri"/>
              <a:ea typeface="Calibri"/>
              <a:cs typeface="Calibri"/>
              <a:sym typeface="Calibri"/>
            </a:endParaRPr>
          </a:p>
        </p:txBody>
      </p:sp>
      <p:sp>
        <p:nvSpPr>
          <p:cNvPr id="197" name="Google Shape;197;p39"/>
          <p:cNvSpPr/>
          <p:nvPr/>
        </p:nvSpPr>
        <p:spPr>
          <a:xfrm>
            <a:off x="6677160" y="3758362"/>
            <a:ext cx="931800" cy="931800"/>
          </a:xfrm>
          <a:prstGeom prst="smileyFace">
            <a:avLst>
              <a:gd fmla="val 4653"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9"/>
          <p:cNvSpPr/>
          <p:nvPr/>
        </p:nvSpPr>
        <p:spPr>
          <a:xfrm>
            <a:off x="1383062" y="2276075"/>
            <a:ext cx="1216500" cy="1240500"/>
          </a:xfrm>
          <a:prstGeom prst="upDownArrow">
            <a:avLst>
              <a:gd fmla="val 65985" name="adj1"/>
              <a:gd fmla="val 23934"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FFFFFF"/>
                </a:solidFill>
                <a:latin typeface="Calibri"/>
                <a:ea typeface="Calibri"/>
                <a:cs typeface="Calibri"/>
                <a:sym typeface="Calibri"/>
              </a:rPr>
              <a:t>ギャップ</a:t>
            </a:r>
            <a:endParaRPr sz="1200">
              <a:solidFill>
                <a:srgbClr val="FFFFFF"/>
              </a:solidFill>
              <a:latin typeface="Calibri"/>
              <a:ea typeface="Calibri"/>
              <a:cs typeface="Calibri"/>
              <a:sym typeface="Calibri"/>
            </a:endParaRPr>
          </a:p>
        </p:txBody>
      </p:sp>
      <p:sp>
        <p:nvSpPr>
          <p:cNvPr id="199" name="Google Shape;199;p39"/>
          <p:cNvSpPr/>
          <p:nvPr/>
        </p:nvSpPr>
        <p:spPr>
          <a:xfrm>
            <a:off x="6529319" y="2276075"/>
            <a:ext cx="1216500" cy="1240500"/>
          </a:xfrm>
          <a:prstGeom prst="upDownArrow">
            <a:avLst>
              <a:gd fmla="val 65985" name="adj1"/>
              <a:gd fmla="val 23934"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FFFFFF"/>
                </a:solidFill>
                <a:latin typeface="Calibri"/>
                <a:ea typeface="Calibri"/>
                <a:cs typeface="Calibri"/>
                <a:sym typeface="Calibri"/>
              </a:rPr>
              <a:t>ギャップ</a:t>
            </a:r>
            <a:endParaRPr sz="1200">
              <a:solidFill>
                <a:srgbClr val="FFFFFF"/>
              </a:solidFill>
              <a:latin typeface="Calibri"/>
              <a:ea typeface="Calibri"/>
              <a:cs typeface="Calibri"/>
              <a:sym typeface="Calibri"/>
            </a:endParaRPr>
          </a:p>
        </p:txBody>
      </p:sp>
      <p:sp>
        <p:nvSpPr>
          <p:cNvPr id="200" name="Google Shape;200;p39"/>
          <p:cNvSpPr/>
          <p:nvPr/>
        </p:nvSpPr>
        <p:spPr>
          <a:xfrm>
            <a:off x="2849002" y="2623976"/>
            <a:ext cx="991200" cy="544500"/>
          </a:xfrm>
          <a:prstGeom prst="rightArrow">
            <a:avLst>
              <a:gd fmla="val 50000" name="adj1"/>
              <a:gd fmla="val 5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9"/>
          <p:cNvSpPr/>
          <p:nvPr/>
        </p:nvSpPr>
        <p:spPr>
          <a:xfrm rot="10800000">
            <a:off x="5288784" y="2624090"/>
            <a:ext cx="991200" cy="544500"/>
          </a:xfrm>
          <a:prstGeom prst="rightArrow">
            <a:avLst>
              <a:gd fmla="val 50000" name="adj1"/>
              <a:gd fmla="val 5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9"/>
          <p:cNvSpPr/>
          <p:nvPr/>
        </p:nvSpPr>
        <p:spPr>
          <a:xfrm>
            <a:off x="2843501" y="3688916"/>
            <a:ext cx="1524900" cy="544500"/>
          </a:xfrm>
          <a:prstGeom prst="wedgeRoundRectCallout">
            <a:avLst>
              <a:gd fmla="val -12289" name="adj1"/>
              <a:gd fmla="val -91973" name="adj2"/>
              <a:gd fmla="val 0" name="adj3"/>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41D3C"/>
                </a:solidFill>
                <a:latin typeface="Calibri"/>
                <a:ea typeface="Calibri"/>
                <a:cs typeface="Calibri"/>
                <a:sym typeface="Calibri"/>
              </a:rPr>
              <a:t>やってほしいこと</a:t>
            </a:r>
            <a:endParaRPr sz="1200">
              <a:solidFill>
                <a:srgbClr val="141D3C"/>
              </a:solidFill>
              <a:latin typeface="Calibri"/>
              <a:ea typeface="Calibri"/>
              <a:cs typeface="Calibri"/>
              <a:sym typeface="Calibri"/>
            </a:endParaRPr>
          </a:p>
        </p:txBody>
      </p:sp>
      <p:sp>
        <p:nvSpPr>
          <p:cNvPr id="203" name="Google Shape;203;p39"/>
          <p:cNvSpPr/>
          <p:nvPr/>
        </p:nvSpPr>
        <p:spPr>
          <a:xfrm>
            <a:off x="4760333" y="3688916"/>
            <a:ext cx="1524900" cy="544500"/>
          </a:xfrm>
          <a:prstGeom prst="wedgeRoundRectCallout">
            <a:avLst>
              <a:gd fmla="val 8034" name="adj1"/>
              <a:gd fmla="val -86215" name="adj2"/>
              <a:gd fmla="val 0" name="adj3"/>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41D3C"/>
                </a:solidFill>
                <a:latin typeface="Calibri"/>
                <a:ea typeface="Calibri"/>
                <a:cs typeface="Calibri"/>
                <a:sym typeface="Calibri"/>
              </a:rPr>
              <a:t>やりたいこと</a:t>
            </a:r>
            <a:endParaRPr sz="1200">
              <a:solidFill>
                <a:srgbClr val="141D3C"/>
              </a:solidFill>
              <a:latin typeface="Calibri"/>
              <a:ea typeface="Calibri"/>
              <a:cs typeface="Calibri"/>
              <a:sym typeface="Calibri"/>
            </a:endParaRPr>
          </a:p>
        </p:txBody>
      </p:sp>
      <p:sp>
        <p:nvSpPr>
          <p:cNvPr id="204" name="Google Shape;204;p39"/>
          <p:cNvSpPr/>
          <p:nvPr/>
        </p:nvSpPr>
        <p:spPr>
          <a:xfrm>
            <a:off x="3900193" y="2458378"/>
            <a:ext cx="1301400" cy="871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3000">
                <a:solidFill>
                  <a:schemeClr val="dk2"/>
                </a:solidFill>
                <a:latin typeface="Calibri"/>
                <a:ea typeface="Calibri"/>
                <a:cs typeface="Calibri"/>
                <a:sym typeface="Calibri"/>
              </a:rPr>
              <a:t>目標</a:t>
            </a:r>
            <a:endParaRPr sz="3000">
              <a:solidFill>
                <a:schemeClr val="dk2"/>
              </a:solidFill>
              <a:latin typeface="Calibri"/>
              <a:ea typeface="Calibri"/>
              <a:cs typeface="Calibri"/>
              <a:sym typeface="Calibri"/>
            </a:endParaRPr>
          </a:p>
        </p:txBody>
      </p:sp>
      <p:sp>
        <p:nvSpPr>
          <p:cNvPr id="205" name="Google Shape;205;p39"/>
          <p:cNvSpPr/>
          <p:nvPr/>
        </p:nvSpPr>
        <p:spPr>
          <a:xfrm>
            <a:off x="1519785" y="3758362"/>
            <a:ext cx="931800" cy="931800"/>
          </a:xfrm>
          <a:prstGeom prst="smileyFace">
            <a:avLst>
              <a:gd fmla="val 4653"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0"/>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企業／個人のビジョンと現実のギャップで創造的緊張を生む</a:t>
            </a:r>
            <a:endParaRPr/>
          </a:p>
        </p:txBody>
      </p:sp>
      <p:pic>
        <p:nvPicPr>
          <p:cNvPr id="211" name="Google Shape;211;p40"/>
          <p:cNvPicPr preferRelativeResize="0"/>
          <p:nvPr/>
        </p:nvPicPr>
        <p:blipFill>
          <a:blip r:embed="rId3">
            <a:alphaModFix/>
          </a:blip>
          <a:stretch>
            <a:fillRect/>
          </a:stretch>
        </p:blipFill>
        <p:spPr>
          <a:xfrm>
            <a:off x="1070900" y="1424275"/>
            <a:ext cx="3272075" cy="3123325"/>
          </a:xfrm>
          <a:prstGeom prst="rect">
            <a:avLst/>
          </a:prstGeom>
          <a:noFill/>
          <a:ln>
            <a:noFill/>
          </a:ln>
        </p:spPr>
      </p:pic>
      <p:sp>
        <p:nvSpPr>
          <p:cNvPr id="212" name="Google Shape;212;p40"/>
          <p:cNvSpPr/>
          <p:nvPr/>
        </p:nvSpPr>
        <p:spPr>
          <a:xfrm>
            <a:off x="4572000" y="2342900"/>
            <a:ext cx="3226800" cy="1286100"/>
          </a:xfrm>
          <a:prstGeom prst="lef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800"/>
              <a:t>ココを狙う</a:t>
            </a:r>
            <a:endParaRPr b="1"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効果を最大限発揮するための条件</a:t>
            </a:r>
            <a:endParaRPr/>
          </a:p>
        </p:txBody>
      </p:sp>
      <p:sp>
        <p:nvSpPr>
          <p:cNvPr id="218" name="Google Shape;218;p41"/>
          <p:cNvSpPr txBox="1"/>
          <p:nvPr>
            <p:ph idx="1" type="body"/>
          </p:nvPr>
        </p:nvSpPr>
        <p:spPr>
          <a:xfrm>
            <a:off x="360000" y="1152475"/>
            <a:ext cx="8424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ja"/>
              <a:t>本人が目標の策定に深く関わる</a:t>
            </a:r>
            <a:endParaRPr b="1"/>
          </a:p>
          <a:p>
            <a:pPr indent="-317500" lvl="1" marL="914400" rtl="0" algn="l">
              <a:spcBef>
                <a:spcPts val="0"/>
              </a:spcBef>
              <a:spcAft>
                <a:spcPts val="0"/>
              </a:spcAft>
              <a:buSzPts val="1400"/>
              <a:buChar char="○"/>
            </a:pPr>
            <a:r>
              <a:rPr lang="ja"/>
              <a:t>Don’t 一方的にノルマを課す</a:t>
            </a:r>
            <a:endParaRPr/>
          </a:p>
          <a:p>
            <a:pPr indent="-317500" lvl="1" marL="914400" rtl="0" algn="l">
              <a:spcBef>
                <a:spcPts val="0"/>
              </a:spcBef>
              <a:spcAft>
                <a:spcPts val="0"/>
              </a:spcAft>
              <a:buSzPts val="1400"/>
              <a:buChar char="○"/>
            </a:pPr>
            <a:r>
              <a:rPr lang="ja"/>
              <a:t>Don’t 会社の方針や組織の課題を本人が理解できていない</a:t>
            </a:r>
            <a:endParaRPr/>
          </a:p>
          <a:p>
            <a:pPr indent="-342900" lvl="0" marL="457200" rtl="0" algn="l">
              <a:spcBef>
                <a:spcPts val="0"/>
              </a:spcBef>
              <a:spcAft>
                <a:spcPts val="0"/>
              </a:spcAft>
              <a:buSzPts val="1800"/>
              <a:buChar char="●"/>
            </a:pPr>
            <a:r>
              <a:rPr b="1" lang="ja"/>
              <a:t>プロセスを守る</a:t>
            </a:r>
            <a:endParaRPr b="1"/>
          </a:p>
          <a:p>
            <a:pPr indent="-317500" lvl="1" marL="914400" rtl="0" algn="l">
              <a:spcBef>
                <a:spcPts val="0"/>
              </a:spcBef>
              <a:spcAft>
                <a:spcPts val="0"/>
              </a:spcAft>
              <a:buSzPts val="1400"/>
              <a:buChar char="○"/>
            </a:pPr>
            <a:r>
              <a:rPr lang="ja"/>
              <a:t>Don’t 目標を達成したらどう評価されるかが不明瞭</a:t>
            </a:r>
            <a:endParaRPr/>
          </a:p>
          <a:p>
            <a:pPr indent="-317500" lvl="1" marL="914400" rtl="0" algn="l">
              <a:spcBef>
                <a:spcPts val="0"/>
              </a:spcBef>
              <a:spcAft>
                <a:spcPts val="0"/>
              </a:spcAft>
              <a:buSzPts val="1400"/>
              <a:buChar char="○"/>
            </a:pPr>
            <a:r>
              <a:rPr lang="ja"/>
              <a:t>Don’t 人によってプロセスがバラバラ</a:t>
            </a:r>
            <a:endParaRPr/>
          </a:p>
          <a:p>
            <a:pPr indent="-342900" lvl="0" marL="457200" rtl="0" algn="l">
              <a:spcBef>
                <a:spcPts val="0"/>
              </a:spcBef>
              <a:spcAft>
                <a:spcPts val="0"/>
              </a:spcAft>
              <a:buSzPts val="1800"/>
              <a:buChar char="●"/>
            </a:pPr>
            <a:r>
              <a:rPr b="1" lang="ja"/>
              <a:t>目標を身近なものとする</a:t>
            </a:r>
            <a:endParaRPr b="1"/>
          </a:p>
          <a:p>
            <a:pPr indent="-317500" lvl="1" marL="914400" rtl="0" algn="l">
              <a:spcBef>
                <a:spcPts val="0"/>
              </a:spcBef>
              <a:spcAft>
                <a:spcPts val="0"/>
              </a:spcAft>
              <a:buSzPts val="1400"/>
              <a:buChar char="○"/>
            </a:pPr>
            <a:r>
              <a:rPr lang="ja"/>
              <a:t>Don’t スケジュールに追われて本人が確信が持てない目標を設定する</a:t>
            </a:r>
            <a:endParaRPr/>
          </a:p>
          <a:p>
            <a:pPr indent="-317500" lvl="1" marL="914400" rtl="0" algn="l">
              <a:spcBef>
                <a:spcPts val="0"/>
              </a:spcBef>
              <a:spcAft>
                <a:spcPts val="0"/>
              </a:spcAft>
              <a:buSzPts val="1400"/>
              <a:buChar char="○"/>
            </a:pPr>
            <a:r>
              <a:rPr lang="ja"/>
              <a:t>Don’t 評価面談や1on1の時だけ思い出す</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2"/>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一次評価者の役割は何か</a:t>
            </a:r>
            <a:endParaRPr sz="3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3"/>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一次評価者の役割</a:t>
            </a:r>
            <a:endParaRPr/>
          </a:p>
        </p:txBody>
      </p:sp>
      <p:sp>
        <p:nvSpPr>
          <p:cNvPr id="229" name="Google Shape;229;p43"/>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368300" lvl="0" marL="457200" rtl="0" algn="l">
              <a:spcBef>
                <a:spcPts val="0"/>
              </a:spcBef>
              <a:spcAft>
                <a:spcPts val="0"/>
              </a:spcAft>
              <a:buSzPts val="2200"/>
              <a:buChar char="●"/>
            </a:pPr>
            <a:r>
              <a:rPr b="1" lang="ja" sz="2200"/>
              <a:t>評価の責任を持つこと</a:t>
            </a:r>
            <a:endParaRPr b="1" sz="2200"/>
          </a:p>
          <a:p>
            <a:pPr indent="-342900" lvl="1" marL="914400" rtl="0" algn="l">
              <a:spcBef>
                <a:spcPts val="0"/>
              </a:spcBef>
              <a:spcAft>
                <a:spcPts val="0"/>
              </a:spcAft>
              <a:buSzPts val="1800"/>
              <a:buChar char="○"/>
            </a:pPr>
            <a:r>
              <a:rPr lang="ja" sz="1800"/>
              <a:t>メンバー本人や自身の評価が覆されそうなら上司と戦う</a:t>
            </a:r>
            <a:endParaRPr sz="1800"/>
          </a:p>
          <a:p>
            <a:pPr indent="-342900" lvl="1" marL="914400" rtl="0" algn="l">
              <a:spcBef>
                <a:spcPts val="0"/>
              </a:spcBef>
              <a:spcAft>
                <a:spcPts val="0"/>
              </a:spcAft>
              <a:buSzPts val="1800"/>
              <a:buChar char="○"/>
            </a:pPr>
            <a:r>
              <a:rPr lang="ja" sz="1800"/>
              <a:t>部下から嫌われることも辞さず厳しいフィードバックを行う</a:t>
            </a:r>
            <a:endParaRPr sz="1800"/>
          </a:p>
          <a:p>
            <a:pPr indent="0" lvl="0" marL="0" rtl="0" algn="l">
              <a:spcBef>
                <a:spcPts val="1200"/>
              </a:spcBef>
              <a:spcAft>
                <a:spcPts val="1200"/>
              </a:spcAft>
              <a:buNone/>
            </a:pPr>
            <a:r>
              <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4"/>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どのように役割を全うするか</a:t>
            </a:r>
            <a:endParaRPr/>
          </a:p>
        </p:txBody>
      </p:sp>
      <p:sp>
        <p:nvSpPr>
          <p:cNvPr id="235" name="Google Shape;235;p44"/>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b="1" lang="ja"/>
              <a:t>メンバーを正しくみる</a:t>
            </a:r>
            <a:endParaRPr b="1"/>
          </a:p>
          <a:p>
            <a:pPr indent="-317500" lvl="1" marL="914400" rtl="0" algn="l">
              <a:spcBef>
                <a:spcPts val="0"/>
              </a:spcBef>
              <a:spcAft>
                <a:spcPts val="0"/>
              </a:spcAft>
              <a:buSzPts val="1400"/>
              <a:buChar char="○"/>
            </a:pPr>
            <a:r>
              <a:rPr lang="ja"/>
              <a:t>判断の根拠となる事実を正確に把握する</a:t>
            </a:r>
            <a:endParaRPr/>
          </a:p>
          <a:p>
            <a:pPr indent="-317500" lvl="1" marL="914400" rtl="0" algn="l">
              <a:spcBef>
                <a:spcPts val="0"/>
              </a:spcBef>
              <a:spcAft>
                <a:spcPts val="0"/>
              </a:spcAft>
              <a:buSzPts val="1400"/>
              <a:buChar char="○"/>
            </a:pPr>
            <a:r>
              <a:rPr lang="ja"/>
              <a:t>本人が納得するに足り得る信頼関係を醸成する</a:t>
            </a:r>
            <a:endParaRPr/>
          </a:p>
          <a:p>
            <a:pPr indent="-342900" lvl="0" marL="457200" rtl="0" algn="l">
              <a:spcBef>
                <a:spcPts val="0"/>
              </a:spcBef>
              <a:spcAft>
                <a:spcPts val="0"/>
              </a:spcAft>
              <a:buSzPts val="1800"/>
              <a:buChar char="●"/>
            </a:pPr>
            <a:r>
              <a:rPr b="1" lang="ja"/>
              <a:t>組織の未来を本気で考える</a:t>
            </a:r>
            <a:endParaRPr b="1"/>
          </a:p>
          <a:p>
            <a:pPr indent="-317500" lvl="1" marL="914400" rtl="0" algn="l">
              <a:spcBef>
                <a:spcPts val="0"/>
              </a:spcBef>
              <a:spcAft>
                <a:spcPts val="0"/>
              </a:spcAft>
              <a:buSzPts val="1400"/>
              <a:buChar char="○"/>
            </a:pPr>
            <a:r>
              <a:rPr lang="ja"/>
              <a:t>組織の未来を自分の言葉で語る</a:t>
            </a:r>
            <a:endParaRPr/>
          </a:p>
          <a:p>
            <a:pPr indent="-317500" lvl="1" marL="914400" rtl="0" algn="l">
              <a:spcBef>
                <a:spcPts val="0"/>
              </a:spcBef>
              <a:spcAft>
                <a:spcPts val="0"/>
              </a:spcAft>
              <a:buSzPts val="1400"/>
              <a:buChar char="○"/>
            </a:pPr>
            <a:r>
              <a:rPr lang="ja"/>
              <a:t>メンバーの組織への疑問を払拭する</a:t>
            </a:r>
            <a:endParaRPr/>
          </a:p>
          <a:p>
            <a:pPr indent="-342900" lvl="0" marL="457200" rtl="0" algn="l">
              <a:spcBef>
                <a:spcPts val="0"/>
              </a:spcBef>
              <a:spcAft>
                <a:spcPts val="0"/>
              </a:spcAft>
              <a:buSzPts val="1800"/>
              <a:buChar char="●"/>
            </a:pPr>
            <a:r>
              <a:rPr b="1" lang="ja"/>
              <a:t>主観を磨き続ける</a:t>
            </a:r>
            <a:endParaRPr b="1"/>
          </a:p>
          <a:p>
            <a:pPr indent="-317500" lvl="1" marL="914400" rtl="0" algn="l">
              <a:spcBef>
                <a:spcPts val="0"/>
              </a:spcBef>
              <a:spcAft>
                <a:spcPts val="0"/>
              </a:spcAft>
              <a:buSzPts val="1400"/>
              <a:buChar char="○"/>
            </a:pPr>
            <a:r>
              <a:rPr lang="ja"/>
              <a:t>目標設定と評価から「主観」を完全に切り離す事はできない</a:t>
            </a:r>
            <a:endParaRPr/>
          </a:p>
          <a:p>
            <a:pPr indent="-317500" lvl="1" marL="914400" rtl="0" algn="l">
              <a:spcBef>
                <a:spcPts val="0"/>
              </a:spcBef>
              <a:spcAft>
                <a:spcPts val="0"/>
              </a:spcAft>
              <a:buSzPts val="1400"/>
              <a:buChar char="○"/>
            </a:pPr>
            <a:r>
              <a:rPr lang="ja"/>
              <a:t>一次評価者同士ですり合わせる事で公平感を担保する</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5"/>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公平「感」は本人の主観によって感じられる</a:t>
            </a:r>
            <a:endParaRPr/>
          </a:p>
        </p:txBody>
      </p:sp>
      <p:sp>
        <p:nvSpPr>
          <p:cNvPr id="241" name="Google Shape;241;p45"/>
          <p:cNvSpPr txBox="1"/>
          <p:nvPr>
            <p:ph idx="1" type="body"/>
          </p:nvPr>
        </p:nvSpPr>
        <p:spPr>
          <a:xfrm>
            <a:off x="360000" y="1152475"/>
            <a:ext cx="84240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ja" sz="2400"/>
              <a:t>主観である以上どんな制度／関係性であっても</a:t>
            </a:r>
            <a:br>
              <a:rPr b="1" lang="ja" sz="2400"/>
            </a:br>
            <a:r>
              <a:rPr b="1" lang="ja" sz="2400"/>
              <a:t>公平感を得られるとは限らない</a:t>
            </a:r>
            <a:endParaRPr b="1"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6"/>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公平感を与えるもの</a:t>
            </a:r>
            <a:endParaRPr/>
          </a:p>
        </p:txBody>
      </p:sp>
      <p:sp>
        <p:nvSpPr>
          <p:cNvPr id="247" name="Google Shape;247;p46"/>
          <p:cNvSpPr txBox="1"/>
          <p:nvPr/>
        </p:nvSpPr>
        <p:spPr>
          <a:xfrm>
            <a:off x="359992" y="3234811"/>
            <a:ext cx="3664200" cy="421800"/>
          </a:xfrm>
          <a:prstGeom prst="rect">
            <a:avLst/>
          </a:prstGeom>
          <a:noFill/>
          <a:ln>
            <a:noFill/>
          </a:ln>
        </p:spPr>
        <p:txBody>
          <a:bodyPr anchorCtr="0" anchor="t" bIns="45700" lIns="91425" spcFirstLastPara="1" rIns="91425" wrap="square" tIns="45700">
            <a:noAutofit/>
          </a:bodyPr>
          <a:lstStyle/>
          <a:p>
            <a:pPr indent="0" lvl="0" marL="0" rtl="0" algn="ctr">
              <a:spcBef>
                <a:spcPts val="560"/>
              </a:spcBef>
              <a:spcAft>
                <a:spcPts val="0"/>
              </a:spcAft>
              <a:buNone/>
            </a:pPr>
            <a:r>
              <a:rPr b="1" lang="ja" sz="1800">
                <a:solidFill>
                  <a:srgbClr val="141D3C"/>
                </a:solidFill>
                <a:latin typeface="Calibri"/>
                <a:ea typeface="Calibri"/>
                <a:cs typeface="Calibri"/>
                <a:sym typeface="Calibri"/>
              </a:rPr>
              <a:t>他者と比較して分前が公平</a:t>
            </a:r>
            <a:endParaRPr b="1" sz="1800">
              <a:solidFill>
                <a:srgbClr val="141D3C"/>
              </a:solidFill>
              <a:latin typeface="Calibri"/>
              <a:ea typeface="Calibri"/>
              <a:cs typeface="Calibri"/>
              <a:sym typeface="Calibri"/>
            </a:endParaRPr>
          </a:p>
        </p:txBody>
      </p:sp>
      <p:sp>
        <p:nvSpPr>
          <p:cNvPr id="248" name="Google Shape;248;p46"/>
          <p:cNvSpPr/>
          <p:nvPr/>
        </p:nvSpPr>
        <p:spPr>
          <a:xfrm>
            <a:off x="1266370" y="1161300"/>
            <a:ext cx="1851600" cy="1851600"/>
          </a:xfrm>
          <a:prstGeom prst="ellipse">
            <a:avLst/>
          </a:prstGeom>
          <a:solidFill>
            <a:srgbClr val="FFE1CC"/>
          </a:solidFill>
          <a:ln>
            <a:noFill/>
          </a:ln>
        </p:spPr>
        <p:txBody>
          <a:bodyPr anchorCtr="0" anchor="ctr" bIns="45700" lIns="91425" spcFirstLastPara="1" rIns="91425" wrap="square" tIns="45700">
            <a:noAutofit/>
          </a:bodyPr>
          <a:lstStyle/>
          <a:p>
            <a:pPr indent="0" lvl="0" marL="0" rtl="0" algn="ctr">
              <a:spcBef>
                <a:spcPts val="400"/>
              </a:spcBef>
              <a:spcAft>
                <a:spcPts val="0"/>
              </a:spcAft>
              <a:buNone/>
            </a:pPr>
            <a:r>
              <a:rPr lang="ja" sz="2400">
                <a:solidFill>
                  <a:srgbClr val="141D3C"/>
                </a:solidFill>
                <a:latin typeface="Calibri"/>
                <a:ea typeface="Calibri"/>
                <a:cs typeface="Calibri"/>
                <a:sym typeface="Calibri"/>
              </a:rPr>
              <a:t>分配</a:t>
            </a:r>
            <a:endParaRPr sz="2400">
              <a:solidFill>
                <a:srgbClr val="141D3C"/>
              </a:solidFill>
              <a:latin typeface="Calibri"/>
              <a:ea typeface="Calibri"/>
              <a:cs typeface="Calibri"/>
              <a:sym typeface="Calibri"/>
            </a:endParaRPr>
          </a:p>
        </p:txBody>
      </p:sp>
      <p:sp>
        <p:nvSpPr>
          <p:cNvPr id="249" name="Google Shape;249;p46"/>
          <p:cNvSpPr/>
          <p:nvPr/>
        </p:nvSpPr>
        <p:spPr>
          <a:xfrm>
            <a:off x="5651241" y="1161300"/>
            <a:ext cx="1851600" cy="1851600"/>
          </a:xfrm>
          <a:prstGeom prst="ellipse">
            <a:avLst/>
          </a:prstGeom>
          <a:solidFill>
            <a:srgbClr val="CCE5ED"/>
          </a:solidFill>
          <a:ln>
            <a:noFill/>
          </a:ln>
        </p:spPr>
        <p:txBody>
          <a:bodyPr anchorCtr="0" anchor="ctr" bIns="45700" lIns="91425" spcFirstLastPara="1" rIns="91425" wrap="square" tIns="45700">
            <a:noAutofit/>
          </a:bodyPr>
          <a:lstStyle/>
          <a:p>
            <a:pPr indent="0" lvl="0" marL="0" rtl="0" algn="ctr">
              <a:spcBef>
                <a:spcPts val="400"/>
              </a:spcBef>
              <a:spcAft>
                <a:spcPts val="0"/>
              </a:spcAft>
              <a:buNone/>
            </a:pPr>
            <a:r>
              <a:rPr lang="ja" sz="2400">
                <a:solidFill>
                  <a:srgbClr val="141D3C"/>
                </a:solidFill>
                <a:latin typeface="Calibri"/>
                <a:ea typeface="Calibri"/>
                <a:cs typeface="Calibri"/>
                <a:sym typeface="Calibri"/>
              </a:rPr>
              <a:t>手続き</a:t>
            </a:r>
            <a:endParaRPr sz="2400">
              <a:solidFill>
                <a:srgbClr val="141D3C"/>
              </a:solidFill>
              <a:latin typeface="Calibri"/>
              <a:ea typeface="Calibri"/>
              <a:cs typeface="Calibri"/>
              <a:sym typeface="Calibri"/>
            </a:endParaRPr>
          </a:p>
        </p:txBody>
      </p:sp>
      <p:sp>
        <p:nvSpPr>
          <p:cNvPr id="250" name="Google Shape;250;p46"/>
          <p:cNvSpPr txBox="1"/>
          <p:nvPr/>
        </p:nvSpPr>
        <p:spPr>
          <a:xfrm>
            <a:off x="4744885" y="3234811"/>
            <a:ext cx="3664200" cy="421800"/>
          </a:xfrm>
          <a:prstGeom prst="rect">
            <a:avLst/>
          </a:prstGeom>
          <a:noFill/>
          <a:ln>
            <a:noFill/>
          </a:ln>
        </p:spPr>
        <p:txBody>
          <a:bodyPr anchorCtr="0" anchor="t" bIns="45700" lIns="91425" spcFirstLastPara="1" rIns="91425" wrap="square" tIns="45700">
            <a:noAutofit/>
          </a:bodyPr>
          <a:lstStyle/>
          <a:p>
            <a:pPr indent="0" lvl="0" marL="0" rtl="0" algn="ctr">
              <a:spcBef>
                <a:spcPts val="560"/>
              </a:spcBef>
              <a:spcAft>
                <a:spcPts val="0"/>
              </a:spcAft>
              <a:buNone/>
            </a:pPr>
            <a:r>
              <a:rPr b="1" lang="ja" sz="1800">
                <a:solidFill>
                  <a:srgbClr val="141D3C"/>
                </a:solidFill>
                <a:latin typeface="Calibri"/>
                <a:ea typeface="Calibri"/>
                <a:cs typeface="Calibri"/>
                <a:sym typeface="Calibri"/>
              </a:rPr>
              <a:t>評価プロセスの透明性</a:t>
            </a:r>
            <a:endParaRPr b="1" sz="1800">
              <a:solidFill>
                <a:srgbClr val="141D3C"/>
              </a:solidFill>
              <a:latin typeface="Calibri"/>
              <a:ea typeface="Calibri"/>
              <a:cs typeface="Calibri"/>
              <a:sym typeface="Calibri"/>
            </a:endParaRPr>
          </a:p>
        </p:txBody>
      </p:sp>
      <p:sp>
        <p:nvSpPr>
          <p:cNvPr id="251" name="Google Shape;251;p46"/>
          <p:cNvSpPr txBox="1"/>
          <p:nvPr/>
        </p:nvSpPr>
        <p:spPr>
          <a:xfrm>
            <a:off x="359999" y="4340694"/>
            <a:ext cx="3664200" cy="421800"/>
          </a:xfrm>
          <a:prstGeom prst="rect">
            <a:avLst/>
          </a:prstGeom>
          <a:noFill/>
          <a:ln>
            <a:noFill/>
          </a:ln>
        </p:spPr>
        <p:txBody>
          <a:bodyPr anchorCtr="0" anchor="ctr" bIns="45700" lIns="91425" spcFirstLastPara="1" rIns="91425" wrap="square" tIns="45700">
            <a:noAutofit/>
          </a:bodyPr>
          <a:lstStyle/>
          <a:p>
            <a:pPr indent="0" lvl="0" marL="0" rtl="0" algn="ctr">
              <a:spcBef>
                <a:spcPts val="240"/>
              </a:spcBef>
              <a:spcAft>
                <a:spcPts val="0"/>
              </a:spcAft>
              <a:buNone/>
            </a:pPr>
            <a:r>
              <a:rPr b="1" lang="ja">
                <a:solidFill>
                  <a:srgbClr val="00AA9B"/>
                </a:solidFill>
                <a:latin typeface="Calibri"/>
                <a:ea typeface="Calibri"/>
                <a:cs typeface="Calibri"/>
                <a:sym typeface="Calibri"/>
              </a:rPr>
              <a:t>原資が限られていてコントロールが難しい</a:t>
            </a:r>
            <a:endParaRPr b="1">
              <a:solidFill>
                <a:srgbClr val="00AA9B"/>
              </a:solidFill>
              <a:latin typeface="Calibri"/>
              <a:ea typeface="Calibri"/>
              <a:cs typeface="Calibri"/>
              <a:sym typeface="Calibri"/>
            </a:endParaRPr>
          </a:p>
        </p:txBody>
      </p:sp>
      <p:sp>
        <p:nvSpPr>
          <p:cNvPr id="252" name="Google Shape;252;p46"/>
          <p:cNvSpPr txBox="1"/>
          <p:nvPr/>
        </p:nvSpPr>
        <p:spPr>
          <a:xfrm>
            <a:off x="4744873" y="4340694"/>
            <a:ext cx="3664200" cy="421800"/>
          </a:xfrm>
          <a:prstGeom prst="rect">
            <a:avLst/>
          </a:prstGeom>
          <a:noFill/>
          <a:ln>
            <a:noFill/>
          </a:ln>
        </p:spPr>
        <p:txBody>
          <a:bodyPr anchorCtr="0" anchor="ctr" bIns="45700" lIns="91425" spcFirstLastPara="1" rIns="91425" wrap="square" tIns="45700">
            <a:noAutofit/>
          </a:bodyPr>
          <a:lstStyle/>
          <a:p>
            <a:pPr indent="0" lvl="0" marL="0" rtl="0" algn="ctr">
              <a:spcBef>
                <a:spcPts val="240"/>
              </a:spcBef>
              <a:spcAft>
                <a:spcPts val="0"/>
              </a:spcAft>
              <a:buNone/>
            </a:pPr>
            <a:r>
              <a:rPr b="1" lang="ja">
                <a:solidFill>
                  <a:srgbClr val="00AA9B"/>
                </a:solidFill>
                <a:latin typeface="Calibri"/>
                <a:ea typeface="Calibri"/>
                <a:cs typeface="Calibri"/>
                <a:sym typeface="Calibri"/>
              </a:rPr>
              <a:t>プロセス、主観を磨くことで担保可能</a:t>
            </a:r>
            <a:endParaRPr b="1">
              <a:solidFill>
                <a:srgbClr val="00AA9B"/>
              </a:solidFill>
              <a:latin typeface="Calibri"/>
              <a:ea typeface="Calibri"/>
              <a:cs typeface="Calibri"/>
              <a:sym typeface="Calibri"/>
            </a:endParaRPr>
          </a:p>
        </p:txBody>
      </p:sp>
      <p:sp>
        <p:nvSpPr>
          <p:cNvPr id="253" name="Google Shape;253;p46"/>
          <p:cNvSpPr txBox="1"/>
          <p:nvPr/>
        </p:nvSpPr>
        <p:spPr>
          <a:xfrm>
            <a:off x="4370135" y="3787752"/>
            <a:ext cx="4413900" cy="421800"/>
          </a:xfrm>
          <a:prstGeom prst="rect">
            <a:avLst/>
          </a:prstGeom>
          <a:noFill/>
          <a:ln>
            <a:noFill/>
          </a:ln>
        </p:spPr>
        <p:txBody>
          <a:bodyPr anchorCtr="0" anchor="ctr" bIns="45700" lIns="91425" spcFirstLastPara="1" rIns="91425" wrap="square" tIns="45700">
            <a:noAutofit/>
          </a:bodyPr>
          <a:lstStyle/>
          <a:p>
            <a:pPr indent="0" lvl="0" marL="0" rtl="0" algn="ctr">
              <a:spcBef>
                <a:spcPts val="320"/>
              </a:spcBef>
              <a:spcAft>
                <a:spcPts val="0"/>
              </a:spcAft>
              <a:buNone/>
            </a:pPr>
            <a:r>
              <a:rPr lang="ja" sz="1200">
                <a:solidFill>
                  <a:srgbClr val="606060"/>
                </a:solidFill>
                <a:latin typeface="Calibri"/>
                <a:ea typeface="Calibri"/>
                <a:cs typeface="Calibri"/>
                <a:sym typeface="Calibri"/>
              </a:rPr>
              <a:t>分配の公平感が得られないとき手続きの公平感を疑い</a:t>
            </a:r>
            <a:endParaRPr sz="1200">
              <a:solidFill>
                <a:srgbClr val="606060"/>
              </a:solidFill>
              <a:latin typeface="Calibri"/>
              <a:ea typeface="Calibri"/>
              <a:cs typeface="Calibri"/>
              <a:sym typeface="Calibri"/>
            </a:endParaRPr>
          </a:p>
          <a:p>
            <a:pPr indent="0" lvl="0" marL="0" rtl="0" algn="ctr">
              <a:spcBef>
                <a:spcPts val="320"/>
              </a:spcBef>
              <a:spcAft>
                <a:spcPts val="0"/>
              </a:spcAft>
              <a:buNone/>
            </a:pPr>
            <a:r>
              <a:rPr lang="ja" sz="1200">
                <a:solidFill>
                  <a:srgbClr val="606060"/>
                </a:solidFill>
                <a:latin typeface="Calibri"/>
                <a:ea typeface="Calibri"/>
                <a:cs typeface="Calibri"/>
                <a:sym typeface="Calibri"/>
              </a:rPr>
              <a:t>両方の公平感を得られないと退職に至る</a:t>
            </a:r>
            <a:endParaRPr sz="1200">
              <a:solidFill>
                <a:srgbClr val="606060"/>
              </a:solidFill>
              <a:latin typeface="Calibri"/>
              <a:ea typeface="Calibri"/>
              <a:cs typeface="Calibri"/>
              <a:sym typeface="Calibri"/>
            </a:endParaRPr>
          </a:p>
        </p:txBody>
      </p:sp>
      <p:sp>
        <p:nvSpPr>
          <p:cNvPr id="254" name="Google Shape;254;p46"/>
          <p:cNvSpPr txBox="1"/>
          <p:nvPr/>
        </p:nvSpPr>
        <p:spPr>
          <a:xfrm>
            <a:off x="359999" y="3787752"/>
            <a:ext cx="3664200" cy="421800"/>
          </a:xfrm>
          <a:prstGeom prst="rect">
            <a:avLst/>
          </a:prstGeom>
          <a:noFill/>
          <a:ln>
            <a:noFill/>
          </a:ln>
        </p:spPr>
        <p:txBody>
          <a:bodyPr anchorCtr="0" anchor="ctr" bIns="45700" lIns="91425" spcFirstLastPara="1" rIns="91425" wrap="square" tIns="45700">
            <a:noAutofit/>
          </a:bodyPr>
          <a:lstStyle/>
          <a:p>
            <a:pPr indent="0" lvl="0" marL="0" rtl="0" algn="ctr">
              <a:spcBef>
                <a:spcPts val="320"/>
              </a:spcBef>
              <a:spcAft>
                <a:spcPts val="0"/>
              </a:spcAft>
              <a:buNone/>
            </a:pPr>
            <a:r>
              <a:rPr lang="ja" sz="1200">
                <a:solidFill>
                  <a:srgbClr val="606060"/>
                </a:solidFill>
                <a:latin typeface="Calibri"/>
                <a:ea typeface="Calibri"/>
                <a:cs typeface="Calibri"/>
                <a:sym typeface="Calibri"/>
              </a:rPr>
              <a:t>自身の貢献と得られた分配の割合が</a:t>
            </a:r>
            <a:endParaRPr sz="1200">
              <a:solidFill>
                <a:srgbClr val="606060"/>
              </a:solidFill>
              <a:latin typeface="Calibri"/>
              <a:ea typeface="Calibri"/>
              <a:cs typeface="Calibri"/>
              <a:sym typeface="Calibri"/>
            </a:endParaRPr>
          </a:p>
          <a:p>
            <a:pPr indent="0" lvl="0" marL="0" rtl="0" algn="ctr">
              <a:spcBef>
                <a:spcPts val="320"/>
              </a:spcBef>
              <a:spcAft>
                <a:spcPts val="0"/>
              </a:spcAft>
              <a:buNone/>
            </a:pPr>
            <a:r>
              <a:rPr lang="ja" sz="1200">
                <a:solidFill>
                  <a:srgbClr val="606060"/>
                </a:solidFill>
                <a:latin typeface="Calibri"/>
                <a:ea typeface="Calibri"/>
                <a:cs typeface="Calibri"/>
                <a:sym typeface="Calibri"/>
              </a:rPr>
              <a:t>他者と異なると分配の公平感を失う</a:t>
            </a:r>
            <a:endParaRPr sz="1200">
              <a:solidFill>
                <a:srgbClr val="60606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360000" y="360000"/>
            <a:ext cx="8424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改めて、何のために評価をするのか</a:t>
            </a:r>
            <a:endParaRPr/>
          </a:p>
        </p:txBody>
      </p:sp>
      <p:sp>
        <p:nvSpPr>
          <p:cNvPr id="260" name="Google Shape;260;p47"/>
          <p:cNvSpPr txBox="1"/>
          <p:nvPr>
            <p:ph idx="1" type="body"/>
          </p:nvPr>
        </p:nvSpPr>
        <p:spPr>
          <a:xfrm>
            <a:off x="2463450" y="2232600"/>
            <a:ext cx="4541100" cy="6783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b="1" lang="ja" sz="3300"/>
              <a:t>メンバーの成長のため</a:t>
            </a:r>
            <a:endParaRPr b="1" sz="3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8"/>
          <p:cNvSpPr txBox="1"/>
          <p:nvPr>
            <p:ph type="title"/>
          </p:nvPr>
        </p:nvSpPr>
        <p:spPr>
          <a:xfrm>
            <a:off x="360000" y="1301600"/>
            <a:ext cx="8424000" cy="16911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ja" sz="3000"/>
              <a:t>ここからは</a:t>
            </a:r>
            <a:endParaRPr sz="3000"/>
          </a:p>
          <a:p>
            <a:pPr indent="0" lvl="0" marL="0" rtl="0" algn="ctr">
              <a:lnSpc>
                <a:spcPct val="115000"/>
              </a:lnSpc>
              <a:spcBef>
                <a:spcPts val="1200"/>
              </a:spcBef>
              <a:spcAft>
                <a:spcPts val="1200"/>
              </a:spcAft>
              <a:buNone/>
            </a:pPr>
            <a:r>
              <a:rPr lang="ja" sz="3000"/>
              <a:t>ContractSの評価・目標制度について</a:t>
            </a:r>
            <a:endParaRPr sz="3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9"/>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評価基準</a:t>
            </a:r>
            <a:endParaRPr sz="3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0"/>
          <p:cNvSpPr/>
          <p:nvPr/>
        </p:nvSpPr>
        <p:spPr>
          <a:xfrm>
            <a:off x="48025" y="2897613"/>
            <a:ext cx="7494300" cy="474300"/>
          </a:xfrm>
          <a:prstGeom prst="roundRect">
            <a:avLst>
              <a:gd fmla="val 16667" name="adj"/>
            </a:avLst>
          </a:prstGeom>
          <a:noFill/>
          <a:ln cap="flat" cmpd="sng" w="76200">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6" name="Google Shape;276;p50"/>
          <p:cNvCxnSpPr/>
          <p:nvPr/>
        </p:nvCxnSpPr>
        <p:spPr>
          <a:xfrm>
            <a:off x="3963125" y="4243875"/>
            <a:ext cx="950100" cy="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p50"/>
          <p:cNvCxnSpPr/>
          <p:nvPr/>
        </p:nvCxnSpPr>
        <p:spPr>
          <a:xfrm>
            <a:off x="3963125" y="3682050"/>
            <a:ext cx="950100" cy="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50"/>
          <p:cNvCxnSpPr/>
          <p:nvPr/>
        </p:nvCxnSpPr>
        <p:spPr>
          <a:xfrm>
            <a:off x="3963150" y="3119575"/>
            <a:ext cx="950100" cy="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50"/>
          <p:cNvCxnSpPr/>
          <p:nvPr/>
        </p:nvCxnSpPr>
        <p:spPr>
          <a:xfrm>
            <a:off x="3963150" y="2576900"/>
            <a:ext cx="950100" cy="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50"/>
          <p:cNvCxnSpPr>
            <a:stCxn id="281" idx="3"/>
            <a:endCxn id="282" idx="1"/>
          </p:cNvCxnSpPr>
          <p:nvPr/>
        </p:nvCxnSpPr>
        <p:spPr>
          <a:xfrm>
            <a:off x="3963125" y="2014375"/>
            <a:ext cx="950100" cy="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0"/>
          <p:cNvCxnSpPr>
            <a:stCxn id="284" idx="4"/>
            <a:endCxn id="285" idx="0"/>
          </p:cNvCxnSpPr>
          <p:nvPr/>
        </p:nvCxnSpPr>
        <p:spPr>
          <a:xfrm>
            <a:off x="4438200" y="2199625"/>
            <a:ext cx="0" cy="1859100"/>
          </a:xfrm>
          <a:prstGeom prst="straightConnector1">
            <a:avLst/>
          </a:prstGeom>
          <a:noFill/>
          <a:ln cap="flat" cmpd="sng" w="9525">
            <a:solidFill>
              <a:schemeClr val="dk2"/>
            </a:solidFill>
            <a:prstDash val="solid"/>
            <a:round/>
            <a:headEnd len="med" w="med" type="none"/>
            <a:tailEnd len="med" w="med" type="none"/>
          </a:ln>
        </p:spPr>
      </p:cxnSp>
      <p:sp>
        <p:nvSpPr>
          <p:cNvPr id="286" name="Google Shape;286;p50"/>
          <p:cNvSpPr/>
          <p:nvPr/>
        </p:nvSpPr>
        <p:spPr>
          <a:xfrm>
            <a:off x="552750" y="228400"/>
            <a:ext cx="69897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300">
                <a:solidFill>
                  <a:schemeClr val="accent2"/>
                </a:solidFill>
              </a:rPr>
              <a:t>評価の全体像：パフォーマンス評価とプロセス評価</a:t>
            </a:r>
            <a:endParaRPr b="1" sz="2300">
              <a:solidFill>
                <a:schemeClr val="accent2"/>
              </a:solidFill>
            </a:endParaRPr>
          </a:p>
        </p:txBody>
      </p:sp>
      <p:sp>
        <p:nvSpPr>
          <p:cNvPr id="284" name="Google Shape;284;p50"/>
          <p:cNvSpPr/>
          <p:nvPr/>
        </p:nvSpPr>
        <p:spPr>
          <a:xfrm>
            <a:off x="4211550" y="1829125"/>
            <a:ext cx="453300" cy="370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5</a:t>
            </a:r>
            <a:endParaRPr b="1" sz="2000"/>
          </a:p>
        </p:txBody>
      </p:sp>
      <p:sp>
        <p:nvSpPr>
          <p:cNvPr id="287" name="Google Shape;287;p50"/>
          <p:cNvSpPr/>
          <p:nvPr/>
        </p:nvSpPr>
        <p:spPr>
          <a:xfrm>
            <a:off x="1582650" y="1062100"/>
            <a:ext cx="23805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200"/>
              <a:t>パフォーマンス</a:t>
            </a:r>
            <a:endParaRPr b="1" sz="1200"/>
          </a:p>
          <a:p>
            <a:pPr indent="0" lvl="0" marL="0" rtl="0" algn="l">
              <a:spcBef>
                <a:spcPts val="0"/>
              </a:spcBef>
              <a:spcAft>
                <a:spcPts val="0"/>
              </a:spcAft>
              <a:buNone/>
            </a:pPr>
            <a:r>
              <a:rPr lang="ja" sz="1000"/>
              <a:t>何%達成したか、定量の結果や期待された状態に対するアウトプット。</a:t>
            </a:r>
            <a:endParaRPr sz="1000"/>
          </a:p>
        </p:txBody>
      </p:sp>
      <p:sp>
        <p:nvSpPr>
          <p:cNvPr id="281" name="Google Shape;281;p50"/>
          <p:cNvSpPr/>
          <p:nvPr/>
        </p:nvSpPr>
        <p:spPr>
          <a:xfrm>
            <a:off x="1582625" y="182912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目標を140%上回る</a:t>
            </a:r>
            <a:endParaRPr sz="1100"/>
          </a:p>
          <a:p>
            <a:pPr indent="0" lvl="0" marL="0" rtl="0" algn="ctr">
              <a:spcBef>
                <a:spcPts val="0"/>
              </a:spcBef>
              <a:spcAft>
                <a:spcPts val="0"/>
              </a:spcAft>
              <a:buNone/>
            </a:pPr>
            <a:r>
              <a:rPr lang="ja" sz="1100"/>
              <a:t>圧倒的な成果、他部署への波及</a:t>
            </a:r>
            <a:endParaRPr sz="1100"/>
          </a:p>
        </p:txBody>
      </p:sp>
      <p:sp>
        <p:nvSpPr>
          <p:cNvPr id="288" name="Google Shape;288;p50"/>
          <p:cNvSpPr/>
          <p:nvPr/>
        </p:nvSpPr>
        <p:spPr>
          <a:xfrm>
            <a:off x="4887875" y="1062100"/>
            <a:ext cx="24060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200"/>
              <a:t>プロセス</a:t>
            </a:r>
            <a:endParaRPr b="1" sz="1200"/>
          </a:p>
          <a:p>
            <a:pPr indent="0" lvl="0" marL="0" rtl="0" algn="l">
              <a:spcBef>
                <a:spcPts val="0"/>
              </a:spcBef>
              <a:spcAft>
                <a:spcPts val="0"/>
              </a:spcAft>
              <a:buNone/>
            </a:pPr>
            <a:r>
              <a:rPr lang="ja" sz="1000"/>
              <a:t>グレードのバリュー行動基準をどのくらい体現できていたか（再現性）</a:t>
            </a:r>
            <a:r>
              <a:rPr lang="ja" sz="1000"/>
              <a:t>。</a:t>
            </a:r>
            <a:endParaRPr sz="1000"/>
          </a:p>
        </p:txBody>
      </p:sp>
      <p:sp>
        <p:nvSpPr>
          <p:cNvPr id="282" name="Google Shape;282;p50"/>
          <p:cNvSpPr/>
          <p:nvPr/>
        </p:nvSpPr>
        <p:spPr>
          <a:xfrm>
            <a:off x="4913275" y="182912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上グレードのバリュー行動基準を再現性をもってできている</a:t>
            </a:r>
            <a:endParaRPr sz="1100"/>
          </a:p>
        </p:txBody>
      </p:sp>
      <p:sp>
        <p:nvSpPr>
          <p:cNvPr id="289" name="Google Shape;289;p50"/>
          <p:cNvSpPr/>
          <p:nvPr/>
        </p:nvSpPr>
        <p:spPr>
          <a:xfrm>
            <a:off x="4211550" y="2386500"/>
            <a:ext cx="453300" cy="370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4</a:t>
            </a:r>
            <a:endParaRPr b="1" sz="2000"/>
          </a:p>
        </p:txBody>
      </p:sp>
      <p:sp>
        <p:nvSpPr>
          <p:cNvPr id="290" name="Google Shape;290;p50"/>
          <p:cNvSpPr/>
          <p:nvPr/>
        </p:nvSpPr>
        <p:spPr>
          <a:xfrm>
            <a:off x="1582625" y="2386500"/>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目標を1</a:t>
            </a:r>
            <a:r>
              <a:rPr lang="ja" sz="1100"/>
              <a:t>1</a:t>
            </a:r>
            <a:r>
              <a:rPr lang="ja" sz="1100"/>
              <a:t>0%上回る</a:t>
            </a:r>
            <a:r>
              <a:rPr lang="ja" sz="1100"/>
              <a:t>成果</a:t>
            </a:r>
            <a:endParaRPr sz="1100"/>
          </a:p>
          <a:p>
            <a:pPr indent="0" lvl="0" marL="0" rtl="0" algn="ctr">
              <a:spcBef>
                <a:spcPts val="0"/>
              </a:spcBef>
              <a:spcAft>
                <a:spcPts val="0"/>
              </a:spcAft>
              <a:buNone/>
            </a:pPr>
            <a:r>
              <a:rPr lang="ja" sz="1100"/>
              <a:t>自律的にプラスαの貢献</a:t>
            </a:r>
            <a:endParaRPr sz="1100"/>
          </a:p>
        </p:txBody>
      </p:sp>
      <p:sp>
        <p:nvSpPr>
          <p:cNvPr id="291" name="Google Shape;291;p50"/>
          <p:cNvSpPr/>
          <p:nvPr/>
        </p:nvSpPr>
        <p:spPr>
          <a:xfrm>
            <a:off x="4913275" y="2386500"/>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上グレードのバリュー行動基準が概ねできている</a:t>
            </a:r>
            <a:endParaRPr sz="1100"/>
          </a:p>
        </p:txBody>
      </p:sp>
      <p:sp>
        <p:nvSpPr>
          <p:cNvPr id="292" name="Google Shape;292;p50"/>
          <p:cNvSpPr/>
          <p:nvPr/>
        </p:nvSpPr>
        <p:spPr>
          <a:xfrm>
            <a:off x="4211550" y="2943875"/>
            <a:ext cx="453300" cy="370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3</a:t>
            </a:r>
            <a:endParaRPr b="1" sz="2000"/>
          </a:p>
        </p:txBody>
      </p:sp>
      <p:sp>
        <p:nvSpPr>
          <p:cNvPr id="293" name="Google Shape;293;p50"/>
          <p:cNvSpPr/>
          <p:nvPr/>
        </p:nvSpPr>
        <p:spPr>
          <a:xfrm>
            <a:off x="1582625" y="294387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設定した目標100%</a:t>
            </a:r>
            <a:endParaRPr sz="1100"/>
          </a:p>
          <a:p>
            <a:pPr indent="0" lvl="0" marL="0" rtl="0" algn="ctr">
              <a:spcBef>
                <a:spcPts val="0"/>
              </a:spcBef>
              <a:spcAft>
                <a:spcPts val="0"/>
              </a:spcAft>
              <a:buNone/>
            </a:pPr>
            <a:r>
              <a:rPr lang="ja" sz="1100"/>
              <a:t>期待役割を過不足なく遂行</a:t>
            </a:r>
            <a:endParaRPr sz="1100"/>
          </a:p>
        </p:txBody>
      </p:sp>
      <p:sp>
        <p:nvSpPr>
          <p:cNvPr id="294" name="Google Shape;294;p50"/>
          <p:cNvSpPr/>
          <p:nvPr/>
        </p:nvSpPr>
        <p:spPr>
          <a:xfrm>
            <a:off x="4913275" y="294387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現グレードのバリュー行動基準が再現性をもってできている</a:t>
            </a:r>
            <a:endParaRPr sz="1100"/>
          </a:p>
        </p:txBody>
      </p:sp>
      <p:sp>
        <p:nvSpPr>
          <p:cNvPr id="295" name="Google Shape;295;p50"/>
          <p:cNvSpPr/>
          <p:nvPr/>
        </p:nvSpPr>
        <p:spPr>
          <a:xfrm>
            <a:off x="4211550" y="3501250"/>
            <a:ext cx="453300" cy="370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2</a:t>
            </a:r>
            <a:endParaRPr b="1" sz="2000"/>
          </a:p>
        </p:txBody>
      </p:sp>
      <p:sp>
        <p:nvSpPr>
          <p:cNvPr id="296" name="Google Shape;296;p50"/>
          <p:cNvSpPr/>
          <p:nvPr/>
        </p:nvSpPr>
        <p:spPr>
          <a:xfrm>
            <a:off x="1582625" y="3501250"/>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目標未達</a:t>
            </a:r>
            <a:endParaRPr sz="1100"/>
          </a:p>
          <a:p>
            <a:pPr indent="0" lvl="0" marL="0" rtl="0" algn="ctr">
              <a:spcBef>
                <a:spcPts val="0"/>
              </a:spcBef>
              <a:spcAft>
                <a:spcPts val="0"/>
              </a:spcAft>
              <a:buNone/>
            </a:pPr>
            <a:r>
              <a:rPr lang="ja" sz="1100"/>
              <a:t>期待役割の遂行に課題あり</a:t>
            </a:r>
            <a:endParaRPr sz="1100"/>
          </a:p>
        </p:txBody>
      </p:sp>
      <p:sp>
        <p:nvSpPr>
          <p:cNvPr id="297" name="Google Shape;297;p50"/>
          <p:cNvSpPr/>
          <p:nvPr/>
        </p:nvSpPr>
        <p:spPr>
          <a:xfrm>
            <a:off x="4913275" y="3501250"/>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現グレードのバリュー行動基準の再現性に課題あり</a:t>
            </a:r>
            <a:endParaRPr sz="1100"/>
          </a:p>
        </p:txBody>
      </p:sp>
      <p:sp>
        <p:nvSpPr>
          <p:cNvPr id="285" name="Google Shape;285;p50"/>
          <p:cNvSpPr/>
          <p:nvPr/>
        </p:nvSpPr>
        <p:spPr>
          <a:xfrm>
            <a:off x="4211550" y="4058625"/>
            <a:ext cx="453300" cy="3705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2000"/>
              <a:t>1</a:t>
            </a:r>
            <a:endParaRPr b="1" sz="2000"/>
          </a:p>
        </p:txBody>
      </p:sp>
      <p:sp>
        <p:nvSpPr>
          <p:cNvPr id="298" name="Google Shape;298;p50"/>
          <p:cNvSpPr/>
          <p:nvPr/>
        </p:nvSpPr>
        <p:spPr>
          <a:xfrm>
            <a:off x="1582625" y="405862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著しい成果不振</a:t>
            </a:r>
            <a:endParaRPr sz="1100"/>
          </a:p>
        </p:txBody>
      </p:sp>
      <p:sp>
        <p:nvSpPr>
          <p:cNvPr id="299" name="Google Shape;299;p50"/>
          <p:cNvSpPr/>
          <p:nvPr/>
        </p:nvSpPr>
        <p:spPr>
          <a:xfrm>
            <a:off x="4913275" y="4058625"/>
            <a:ext cx="2380500" cy="370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100"/>
              <a:t>現グレードのバリュー行動基準がまったくできていない</a:t>
            </a:r>
            <a:endParaRPr sz="1100"/>
          </a:p>
        </p:txBody>
      </p:sp>
      <p:sp>
        <p:nvSpPr>
          <p:cNvPr id="300" name="Google Shape;300;p50"/>
          <p:cNvSpPr/>
          <p:nvPr/>
        </p:nvSpPr>
        <p:spPr>
          <a:xfrm>
            <a:off x="41425" y="2943925"/>
            <a:ext cx="1455300" cy="370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200"/>
              <a:t>3：期待通り</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1"/>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目標設定</a:t>
            </a:r>
            <a:endParaRPr sz="3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2"/>
          <p:cNvSpPr/>
          <p:nvPr/>
        </p:nvSpPr>
        <p:spPr>
          <a:xfrm>
            <a:off x="552750" y="228400"/>
            <a:ext cx="73269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100">
                <a:solidFill>
                  <a:schemeClr val="accent2"/>
                </a:solidFill>
              </a:rPr>
              <a:t>目標シートを見ながら、ポイントを確認</a:t>
            </a:r>
            <a:r>
              <a:rPr b="1" lang="ja" sz="2100">
                <a:solidFill>
                  <a:schemeClr val="accent2"/>
                </a:solidFill>
              </a:rPr>
              <a:t>していきましょう</a:t>
            </a:r>
            <a:endParaRPr b="1" sz="2100"/>
          </a:p>
        </p:txBody>
      </p:sp>
      <p:sp>
        <p:nvSpPr>
          <p:cNvPr id="311" name="Google Shape;311;p52"/>
          <p:cNvSpPr/>
          <p:nvPr/>
        </p:nvSpPr>
        <p:spPr>
          <a:xfrm>
            <a:off x="586425" y="2316300"/>
            <a:ext cx="6634200" cy="95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600" u="sng">
                <a:solidFill>
                  <a:schemeClr val="hlink"/>
                </a:solidFill>
                <a:hlinkClick r:id="rId3"/>
              </a:rPr>
              <a:t>https://docs.google.com/spreadsheets/d/1Fhicz7JwWtoVvGAVjumMzJzBkB2HMu8hIaVSZLFywz4/edit?gid=854372515#gid=854372515</a:t>
            </a:r>
            <a:endParaRPr b="1" sz="1600"/>
          </a:p>
          <a:p>
            <a:pPr indent="0" lvl="0" marL="0" rtl="0" algn="l">
              <a:spcBef>
                <a:spcPts val="0"/>
              </a:spcBef>
              <a:spcAft>
                <a:spcPts val="0"/>
              </a:spcAft>
              <a:buNone/>
            </a:pPr>
            <a:r>
              <a:t/>
            </a:r>
            <a:endParaRPr b="1"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3"/>
          <p:cNvSpPr txBox="1"/>
          <p:nvPr/>
        </p:nvSpPr>
        <p:spPr>
          <a:xfrm>
            <a:off x="552750" y="1428825"/>
            <a:ext cx="8038500" cy="3242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b="1" lang="ja"/>
              <a:t>ミッション</a:t>
            </a:r>
            <a:r>
              <a:rPr b="1" lang="ja"/>
              <a:t>1：メンバーの目標達成（ウェイト：20%）</a:t>
            </a:r>
            <a:endParaRPr b="1"/>
          </a:p>
          <a:p>
            <a:pPr indent="-317500" lvl="1" marL="914400" rtl="0" algn="l">
              <a:lnSpc>
                <a:spcPct val="150000"/>
              </a:lnSpc>
              <a:spcBef>
                <a:spcPts val="0"/>
              </a:spcBef>
              <a:spcAft>
                <a:spcPts val="0"/>
              </a:spcAft>
              <a:buSzPts val="1400"/>
              <a:buChar char="○"/>
            </a:pPr>
            <a:r>
              <a:rPr lang="ja"/>
              <a:t>パフォーマンス目標</a:t>
            </a:r>
            <a:r>
              <a:rPr lang="ja"/>
              <a:t>：</a:t>
            </a:r>
            <a:r>
              <a:rPr lang="ja"/>
              <a:t>メンバーの目標達成</a:t>
            </a:r>
            <a:endParaRPr/>
          </a:p>
          <a:p>
            <a:pPr indent="-317500" lvl="1" marL="914400" rtl="0" algn="l">
              <a:lnSpc>
                <a:spcPct val="150000"/>
              </a:lnSpc>
              <a:spcBef>
                <a:spcPts val="0"/>
              </a:spcBef>
              <a:spcAft>
                <a:spcPts val="0"/>
              </a:spcAft>
              <a:buSzPts val="1400"/>
              <a:buChar char="○"/>
            </a:pPr>
            <a:r>
              <a:rPr lang="ja"/>
              <a:t>達成基準</a:t>
            </a:r>
            <a:r>
              <a:rPr lang="ja"/>
              <a:t>：メンバー全員</a:t>
            </a:r>
            <a:r>
              <a:rPr lang="ja"/>
              <a:t>のパフォーマンス評価</a:t>
            </a:r>
            <a:r>
              <a:rPr lang="ja"/>
              <a:t>が「期待</a:t>
            </a:r>
            <a:r>
              <a:rPr lang="ja"/>
              <a:t>を上回る</a:t>
            </a:r>
            <a:r>
              <a:rPr lang="ja"/>
              <a:t>（4点）」以上の評価となること。</a:t>
            </a:r>
            <a:endParaRPr/>
          </a:p>
          <a:p>
            <a:pPr indent="-317500" lvl="0" marL="457200" rtl="0" algn="l">
              <a:lnSpc>
                <a:spcPct val="150000"/>
              </a:lnSpc>
              <a:spcBef>
                <a:spcPts val="1000"/>
              </a:spcBef>
              <a:spcAft>
                <a:spcPts val="0"/>
              </a:spcAft>
              <a:buSzPts val="1400"/>
              <a:buChar char="●"/>
            </a:pPr>
            <a:r>
              <a:rPr b="1" lang="ja"/>
              <a:t>ミッション</a:t>
            </a:r>
            <a:r>
              <a:rPr b="1" lang="ja"/>
              <a:t>2</a:t>
            </a:r>
            <a:r>
              <a:rPr b="1" lang="ja"/>
              <a:t>：メンバーがバリューに即した行動ができているようになる</a:t>
            </a:r>
            <a:r>
              <a:rPr b="1" lang="ja"/>
              <a:t>（ウェイト：20%）</a:t>
            </a:r>
            <a:endParaRPr b="1"/>
          </a:p>
          <a:p>
            <a:pPr indent="-317500" lvl="1" marL="914400" rtl="0" algn="l">
              <a:lnSpc>
                <a:spcPct val="150000"/>
              </a:lnSpc>
              <a:spcBef>
                <a:spcPts val="0"/>
              </a:spcBef>
              <a:spcAft>
                <a:spcPts val="0"/>
              </a:spcAft>
              <a:buSzPts val="1400"/>
              <a:buChar char="○"/>
            </a:pPr>
            <a:r>
              <a:rPr lang="ja"/>
              <a:t>パフォーマンス目標</a:t>
            </a:r>
            <a:r>
              <a:rPr lang="ja"/>
              <a:t>：メンバーがバリューに即した行動</a:t>
            </a:r>
            <a:r>
              <a:rPr lang="ja"/>
              <a:t>ができているようになる。</a:t>
            </a:r>
            <a:endParaRPr/>
          </a:p>
          <a:p>
            <a:pPr indent="-317500" lvl="1" marL="914400" rtl="0" algn="l">
              <a:lnSpc>
                <a:spcPct val="150000"/>
              </a:lnSpc>
              <a:spcBef>
                <a:spcPts val="0"/>
              </a:spcBef>
              <a:spcAft>
                <a:spcPts val="0"/>
              </a:spcAft>
              <a:buSzPts val="1400"/>
              <a:buChar char="○"/>
            </a:pPr>
            <a:r>
              <a:rPr lang="ja"/>
              <a:t>達成基準</a:t>
            </a:r>
            <a:r>
              <a:rPr lang="ja"/>
              <a:t>：</a:t>
            </a:r>
            <a:r>
              <a:rPr lang="ja">
                <a:solidFill>
                  <a:schemeClr val="accent2"/>
                </a:solidFill>
              </a:rPr>
              <a:t>メンバー全員のプロセス評価が「期待を上回る（4点）」以上の評価となること。</a:t>
            </a:r>
            <a:endParaRPr>
              <a:solidFill>
                <a:schemeClr val="accent2"/>
              </a:solidFill>
            </a:endParaRPr>
          </a:p>
          <a:p>
            <a:pPr indent="-317500" lvl="0" marL="457200" rtl="0" algn="l">
              <a:lnSpc>
                <a:spcPct val="150000"/>
              </a:lnSpc>
              <a:spcBef>
                <a:spcPts val="1000"/>
              </a:spcBef>
              <a:spcAft>
                <a:spcPts val="0"/>
              </a:spcAft>
              <a:buSzPts val="1400"/>
              <a:buChar char="●"/>
            </a:pPr>
            <a:r>
              <a:rPr b="1" lang="ja"/>
              <a:t>ミッション</a:t>
            </a:r>
            <a:r>
              <a:rPr b="1" lang="ja"/>
              <a:t>3：中長期的ケイパビリティ</a:t>
            </a:r>
            <a:r>
              <a:rPr b="1" lang="ja"/>
              <a:t>獲得に対する責任をもつ</a:t>
            </a:r>
            <a:r>
              <a:rPr b="1" lang="ja"/>
              <a:t>（ウェイト：20%）</a:t>
            </a:r>
            <a:endParaRPr/>
          </a:p>
        </p:txBody>
      </p:sp>
      <p:sp>
        <p:nvSpPr>
          <p:cNvPr id="317" name="Google Shape;317;p53"/>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マネージャーの目標設定</a:t>
            </a:r>
            <a:endParaRPr b="1" sz="2400"/>
          </a:p>
        </p:txBody>
      </p:sp>
      <p:sp>
        <p:nvSpPr>
          <p:cNvPr id="318" name="Google Shape;318;p53"/>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solidFill>
                  <a:schemeClr val="accent2"/>
                </a:solidFill>
              </a:rPr>
              <a:t>マネージャーの目標は「組織成果の最大化」と「メンバーの育成」が中心。</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4"/>
          <p:cNvPicPr preferRelativeResize="0"/>
          <p:nvPr/>
        </p:nvPicPr>
        <p:blipFill>
          <a:blip r:embed="rId3">
            <a:alphaModFix/>
          </a:blip>
          <a:stretch>
            <a:fillRect/>
          </a:stretch>
        </p:blipFill>
        <p:spPr>
          <a:xfrm>
            <a:off x="813050" y="1395150"/>
            <a:ext cx="6511600" cy="2353200"/>
          </a:xfrm>
          <a:prstGeom prst="rect">
            <a:avLst/>
          </a:prstGeom>
          <a:noFill/>
          <a:ln>
            <a:noFill/>
          </a:ln>
        </p:spPr>
      </p:pic>
      <p:sp>
        <p:nvSpPr>
          <p:cNvPr id="324" name="Google Shape;324;p54"/>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マネージャーの目標設定</a:t>
            </a:r>
            <a:endParaRPr b="1" sz="2400"/>
          </a:p>
        </p:txBody>
      </p:sp>
      <p:sp>
        <p:nvSpPr>
          <p:cNvPr id="325" name="Google Shape;325;p54"/>
          <p:cNvSpPr/>
          <p:nvPr/>
        </p:nvSpPr>
        <p:spPr>
          <a:xfrm>
            <a:off x="4334275" y="2889100"/>
            <a:ext cx="3029400" cy="8598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54"/>
          <p:cNvSpPr/>
          <p:nvPr/>
        </p:nvSpPr>
        <p:spPr>
          <a:xfrm>
            <a:off x="5756425" y="4115400"/>
            <a:ext cx="3055800" cy="771300"/>
          </a:xfrm>
          <a:prstGeom prst="wedgeRoundRectCallout">
            <a:avLst>
              <a:gd fmla="val -57793" name="adj1"/>
              <a:gd fmla="val -82421" name="adj2"/>
              <a:gd fmla="val 0" name="adj3"/>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100"/>
              <a:t>メンバーの成長支援の観点から、メンバー全員が「4」の評価を取れることで、マネージャーとしても「4」の評価になる</a:t>
            </a:r>
            <a:endParaRPr b="1" sz="1100"/>
          </a:p>
        </p:txBody>
      </p:sp>
      <p:sp>
        <p:nvSpPr>
          <p:cNvPr id="327" name="Google Shape;327;p54"/>
          <p:cNvSpPr/>
          <p:nvPr/>
        </p:nvSpPr>
        <p:spPr>
          <a:xfrm>
            <a:off x="782250" y="4006975"/>
            <a:ext cx="3174900" cy="879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ja" sz="1200"/>
              <a:t>※もう一つの「メンバーがバリューに即した行動ができているようになる」についても同様の達成基準になります。</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nvSpPr>
        <p:spPr>
          <a:xfrm>
            <a:off x="552750" y="1428825"/>
            <a:ext cx="8038500" cy="25962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b="1" lang="ja"/>
              <a:t>ミッション</a:t>
            </a:r>
            <a:r>
              <a:rPr b="1" lang="ja"/>
              <a:t>1：</a:t>
            </a:r>
            <a:r>
              <a:rPr b="1" lang="ja"/>
              <a:t>SBUの短期事業目標</a:t>
            </a:r>
            <a:r>
              <a:rPr b="1" lang="ja"/>
              <a:t>の達成（ウェイト：</a:t>
            </a:r>
            <a:r>
              <a:rPr b="1" lang="ja"/>
              <a:t>2</a:t>
            </a:r>
            <a:r>
              <a:rPr b="1" lang="ja"/>
              <a:t>0%）</a:t>
            </a:r>
            <a:endParaRPr b="1"/>
          </a:p>
          <a:p>
            <a:pPr indent="-317500" lvl="1" marL="914400" rtl="0" algn="l">
              <a:lnSpc>
                <a:spcPct val="150000"/>
              </a:lnSpc>
              <a:spcBef>
                <a:spcPts val="0"/>
              </a:spcBef>
              <a:spcAft>
                <a:spcPts val="0"/>
              </a:spcAft>
              <a:buSzPts val="1400"/>
              <a:buChar char="○"/>
            </a:pPr>
            <a:r>
              <a:rPr lang="ja"/>
              <a:t>パフォーマンス目標：</a:t>
            </a:r>
            <a:r>
              <a:rPr lang="ja">
                <a:solidFill>
                  <a:schemeClr val="accent2"/>
                </a:solidFill>
              </a:rPr>
              <a:t>SBUの短期事業目標の達成</a:t>
            </a:r>
            <a:endParaRPr>
              <a:solidFill>
                <a:schemeClr val="accent2"/>
              </a:solidFill>
            </a:endParaRPr>
          </a:p>
          <a:p>
            <a:pPr indent="-317500" lvl="1" marL="914400" rtl="0" algn="l">
              <a:lnSpc>
                <a:spcPct val="150000"/>
              </a:lnSpc>
              <a:spcBef>
                <a:spcPts val="0"/>
              </a:spcBef>
              <a:spcAft>
                <a:spcPts val="0"/>
              </a:spcAft>
              <a:buClr>
                <a:schemeClr val="accent2"/>
              </a:buClr>
              <a:buSzPts val="1400"/>
              <a:buChar char="○"/>
            </a:pPr>
            <a:r>
              <a:rPr lang="ja">
                <a:solidFill>
                  <a:schemeClr val="accent2"/>
                </a:solidFill>
              </a:rPr>
              <a:t>達成基準：目標数値を100%達成で評価が「期待通り：3」</a:t>
            </a:r>
            <a:endParaRPr>
              <a:solidFill>
                <a:schemeClr val="accent2"/>
              </a:solidFill>
            </a:endParaRPr>
          </a:p>
          <a:p>
            <a:pPr indent="-317500" lvl="0" marL="457200" rtl="0" algn="l">
              <a:lnSpc>
                <a:spcPct val="150000"/>
              </a:lnSpc>
              <a:spcBef>
                <a:spcPts val="1000"/>
              </a:spcBef>
              <a:spcAft>
                <a:spcPts val="0"/>
              </a:spcAft>
              <a:buSzPts val="1400"/>
              <a:buChar char="●"/>
            </a:pPr>
            <a:r>
              <a:rPr b="1" lang="ja"/>
              <a:t>ミッション</a:t>
            </a:r>
            <a:r>
              <a:rPr b="1" lang="ja"/>
              <a:t>2：</a:t>
            </a:r>
            <a:r>
              <a:rPr b="1" lang="ja">
                <a:solidFill>
                  <a:schemeClr val="accent2"/>
                </a:solidFill>
              </a:rPr>
              <a:t>SBUの中長期事業目標の達成</a:t>
            </a:r>
            <a:r>
              <a:rPr b="1" lang="ja"/>
              <a:t>（ウェイト：20%）</a:t>
            </a:r>
            <a:endParaRPr/>
          </a:p>
          <a:p>
            <a:pPr indent="-317500" lvl="1" marL="914400" rtl="0" algn="l">
              <a:lnSpc>
                <a:spcPct val="150000"/>
              </a:lnSpc>
              <a:spcBef>
                <a:spcPts val="0"/>
              </a:spcBef>
              <a:spcAft>
                <a:spcPts val="0"/>
              </a:spcAft>
              <a:buSzPts val="1400"/>
              <a:buChar char="○"/>
            </a:pPr>
            <a:r>
              <a:rPr lang="ja"/>
              <a:t>パフォーマンス目標：</a:t>
            </a:r>
            <a:r>
              <a:rPr lang="ja">
                <a:solidFill>
                  <a:schemeClr val="accent2"/>
                </a:solidFill>
              </a:rPr>
              <a:t>SBUの短期事業目標の達成</a:t>
            </a:r>
            <a:endParaRPr>
              <a:solidFill>
                <a:schemeClr val="accent2"/>
              </a:solidFill>
            </a:endParaRPr>
          </a:p>
          <a:p>
            <a:pPr indent="-317500" lvl="1" marL="914400" rtl="0" algn="l">
              <a:lnSpc>
                <a:spcPct val="150000"/>
              </a:lnSpc>
              <a:spcBef>
                <a:spcPts val="0"/>
              </a:spcBef>
              <a:spcAft>
                <a:spcPts val="0"/>
              </a:spcAft>
              <a:buClr>
                <a:schemeClr val="accent2"/>
              </a:buClr>
              <a:buSzPts val="1400"/>
              <a:buChar char="○"/>
            </a:pPr>
            <a:r>
              <a:rPr lang="ja">
                <a:solidFill>
                  <a:schemeClr val="accent2"/>
                </a:solidFill>
              </a:rPr>
              <a:t>達成基準：目標数値を100%達成で評価が「期待通り：3」</a:t>
            </a:r>
            <a:endParaRPr>
              <a:solidFill>
                <a:schemeClr val="accent2"/>
              </a:solidFill>
            </a:endParaRPr>
          </a:p>
          <a:p>
            <a:pPr indent="-317500" lvl="0" marL="457200" rtl="0" algn="l">
              <a:lnSpc>
                <a:spcPct val="150000"/>
              </a:lnSpc>
              <a:spcBef>
                <a:spcPts val="1000"/>
              </a:spcBef>
              <a:spcAft>
                <a:spcPts val="0"/>
              </a:spcAft>
              <a:buSzPts val="1400"/>
              <a:buChar char="●"/>
            </a:pPr>
            <a:r>
              <a:rPr b="1" lang="ja"/>
              <a:t>ミッション</a:t>
            </a:r>
            <a:r>
              <a:rPr b="1" lang="ja"/>
              <a:t>3：中長期的ケイパビリティの獲得</a:t>
            </a:r>
            <a:r>
              <a:rPr b="1" lang="ja"/>
              <a:t>に責任をもつ</a:t>
            </a:r>
            <a:r>
              <a:rPr b="1" lang="ja"/>
              <a:t>（ウェイト：20%）</a:t>
            </a:r>
            <a:endParaRPr/>
          </a:p>
        </p:txBody>
      </p:sp>
      <p:sp>
        <p:nvSpPr>
          <p:cNvPr id="333" name="Google Shape;333;p55"/>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VL</a:t>
            </a:r>
            <a:r>
              <a:rPr b="1" lang="ja" sz="2400">
                <a:solidFill>
                  <a:schemeClr val="accent2"/>
                </a:solidFill>
              </a:rPr>
              <a:t>の目標設定</a:t>
            </a:r>
            <a:endParaRPr b="1" sz="2400"/>
          </a:p>
        </p:txBody>
      </p:sp>
      <p:sp>
        <p:nvSpPr>
          <p:cNvPr id="334" name="Google Shape;334;p55"/>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solidFill>
                  <a:schemeClr val="accent2"/>
                </a:solidFill>
              </a:rPr>
              <a:t>VL</a:t>
            </a:r>
            <a:r>
              <a:rPr lang="ja">
                <a:solidFill>
                  <a:schemeClr val="accent2"/>
                </a:solidFill>
              </a:rPr>
              <a:t>の目標は</a:t>
            </a:r>
            <a:r>
              <a:rPr lang="ja">
                <a:solidFill>
                  <a:schemeClr val="accent2"/>
                </a:solidFill>
              </a:rPr>
              <a:t>「事業マネジメント」</a:t>
            </a:r>
            <a:r>
              <a:rPr lang="ja">
                <a:solidFill>
                  <a:schemeClr val="accent2"/>
                </a:solidFill>
              </a:rPr>
              <a:t>が中心。</a:t>
            </a:r>
            <a:endParaRPr sz="1600"/>
          </a:p>
        </p:txBody>
      </p:sp>
      <p:sp>
        <p:nvSpPr>
          <p:cNvPr id="335" name="Google Shape;335;p55"/>
          <p:cNvSpPr/>
          <p:nvPr/>
        </p:nvSpPr>
        <p:spPr>
          <a:xfrm>
            <a:off x="914550" y="4289740"/>
            <a:ext cx="42201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t>※難易度によって変動あり</a:t>
            </a:r>
            <a:endParaRPr sz="1200"/>
          </a:p>
          <a:p>
            <a:pPr indent="0" lvl="0" marL="0" rtl="0" algn="l">
              <a:spcBef>
                <a:spcPts val="0"/>
              </a:spcBef>
              <a:spcAft>
                <a:spcPts val="0"/>
              </a:spcAft>
              <a:buNone/>
            </a:pPr>
            <a:r>
              <a:rPr lang="ja" sz="1200"/>
              <a:t>MgrとVL兼務している方はウェイトの調整</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6"/>
          <p:cNvSpPr txBox="1"/>
          <p:nvPr/>
        </p:nvSpPr>
        <p:spPr>
          <a:xfrm>
            <a:off x="552750" y="1299850"/>
            <a:ext cx="8038500" cy="400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ja"/>
              <a:t>「やらされ仕事」</a:t>
            </a:r>
            <a:r>
              <a:rPr lang="ja"/>
              <a:t>にならないようにすること。</a:t>
            </a:r>
            <a:endParaRPr/>
          </a:p>
        </p:txBody>
      </p:sp>
      <p:sp>
        <p:nvSpPr>
          <p:cNvPr id="341" name="Google Shape;341;p56"/>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メンバーの</a:t>
            </a:r>
            <a:r>
              <a:rPr b="1" lang="ja" sz="2400">
                <a:solidFill>
                  <a:schemeClr val="accent2"/>
                </a:solidFill>
              </a:rPr>
              <a:t>目標設定</a:t>
            </a:r>
            <a:r>
              <a:rPr b="1" lang="ja" sz="2400">
                <a:solidFill>
                  <a:schemeClr val="accent2"/>
                </a:solidFill>
              </a:rPr>
              <a:t>ポイント</a:t>
            </a:r>
            <a:endParaRPr b="1" sz="2400"/>
          </a:p>
        </p:txBody>
      </p:sp>
      <p:sp>
        <p:nvSpPr>
          <p:cNvPr id="342" name="Google Shape;342;p56"/>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a:solidFill>
                  <a:schemeClr val="accent2"/>
                </a:solidFill>
              </a:rPr>
              <a:t>1. 「会社（SBU)ミッション」と「個人の意志」を接続させる</a:t>
            </a:r>
            <a:endParaRPr b="1" sz="1600"/>
          </a:p>
        </p:txBody>
      </p:sp>
      <p:sp>
        <p:nvSpPr>
          <p:cNvPr id="343" name="Google Shape;343;p56"/>
          <p:cNvSpPr txBox="1"/>
          <p:nvPr/>
        </p:nvSpPr>
        <p:spPr>
          <a:xfrm>
            <a:off x="493475" y="1733100"/>
            <a:ext cx="3457200" cy="1431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❌NG</a:t>
            </a:r>
            <a:endParaRPr b="1" sz="1200"/>
          </a:p>
          <a:p>
            <a:pPr indent="-304800" lvl="0" marL="457200" rtl="0" algn="l">
              <a:lnSpc>
                <a:spcPct val="115000"/>
              </a:lnSpc>
              <a:spcBef>
                <a:spcPts val="0"/>
              </a:spcBef>
              <a:spcAft>
                <a:spcPts val="0"/>
              </a:spcAft>
              <a:buSzPts val="1200"/>
              <a:buChar char="●"/>
            </a:pPr>
            <a:r>
              <a:rPr lang="ja" sz="1200"/>
              <a:t>メンバーが書いてきたものを「会社のミッション」を踏まえずにそのまま採用する</a:t>
            </a:r>
            <a:endParaRPr sz="1200"/>
          </a:p>
          <a:p>
            <a:pPr indent="-304800" lvl="0" marL="457200" rtl="0" algn="l">
              <a:lnSpc>
                <a:spcPct val="115000"/>
              </a:lnSpc>
              <a:spcBef>
                <a:spcPts val="0"/>
              </a:spcBef>
              <a:spcAft>
                <a:spcPts val="0"/>
              </a:spcAft>
              <a:buSzPts val="1200"/>
              <a:buChar char="●"/>
            </a:pPr>
            <a:r>
              <a:rPr lang="ja" sz="1200"/>
              <a:t>例）「今期のSBU目標これだから、あなたの目標はこれね」</a:t>
            </a:r>
            <a:endParaRPr sz="1200"/>
          </a:p>
        </p:txBody>
      </p:sp>
      <p:sp>
        <p:nvSpPr>
          <p:cNvPr id="344" name="Google Shape;344;p56"/>
          <p:cNvSpPr txBox="1"/>
          <p:nvPr/>
        </p:nvSpPr>
        <p:spPr>
          <a:xfrm>
            <a:off x="4528675" y="1733100"/>
            <a:ext cx="3457200" cy="2068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⭕️GOOD</a:t>
            </a:r>
            <a:endParaRPr b="1" sz="1200"/>
          </a:p>
          <a:p>
            <a:pPr indent="-304800" lvl="0" marL="457200" rtl="0" algn="l">
              <a:lnSpc>
                <a:spcPct val="115000"/>
              </a:lnSpc>
              <a:spcBef>
                <a:spcPts val="0"/>
              </a:spcBef>
              <a:spcAft>
                <a:spcPts val="0"/>
              </a:spcAft>
              <a:buSzPts val="1200"/>
              <a:buChar char="●"/>
            </a:pPr>
            <a:r>
              <a:rPr lang="ja" sz="1200"/>
              <a:t>「なぜこの目標があなたに必要なのか」「これが達成されると、チームや顧客にどんな良いことがあるのか」という理由を伝える</a:t>
            </a:r>
            <a:endParaRPr sz="1200"/>
          </a:p>
          <a:p>
            <a:pPr indent="-304800" lvl="0" marL="457200" rtl="0" algn="l">
              <a:lnSpc>
                <a:spcPct val="115000"/>
              </a:lnSpc>
              <a:spcBef>
                <a:spcPts val="0"/>
              </a:spcBef>
              <a:spcAft>
                <a:spcPts val="0"/>
              </a:spcAft>
              <a:buSzPts val="1200"/>
              <a:buChar char="●"/>
            </a:pPr>
            <a:r>
              <a:rPr lang="ja" sz="1200"/>
              <a:t>例）「今期のチームの鍵は〇〇です。君の△△という強みを活かして、この部分を牽引してほしい」</a:t>
            </a:r>
            <a:endParaRPr sz="1200"/>
          </a:p>
          <a:p>
            <a:pPr indent="0" lvl="0" marL="0" rtl="0" algn="l">
              <a:lnSpc>
                <a:spcPct val="115000"/>
              </a:lnSpc>
              <a:spcBef>
                <a:spcPts val="0"/>
              </a:spcBef>
              <a:spcAft>
                <a:spcPts val="0"/>
              </a:spcAft>
              <a:buNone/>
            </a:pPr>
            <a:r>
              <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nvSpPr>
        <p:spPr>
          <a:xfrm>
            <a:off x="552750" y="1299850"/>
            <a:ext cx="8038500" cy="400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ja"/>
              <a:t>目標難易度の基本：現グレードの一つ上のグレードを基準とすること。</a:t>
            </a:r>
            <a:endParaRPr/>
          </a:p>
        </p:txBody>
      </p:sp>
      <p:sp>
        <p:nvSpPr>
          <p:cNvPr id="350" name="Google Shape;350;p57"/>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メンバーの目標設定ポイント</a:t>
            </a:r>
            <a:endParaRPr b="1" sz="2400"/>
          </a:p>
        </p:txBody>
      </p:sp>
      <p:sp>
        <p:nvSpPr>
          <p:cNvPr id="351" name="Google Shape;351;p57"/>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a:solidFill>
                  <a:schemeClr val="accent2"/>
                </a:solidFill>
              </a:rPr>
              <a:t>2. グレードに基づいた「期待役割」の再確認</a:t>
            </a:r>
            <a:endParaRPr b="1" sz="1600"/>
          </a:p>
        </p:txBody>
      </p:sp>
      <p:sp>
        <p:nvSpPr>
          <p:cNvPr id="352" name="Google Shape;352;p57"/>
          <p:cNvSpPr txBox="1"/>
          <p:nvPr/>
        </p:nvSpPr>
        <p:spPr>
          <a:xfrm>
            <a:off x="493475" y="1733100"/>
            <a:ext cx="3457200" cy="794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❌NG</a:t>
            </a:r>
            <a:endParaRPr b="1" sz="1200"/>
          </a:p>
          <a:p>
            <a:pPr indent="-304800" lvl="0" marL="457200" rtl="0" algn="l">
              <a:lnSpc>
                <a:spcPct val="115000"/>
              </a:lnSpc>
              <a:spcBef>
                <a:spcPts val="0"/>
              </a:spcBef>
              <a:spcAft>
                <a:spcPts val="0"/>
              </a:spcAft>
              <a:buSzPts val="1200"/>
              <a:buChar char="●"/>
            </a:pPr>
            <a:r>
              <a:rPr lang="ja" sz="1200"/>
              <a:t>メンバーが書いてきたものを「グレード」を踏まえずにそのまま採用する</a:t>
            </a:r>
            <a:endParaRPr sz="1200"/>
          </a:p>
        </p:txBody>
      </p:sp>
      <p:sp>
        <p:nvSpPr>
          <p:cNvPr id="353" name="Google Shape;353;p57"/>
          <p:cNvSpPr txBox="1"/>
          <p:nvPr/>
        </p:nvSpPr>
        <p:spPr>
          <a:xfrm>
            <a:off x="4528675" y="1733100"/>
            <a:ext cx="3457200" cy="1856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⭕️GOOD</a:t>
            </a:r>
            <a:endParaRPr b="1" sz="1200"/>
          </a:p>
          <a:p>
            <a:pPr indent="-304800" lvl="0" marL="457200" rtl="0" algn="l">
              <a:lnSpc>
                <a:spcPct val="115000"/>
              </a:lnSpc>
              <a:spcBef>
                <a:spcPts val="0"/>
              </a:spcBef>
              <a:spcAft>
                <a:spcPts val="0"/>
              </a:spcAft>
              <a:buSzPts val="1200"/>
              <a:buChar char="●"/>
            </a:pPr>
            <a:r>
              <a:rPr lang="ja" sz="1200"/>
              <a:t>一つ上のグレードを踏まえた目標になるように支援する</a:t>
            </a:r>
            <a:endParaRPr sz="1200"/>
          </a:p>
          <a:p>
            <a:pPr indent="-304800" lvl="0" marL="457200" rtl="0" algn="l">
              <a:lnSpc>
                <a:spcPct val="115000"/>
              </a:lnSpc>
              <a:spcBef>
                <a:spcPts val="0"/>
              </a:spcBef>
              <a:spcAft>
                <a:spcPts val="0"/>
              </a:spcAft>
              <a:buSzPts val="1200"/>
              <a:buChar char="●"/>
            </a:pPr>
            <a:r>
              <a:rPr lang="ja" sz="1200"/>
              <a:t>例）「あなたは今この部分が再現性高くできるようになったら、次のグレードが目指せる。そのためには、どんな目標が良いか一緒に考えよう。」</a:t>
            </a:r>
            <a:endParaRPr sz="1200"/>
          </a:p>
          <a:p>
            <a:pPr indent="0" lvl="0" marL="0" rtl="0" algn="l">
              <a:lnSpc>
                <a:spcPct val="115000"/>
              </a:lnSpc>
              <a:spcBef>
                <a:spcPts val="0"/>
              </a:spcBef>
              <a:spcAft>
                <a:spcPts val="0"/>
              </a:spcAft>
              <a:buNone/>
            </a:pPr>
            <a:r>
              <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nvSpPr>
        <p:spPr>
          <a:xfrm>
            <a:off x="552750" y="1299850"/>
            <a:ext cx="8038500" cy="7233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ja"/>
              <a:t>「バリューを意識してがんばる」ではなく、バリュー行動基準をメンバーの「日常業務における具体的な行動」に。</a:t>
            </a:r>
            <a:endParaRPr/>
          </a:p>
        </p:txBody>
      </p:sp>
      <p:sp>
        <p:nvSpPr>
          <p:cNvPr id="359" name="Google Shape;359;p58"/>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メンバーの目標設定ポイント</a:t>
            </a:r>
            <a:endParaRPr b="1" sz="2400"/>
          </a:p>
        </p:txBody>
      </p:sp>
      <p:sp>
        <p:nvSpPr>
          <p:cNvPr id="360" name="Google Shape;360;p58"/>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a:solidFill>
                  <a:schemeClr val="accent2"/>
                </a:solidFill>
              </a:rPr>
              <a:t>3. 「バリュー行動基準」を具体的なアクションに落とし込む</a:t>
            </a:r>
            <a:endParaRPr b="1" sz="1600"/>
          </a:p>
        </p:txBody>
      </p:sp>
      <p:sp>
        <p:nvSpPr>
          <p:cNvPr id="361" name="Google Shape;361;p58"/>
          <p:cNvSpPr txBox="1"/>
          <p:nvPr/>
        </p:nvSpPr>
        <p:spPr>
          <a:xfrm>
            <a:off x="493475" y="2301975"/>
            <a:ext cx="3457200" cy="10065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❌NG</a:t>
            </a:r>
            <a:endParaRPr b="1" sz="1200"/>
          </a:p>
          <a:p>
            <a:pPr indent="-304800" lvl="0" marL="457200" rtl="0" algn="l">
              <a:lnSpc>
                <a:spcPct val="115000"/>
              </a:lnSpc>
              <a:spcBef>
                <a:spcPts val="0"/>
              </a:spcBef>
              <a:spcAft>
                <a:spcPts val="0"/>
              </a:spcAft>
              <a:buSzPts val="1200"/>
              <a:buChar char="●"/>
            </a:pPr>
            <a:r>
              <a:rPr lang="ja" sz="1200"/>
              <a:t>メンバーが書いてきたものを「</a:t>
            </a:r>
            <a:r>
              <a:rPr lang="ja" sz="1200"/>
              <a:t>バリュー行動基準</a:t>
            </a:r>
            <a:r>
              <a:rPr lang="ja" sz="1200"/>
              <a:t>」を踏まえずにそのまま採用する</a:t>
            </a:r>
            <a:endParaRPr sz="1200"/>
          </a:p>
        </p:txBody>
      </p:sp>
      <p:sp>
        <p:nvSpPr>
          <p:cNvPr id="362" name="Google Shape;362;p58"/>
          <p:cNvSpPr txBox="1"/>
          <p:nvPr/>
        </p:nvSpPr>
        <p:spPr>
          <a:xfrm>
            <a:off x="4515450" y="2301975"/>
            <a:ext cx="3457200" cy="1218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t>⭕️GOOD</a:t>
            </a:r>
            <a:endParaRPr b="1" sz="1200"/>
          </a:p>
          <a:p>
            <a:pPr indent="-304800" lvl="0" marL="457200" rtl="0" algn="l">
              <a:lnSpc>
                <a:spcPct val="115000"/>
              </a:lnSpc>
              <a:spcBef>
                <a:spcPts val="0"/>
              </a:spcBef>
              <a:spcAft>
                <a:spcPts val="0"/>
              </a:spcAft>
              <a:buSzPts val="1200"/>
              <a:buChar char="●"/>
            </a:pPr>
            <a:r>
              <a:rPr lang="ja" sz="1200"/>
              <a:t>具体的に、どんな場面でそのバリューを発揮する予定？」と問いかけ、具体的な目標が設定できるよう支援する。</a:t>
            </a:r>
            <a:endParaRPr sz="1200"/>
          </a:p>
          <a:p>
            <a:pPr indent="0" lvl="0" marL="0" rtl="0" algn="l">
              <a:lnSpc>
                <a:spcPct val="115000"/>
              </a:lnSpc>
              <a:spcBef>
                <a:spcPts val="0"/>
              </a:spcBef>
              <a:spcAft>
                <a:spcPts val="0"/>
              </a:spcAft>
              <a:buNone/>
            </a:pPr>
            <a:r>
              <a:t/>
            </a:r>
            <a:endParaRPr sz="1200"/>
          </a:p>
        </p:txBody>
      </p:sp>
      <p:sp>
        <p:nvSpPr>
          <p:cNvPr id="363" name="Google Shape;363;p58"/>
          <p:cNvSpPr/>
          <p:nvPr/>
        </p:nvSpPr>
        <p:spPr>
          <a:xfrm>
            <a:off x="828550" y="3874675"/>
            <a:ext cx="2513700" cy="58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バリュー行動基準は</a:t>
            </a:r>
            <a:r>
              <a:rPr lang="ja" u="sng">
                <a:solidFill>
                  <a:schemeClr val="hlink"/>
                </a:solidFill>
                <a:hlinkClick r:id="rId3"/>
              </a:rPr>
              <a:t>こちら</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9"/>
          <p:cNvSpPr txBox="1"/>
          <p:nvPr/>
        </p:nvSpPr>
        <p:spPr>
          <a:xfrm>
            <a:off x="552750" y="1299850"/>
            <a:ext cx="8038500" cy="400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rPr lang="ja"/>
              <a:t>期首の「達成基準」の曖昧にしないこと。</a:t>
            </a:r>
            <a:endParaRPr/>
          </a:p>
        </p:txBody>
      </p:sp>
      <p:sp>
        <p:nvSpPr>
          <p:cNvPr id="369" name="Google Shape;369;p59"/>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メンバーの目標設定ポイント</a:t>
            </a:r>
            <a:endParaRPr b="1" sz="2400"/>
          </a:p>
        </p:txBody>
      </p:sp>
      <p:sp>
        <p:nvSpPr>
          <p:cNvPr id="370" name="Google Shape;370;p59"/>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a:solidFill>
                  <a:schemeClr val="accent2"/>
                </a:solidFill>
              </a:rPr>
              <a:t>4. 「3（期待通り）」の定義を握り、後出しジャンケンを防ぐ</a:t>
            </a:r>
            <a:endParaRPr b="1" sz="1600"/>
          </a:p>
        </p:txBody>
      </p:sp>
      <p:sp>
        <p:nvSpPr>
          <p:cNvPr id="371" name="Google Shape;371;p59"/>
          <p:cNvSpPr txBox="1"/>
          <p:nvPr/>
        </p:nvSpPr>
        <p:spPr>
          <a:xfrm>
            <a:off x="486850" y="1865400"/>
            <a:ext cx="7386300" cy="1200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ja" sz="1200">
                <a:solidFill>
                  <a:schemeClr val="accent2"/>
                </a:solidFill>
              </a:rPr>
              <a:t>💡チェックポイント</a:t>
            </a:r>
            <a:endParaRPr b="1" sz="1200"/>
          </a:p>
          <a:p>
            <a:pPr indent="-304800" lvl="0" marL="457200" rtl="0" algn="l">
              <a:lnSpc>
                <a:spcPct val="150000"/>
              </a:lnSpc>
              <a:spcBef>
                <a:spcPts val="0"/>
              </a:spcBef>
              <a:spcAft>
                <a:spcPts val="0"/>
              </a:spcAft>
              <a:buSzPts val="1200"/>
              <a:buChar char="●"/>
            </a:pPr>
            <a:r>
              <a:rPr lang="ja" sz="1200"/>
              <a:t>数値目標だけでなく、定性的な目標（プロセス）についても、「どういう状態になれば3（100%達成）か」を事前に</a:t>
            </a:r>
            <a:r>
              <a:rPr lang="ja" sz="1200">
                <a:solidFill>
                  <a:schemeClr val="accent2"/>
                </a:solidFill>
              </a:rPr>
              <a:t>目線合わせし、目標シートの達成基準に記載しておくこと。</a:t>
            </a:r>
            <a:endParaRPr sz="1200">
              <a:solidFill>
                <a:schemeClr val="accent2"/>
              </a:solidFill>
            </a:endParaRPr>
          </a:p>
          <a:p>
            <a:pPr indent="-304800" lvl="0" marL="457200" rtl="0" algn="l">
              <a:lnSpc>
                <a:spcPct val="150000"/>
              </a:lnSpc>
              <a:spcBef>
                <a:spcPts val="0"/>
              </a:spcBef>
              <a:spcAft>
                <a:spcPts val="0"/>
              </a:spcAft>
              <a:buSzPts val="1200"/>
              <a:buChar char="●"/>
            </a:pPr>
            <a:r>
              <a:rPr lang="ja" sz="1200"/>
              <a:t>「4（期待以上）」の基準もあわせて話しておくと、メンバーの視座をあげること。</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0"/>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メンバーの目標設定ポイント</a:t>
            </a:r>
            <a:endParaRPr b="1" sz="2400"/>
          </a:p>
        </p:txBody>
      </p:sp>
      <p:sp>
        <p:nvSpPr>
          <p:cNvPr id="377" name="Google Shape;377;p60"/>
          <p:cNvSpPr/>
          <p:nvPr/>
        </p:nvSpPr>
        <p:spPr>
          <a:xfrm>
            <a:off x="552750" y="822000"/>
            <a:ext cx="66342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a:solidFill>
                  <a:schemeClr val="accent2"/>
                </a:solidFill>
              </a:rPr>
              <a:t>5. 3ヶ月後を「中間振り返り」として設計する</a:t>
            </a:r>
            <a:endParaRPr b="1" sz="1600"/>
          </a:p>
        </p:txBody>
      </p:sp>
      <p:sp>
        <p:nvSpPr>
          <p:cNvPr id="378" name="Google Shape;378;p60"/>
          <p:cNvSpPr txBox="1"/>
          <p:nvPr/>
        </p:nvSpPr>
        <p:spPr>
          <a:xfrm>
            <a:off x="500075" y="1362900"/>
            <a:ext cx="73863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solidFill>
                  <a:schemeClr val="accent2"/>
                </a:solidFill>
              </a:rPr>
              <a:t>ポイント1</a:t>
            </a:r>
            <a:endParaRPr b="1" sz="1200"/>
          </a:p>
          <a:p>
            <a:pPr indent="0" lvl="0" marL="0" rtl="0" algn="l">
              <a:lnSpc>
                <a:spcPct val="115000"/>
              </a:lnSpc>
              <a:spcBef>
                <a:spcPts val="0"/>
              </a:spcBef>
              <a:spcAft>
                <a:spcPts val="0"/>
              </a:spcAft>
              <a:buNone/>
            </a:pPr>
            <a:r>
              <a:rPr lang="ja" sz="1200"/>
              <a:t>新制度では3ヶ月ごとの振り返りが組み込まれています。「状況が変わったら、3ヶ月のタイミングで目標の微調整（修正）をしよう」と伝えておくことで、変化の激しい業務の中でもメンバーが目標を見失わずに済みます。</a:t>
            </a:r>
            <a:endParaRPr sz="1200"/>
          </a:p>
        </p:txBody>
      </p:sp>
      <p:sp>
        <p:nvSpPr>
          <p:cNvPr id="379" name="Google Shape;379;p60"/>
          <p:cNvSpPr txBox="1"/>
          <p:nvPr/>
        </p:nvSpPr>
        <p:spPr>
          <a:xfrm>
            <a:off x="500075" y="2419250"/>
            <a:ext cx="73863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solidFill>
                  <a:schemeClr val="accent2"/>
                </a:solidFill>
              </a:rPr>
              <a:t>ポイント</a:t>
            </a:r>
            <a:r>
              <a:rPr b="1" lang="ja" sz="1200">
                <a:solidFill>
                  <a:schemeClr val="accent2"/>
                </a:solidFill>
              </a:rPr>
              <a:t>2</a:t>
            </a:r>
            <a:endParaRPr b="1" sz="1200"/>
          </a:p>
          <a:p>
            <a:pPr indent="0" lvl="0" marL="0" rtl="0" algn="l">
              <a:lnSpc>
                <a:spcPct val="115000"/>
              </a:lnSpc>
              <a:spcBef>
                <a:spcPts val="0"/>
              </a:spcBef>
              <a:spcAft>
                <a:spcPts val="0"/>
              </a:spcAft>
              <a:buNone/>
            </a:pPr>
            <a:r>
              <a:rPr lang="ja" sz="1200"/>
              <a:t>3ヶ月後の振り返りを通常業務の中でタスク管理の一環として済ませず、本人の今の状況や挑戦できているかを踏まえてFBしたうえで、修正をすること。</a:t>
            </a:r>
            <a:endParaRPr sz="1200"/>
          </a:p>
          <a:p>
            <a:pPr indent="0" lvl="0" marL="0" rtl="0" algn="l">
              <a:lnSpc>
                <a:spcPct val="115000"/>
              </a:lnSpc>
              <a:spcBef>
                <a:spcPts val="0"/>
              </a:spcBef>
              <a:spcAft>
                <a:spcPts val="0"/>
              </a:spcAft>
              <a:buNone/>
            </a:pPr>
            <a:r>
              <a:rPr lang="ja" sz="1200">
                <a:solidFill>
                  <a:srgbClr val="FF0000"/>
                </a:solidFill>
              </a:rPr>
              <a:t>やらずに過ぎ去るのはNG</a:t>
            </a:r>
            <a:endParaRPr sz="1200">
              <a:solidFill>
                <a:srgbClr val="FF0000"/>
              </a:solidFill>
            </a:endParaRPr>
          </a:p>
        </p:txBody>
      </p:sp>
      <p:sp>
        <p:nvSpPr>
          <p:cNvPr id="380" name="Google Shape;380;p60"/>
          <p:cNvSpPr txBox="1"/>
          <p:nvPr/>
        </p:nvSpPr>
        <p:spPr>
          <a:xfrm>
            <a:off x="500075" y="3475600"/>
            <a:ext cx="7386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200">
                <a:solidFill>
                  <a:schemeClr val="accent2"/>
                </a:solidFill>
              </a:rPr>
              <a:t>ポイント</a:t>
            </a:r>
            <a:r>
              <a:rPr b="1" lang="ja" sz="1200">
                <a:solidFill>
                  <a:schemeClr val="accent2"/>
                </a:solidFill>
              </a:rPr>
              <a:t>3</a:t>
            </a:r>
            <a:endParaRPr b="1" sz="1200"/>
          </a:p>
          <a:p>
            <a:pPr indent="0" lvl="0" marL="0" rtl="0" algn="l">
              <a:lnSpc>
                <a:spcPct val="115000"/>
              </a:lnSpc>
              <a:spcBef>
                <a:spcPts val="0"/>
              </a:spcBef>
              <a:spcAft>
                <a:spcPts val="0"/>
              </a:spcAft>
              <a:buNone/>
            </a:pPr>
            <a:r>
              <a:rPr lang="ja" sz="1200"/>
              <a:t>振り返りは隔週で1on1を行って、軌道修正を行う</a:t>
            </a:r>
            <a:endParaRPr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1"/>
          <p:cNvSpPr txBox="1"/>
          <p:nvPr>
            <p:ph type="title"/>
          </p:nvPr>
        </p:nvSpPr>
        <p:spPr>
          <a:xfrm>
            <a:off x="360000" y="1337575"/>
            <a:ext cx="8424000" cy="252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sz="3600"/>
              <a:t>バリュー行動基準の活用</a:t>
            </a:r>
            <a:endParaRPr sz="3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2"/>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目標シートの活用</a:t>
            </a:r>
            <a:endParaRPr b="1" sz="2400"/>
          </a:p>
        </p:txBody>
      </p:sp>
      <p:sp>
        <p:nvSpPr>
          <p:cNvPr id="391" name="Google Shape;391;p62"/>
          <p:cNvSpPr/>
          <p:nvPr/>
        </p:nvSpPr>
        <p:spPr>
          <a:xfrm>
            <a:off x="552750" y="822000"/>
            <a:ext cx="77769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200">
                <a:solidFill>
                  <a:schemeClr val="accent2"/>
                </a:solidFill>
              </a:rPr>
              <a:t>目標シートの表は目標設定時の参考にしたり、メンバーとMgrが振り返りをして、次に繋げるために使うツールとして使ってください。</a:t>
            </a:r>
            <a:endParaRPr b="1" sz="1200">
              <a:solidFill>
                <a:schemeClr val="accent2"/>
              </a:solidFill>
            </a:endParaRPr>
          </a:p>
          <a:p>
            <a:pPr indent="0" lvl="0" marL="0" rtl="0" algn="l">
              <a:spcBef>
                <a:spcPts val="0"/>
              </a:spcBef>
              <a:spcAft>
                <a:spcPts val="0"/>
              </a:spcAft>
              <a:buNone/>
            </a:pPr>
            <a:r>
              <a:rPr b="1" lang="ja" sz="1200">
                <a:solidFill>
                  <a:schemeClr val="accent2"/>
                </a:solidFill>
              </a:rPr>
              <a:t>この振り返りの入力自体は評価に反映されません。</a:t>
            </a:r>
            <a:endParaRPr b="1" sz="1200">
              <a:solidFill>
                <a:schemeClr val="accent2"/>
              </a:solidFill>
            </a:endParaRPr>
          </a:p>
        </p:txBody>
      </p:sp>
      <p:sp>
        <p:nvSpPr>
          <p:cNvPr id="392" name="Google Shape;392;p62"/>
          <p:cNvSpPr txBox="1"/>
          <p:nvPr/>
        </p:nvSpPr>
        <p:spPr>
          <a:xfrm>
            <a:off x="420725" y="1615938"/>
            <a:ext cx="3708600" cy="191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100">
                <a:solidFill>
                  <a:schemeClr val="accent2"/>
                </a:solidFill>
              </a:rPr>
              <a:t>使い方</a:t>
            </a:r>
            <a:endParaRPr b="1" sz="1100"/>
          </a:p>
          <a:p>
            <a:pPr indent="-298450" lvl="0" marL="457200" rtl="0" algn="l">
              <a:lnSpc>
                <a:spcPct val="115000"/>
              </a:lnSpc>
              <a:spcBef>
                <a:spcPts val="0"/>
              </a:spcBef>
              <a:spcAft>
                <a:spcPts val="0"/>
              </a:spcAft>
              <a:buSzPts val="1100"/>
              <a:buChar char="●"/>
            </a:pPr>
            <a:r>
              <a:rPr lang="ja" sz="1100"/>
              <a:t>ご自身のグレードもしくはその1つ上の目指すグレードの行動基準を参照して、まずは今、行動できているかどうか振り返ります。</a:t>
            </a:r>
            <a:endParaRPr sz="1100"/>
          </a:p>
          <a:p>
            <a:pPr indent="-298450" lvl="0" marL="457200" rtl="0" algn="l">
              <a:lnSpc>
                <a:spcPct val="115000"/>
              </a:lnSpc>
              <a:spcBef>
                <a:spcPts val="0"/>
              </a:spcBef>
              <a:spcAft>
                <a:spcPts val="0"/>
              </a:spcAft>
              <a:buSzPts val="1100"/>
              <a:buChar char="●"/>
            </a:pPr>
            <a:r>
              <a:rPr lang="ja" sz="1100"/>
              <a:t>次に、上長のFBをもらいます。</a:t>
            </a:r>
            <a:endParaRPr sz="1100"/>
          </a:p>
          <a:p>
            <a:pPr indent="-298450" lvl="0" marL="457200" rtl="0" algn="l">
              <a:lnSpc>
                <a:spcPct val="115000"/>
              </a:lnSpc>
              <a:spcBef>
                <a:spcPts val="0"/>
              </a:spcBef>
              <a:spcAft>
                <a:spcPts val="0"/>
              </a:spcAft>
              <a:buSzPts val="1100"/>
              <a:buChar char="●"/>
            </a:pPr>
            <a:r>
              <a:rPr lang="ja" sz="1100"/>
              <a:t>そのうえでこれからどう改善していけばよいか具体的行動を言語化します。</a:t>
            </a:r>
            <a:endParaRPr sz="1100"/>
          </a:p>
          <a:p>
            <a:pPr indent="-298450" lvl="0" marL="457200" rtl="0" algn="l">
              <a:lnSpc>
                <a:spcPct val="115000"/>
              </a:lnSpc>
              <a:spcBef>
                <a:spcPts val="0"/>
              </a:spcBef>
              <a:spcAft>
                <a:spcPts val="0"/>
              </a:spcAft>
              <a:buSzPts val="1100"/>
              <a:buChar char="●"/>
            </a:pPr>
            <a:r>
              <a:rPr lang="ja" sz="1100"/>
              <a:t>それらをプロセス目標に組み込み実践に移します。</a:t>
            </a:r>
            <a:endParaRPr sz="1100"/>
          </a:p>
        </p:txBody>
      </p:sp>
      <p:sp>
        <p:nvSpPr>
          <p:cNvPr id="393" name="Google Shape;393;p62"/>
          <p:cNvSpPr txBox="1"/>
          <p:nvPr/>
        </p:nvSpPr>
        <p:spPr>
          <a:xfrm>
            <a:off x="420725" y="3556950"/>
            <a:ext cx="3708600" cy="132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100">
                <a:solidFill>
                  <a:schemeClr val="accent2"/>
                </a:solidFill>
              </a:rPr>
              <a:t>具体例</a:t>
            </a:r>
            <a:endParaRPr b="1" sz="1100"/>
          </a:p>
          <a:p>
            <a:pPr indent="-298450" lvl="0" marL="457200" rtl="0" algn="l">
              <a:lnSpc>
                <a:spcPct val="115000"/>
              </a:lnSpc>
              <a:spcBef>
                <a:spcPts val="0"/>
              </a:spcBef>
              <a:spcAft>
                <a:spcPts val="0"/>
              </a:spcAft>
              <a:buSzPts val="1100"/>
              <a:buChar char="●"/>
            </a:pPr>
            <a:r>
              <a:rPr lang="ja" sz="1100"/>
              <a:t>Cグレード/本質をゆく：「指示を鵜呑みにせず目的を確認する」</a:t>
            </a:r>
            <a:endParaRPr sz="1100"/>
          </a:p>
          <a:p>
            <a:pPr indent="-298450" lvl="0" marL="457200" rtl="0" algn="l">
              <a:lnSpc>
                <a:spcPct val="115000"/>
              </a:lnSpc>
              <a:spcBef>
                <a:spcPts val="0"/>
              </a:spcBef>
              <a:spcAft>
                <a:spcPts val="0"/>
              </a:spcAft>
              <a:buSzPts val="1100"/>
              <a:buChar char="●"/>
            </a:pPr>
            <a:r>
              <a:rPr lang="ja" sz="1100"/>
              <a:t>目標設定：「新規施策の立案時、必ず背景と目的を定義し、上長と合意した上で着手する」といったプロセス目標に落とし込む。</a:t>
            </a:r>
            <a:endParaRPr sz="1100"/>
          </a:p>
        </p:txBody>
      </p:sp>
      <p:sp>
        <p:nvSpPr>
          <p:cNvPr id="394" name="Google Shape;394;p62"/>
          <p:cNvSpPr txBox="1"/>
          <p:nvPr/>
        </p:nvSpPr>
        <p:spPr>
          <a:xfrm>
            <a:off x="5289025" y="4328875"/>
            <a:ext cx="3430800" cy="743400"/>
          </a:xfrm>
          <a:prstGeom prst="rect">
            <a:avLst/>
          </a:prstGeom>
          <a:solidFill>
            <a:srgbClr val="9FC5E8"/>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100">
                <a:solidFill>
                  <a:schemeClr val="accent2"/>
                </a:solidFill>
              </a:rPr>
              <a:t>注意点！</a:t>
            </a:r>
            <a:endParaRPr b="1" sz="1100"/>
          </a:p>
          <a:p>
            <a:pPr indent="0" lvl="0" marL="0" rtl="0" algn="l">
              <a:lnSpc>
                <a:spcPct val="115000"/>
              </a:lnSpc>
              <a:spcBef>
                <a:spcPts val="0"/>
              </a:spcBef>
              <a:spcAft>
                <a:spcPts val="0"/>
              </a:spcAft>
              <a:buNone/>
            </a:pPr>
            <a:r>
              <a:rPr lang="ja" sz="1100"/>
              <a:t>人によってはグレード基準までが遠いものもあるので、本人の現状に合わせて適宜調整すること。</a:t>
            </a:r>
            <a:endParaRPr sz="1100"/>
          </a:p>
        </p:txBody>
      </p:sp>
      <p:pic>
        <p:nvPicPr>
          <p:cNvPr id="395" name="Google Shape;395;p62" title="スクリーンショット 2026-03-02 1.47.41.png"/>
          <p:cNvPicPr preferRelativeResize="0"/>
          <p:nvPr/>
        </p:nvPicPr>
        <p:blipFill>
          <a:blip r:embed="rId3">
            <a:alphaModFix/>
          </a:blip>
          <a:stretch>
            <a:fillRect/>
          </a:stretch>
        </p:blipFill>
        <p:spPr>
          <a:xfrm>
            <a:off x="4433900" y="1653749"/>
            <a:ext cx="4285924" cy="24105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3"/>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普段の業務での活用</a:t>
            </a:r>
            <a:endParaRPr b="1" sz="2400"/>
          </a:p>
        </p:txBody>
      </p:sp>
      <p:sp>
        <p:nvSpPr>
          <p:cNvPr id="401" name="Google Shape;401;p63"/>
          <p:cNvSpPr/>
          <p:nvPr/>
        </p:nvSpPr>
        <p:spPr>
          <a:xfrm>
            <a:off x="552750" y="822000"/>
            <a:ext cx="7776900" cy="510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200">
                <a:solidFill>
                  <a:schemeClr val="accent2"/>
                </a:solidFill>
              </a:rPr>
              <a:t>バリュー行動基準は目標設定・評価の時のみ見返すのではなく、日々の1on1などのフィードバックでも活用しながら、メンバーが行動基準を体現できるよう支援することが大切です。</a:t>
            </a:r>
            <a:endParaRPr b="1" sz="1200">
              <a:solidFill>
                <a:schemeClr val="accent2"/>
              </a:solidFill>
            </a:endParaRPr>
          </a:p>
        </p:txBody>
      </p:sp>
      <p:sp>
        <p:nvSpPr>
          <p:cNvPr id="402" name="Google Shape;402;p63"/>
          <p:cNvSpPr txBox="1"/>
          <p:nvPr/>
        </p:nvSpPr>
        <p:spPr>
          <a:xfrm>
            <a:off x="420725" y="1615950"/>
            <a:ext cx="7597800" cy="111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ja" sz="1100">
                <a:solidFill>
                  <a:schemeClr val="accent2"/>
                </a:solidFill>
              </a:rPr>
              <a:t>活用シーン1：1on1</a:t>
            </a:r>
            <a:endParaRPr b="1" sz="1100">
              <a:solidFill>
                <a:schemeClr val="accent2"/>
              </a:solidFill>
            </a:endParaRPr>
          </a:p>
          <a:p>
            <a:pPr indent="-298450" lvl="0" marL="457200" rtl="0" algn="l">
              <a:lnSpc>
                <a:spcPct val="150000"/>
              </a:lnSpc>
              <a:spcBef>
                <a:spcPts val="0"/>
              </a:spcBef>
              <a:spcAft>
                <a:spcPts val="0"/>
              </a:spcAft>
              <a:buSzPts val="1100"/>
              <a:buChar char="●"/>
            </a:pPr>
            <a:r>
              <a:rPr lang="ja" sz="1100"/>
              <a:t>メンバーとの1on1の中で定期的にバリュー行動基準について振り返りの機会を持つ。</a:t>
            </a:r>
            <a:endParaRPr sz="1100"/>
          </a:p>
          <a:p>
            <a:pPr indent="-298450" lvl="0" marL="457200" rtl="0" algn="l">
              <a:lnSpc>
                <a:spcPct val="150000"/>
              </a:lnSpc>
              <a:spcBef>
                <a:spcPts val="0"/>
              </a:spcBef>
              <a:spcAft>
                <a:spcPts val="0"/>
              </a:spcAft>
              <a:buSzPts val="1100"/>
              <a:buChar char="●"/>
            </a:pPr>
            <a:r>
              <a:rPr lang="ja" sz="1100"/>
              <a:t>普段の行動のどんな時にできるようになっていて、どんな時にできていなかったかGood/Bad両方をFBする。</a:t>
            </a:r>
            <a:endParaRPr sz="1100"/>
          </a:p>
          <a:p>
            <a:pPr indent="-298450" lvl="0" marL="457200" rtl="0" algn="l">
              <a:lnSpc>
                <a:spcPct val="150000"/>
              </a:lnSpc>
              <a:spcBef>
                <a:spcPts val="0"/>
              </a:spcBef>
              <a:spcAft>
                <a:spcPts val="0"/>
              </a:spcAft>
              <a:buSzPts val="1100"/>
              <a:buChar char="●"/>
            </a:pPr>
            <a:r>
              <a:rPr lang="ja" sz="1100"/>
              <a:t>できている点もFBがあることで、できていることがわかり、成長実感を持つことができる。</a:t>
            </a:r>
            <a:endParaRPr sz="1100"/>
          </a:p>
        </p:txBody>
      </p:sp>
      <p:sp>
        <p:nvSpPr>
          <p:cNvPr id="403" name="Google Shape;403;p63"/>
          <p:cNvSpPr txBox="1"/>
          <p:nvPr/>
        </p:nvSpPr>
        <p:spPr>
          <a:xfrm>
            <a:off x="420725" y="3015000"/>
            <a:ext cx="7776900" cy="111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ja" sz="1100">
                <a:solidFill>
                  <a:schemeClr val="accent2"/>
                </a:solidFill>
              </a:rPr>
              <a:t>活用シーン2：3ヶ月振り返り</a:t>
            </a:r>
            <a:endParaRPr b="1" sz="1100"/>
          </a:p>
          <a:p>
            <a:pPr indent="-298450" lvl="0" marL="457200" rtl="0" algn="l">
              <a:lnSpc>
                <a:spcPct val="150000"/>
              </a:lnSpc>
              <a:spcBef>
                <a:spcPts val="0"/>
              </a:spcBef>
              <a:spcAft>
                <a:spcPts val="0"/>
              </a:spcAft>
              <a:buSzPts val="1100"/>
              <a:buChar char="●"/>
            </a:pPr>
            <a:r>
              <a:rPr lang="ja" sz="1100"/>
              <a:t>考え方の基本は1on1と同じだが、ここでは特にプロセス目標に対しての振り返りの中で、バリューに照らしてFBをする。</a:t>
            </a:r>
            <a:endParaRPr sz="1100"/>
          </a:p>
          <a:p>
            <a:pPr indent="-298450" lvl="0" marL="457200" rtl="0" algn="l">
              <a:lnSpc>
                <a:spcPct val="150000"/>
              </a:lnSpc>
              <a:spcBef>
                <a:spcPts val="0"/>
              </a:spcBef>
              <a:spcAft>
                <a:spcPts val="0"/>
              </a:spcAft>
              <a:buSzPts val="1100"/>
              <a:buChar char="●"/>
            </a:pPr>
            <a:r>
              <a:rPr lang="ja" sz="1100"/>
              <a:t>また、もしもっと上のレベルを目指せるなら、アップグレードした行動基準に設定を変更する。</a:t>
            </a:r>
            <a:endParaRPr sz="1100"/>
          </a:p>
        </p:txBody>
      </p:sp>
      <p:sp>
        <p:nvSpPr>
          <p:cNvPr id="404" name="Google Shape;404;p63"/>
          <p:cNvSpPr/>
          <p:nvPr/>
        </p:nvSpPr>
        <p:spPr>
          <a:xfrm>
            <a:off x="6649375" y="1275150"/>
            <a:ext cx="1924800" cy="635100"/>
          </a:xfrm>
          <a:prstGeom prst="wedgeRoundRectCallout">
            <a:avLst>
              <a:gd fmla="val -56185" name="adj1"/>
              <a:gd fmla="val 79145" name="adj2"/>
              <a:gd fmla="val 0" name="adj3"/>
            </a:avLst>
          </a:prstGeom>
          <a:solidFill>
            <a:srgbClr val="9FC5E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000"/>
              <a:t>1on1の時間は</a:t>
            </a:r>
            <a:r>
              <a:rPr b="1" lang="ja" sz="1000">
                <a:solidFill>
                  <a:schemeClr val="accent2"/>
                </a:solidFill>
              </a:rPr>
              <a:t>業務進捗ではなく、</a:t>
            </a:r>
            <a:r>
              <a:rPr b="1" lang="ja" sz="1000"/>
              <a:t>メンバーの時間にしよう。</a:t>
            </a:r>
            <a:endParaRPr b="1" sz="1000"/>
          </a:p>
        </p:txBody>
      </p:sp>
      <p:sp>
        <p:nvSpPr>
          <p:cNvPr id="405" name="Google Shape;405;p63"/>
          <p:cNvSpPr txBox="1"/>
          <p:nvPr/>
        </p:nvSpPr>
        <p:spPr>
          <a:xfrm>
            <a:off x="552750" y="4245575"/>
            <a:ext cx="77769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ja" sz="1100">
                <a:solidFill>
                  <a:schemeClr val="accent2"/>
                </a:solidFill>
              </a:rPr>
              <a:t>3ヶ月目まで何も振り返りしないのではなく、隔週での1on1を基本とし、成長支援を継続的に実行する。</a:t>
            </a:r>
            <a:endParaRPr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4"/>
          <p:cNvSpPr/>
          <p:nvPr/>
        </p:nvSpPr>
        <p:spPr>
          <a:xfrm>
            <a:off x="552750" y="228400"/>
            <a:ext cx="6290400" cy="6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2400">
                <a:solidFill>
                  <a:schemeClr val="accent2"/>
                </a:solidFill>
              </a:rPr>
              <a:t>さいごに</a:t>
            </a:r>
            <a:endParaRPr b="1" sz="2400">
              <a:solidFill>
                <a:schemeClr val="accent2"/>
              </a:solidFill>
            </a:endParaRPr>
          </a:p>
        </p:txBody>
      </p:sp>
      <p:sp>
        <p:nvSpPr>
          <p:cNvPr id="411" name="Google Shape;411;p64"/>
          <p:cNvSpPr txBox="1"/>
          <p:nvPr/>
        </p:nvSpPr>
        <p:spPr>
          <a:xfrm>
            <a:off x="500075" y="1362900"/>
            <a:ext cx="73863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ja" sz="1700">
                <a:solidFill>
                  <a:schemeClr val="accent2"/>
                </a:solidFill>
              </a:rPr>
              <a:t>メンバーから新人事評価制度で質問されたことや説明に窮したことがあれば教えてください。</a:t>
            </a:r>
            <a:endParaRPr b="1" sz="1700">
              <a:solidFill>
                <a:schemeClr val="accen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ontractS">
  <a:themeElements>
    <a:clrScheme name="Simple Light">
      <a:dk1>
        <a:srgbClr val="151515"/>
      </a:dk1>
      <a:lt1>
        <a:srgbClr val="FFFFFF"/>
      </a:lt1>
      <a:dk2>
        <a:srgbClr val="747374"/>
      </a:dk2>
      <a:lt2>
        <a:srgbClr val="CCCDCE"/>
      </a:lt2>
      <a:accent1>
        <a:srgbClr val="E5E6E5"/>
      </a:accent1>
      <a:accent2>
        <a:srgbClr val="000000"/>
      </a:accent2>
      <a:accent3>
        <a:srgbClr val="78909C"/>
      </a:accent3>
      <a:accent4>
        <a:srgbClr val="E83B18"/>
      </a:accent4>
      <a:accent5>
        <a:srgbClr val="16A294"/>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
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8595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/>
            </a:pPr>
            <a:r>
              <a:t>Product部門方針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38912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F6FED"/>
                </a:solidFill>
              </a:defRPr>
            </a:pPr>
            <a:r>
              <a:t>顧客課題に深く入り、プロダクトの構築と改善で価値を最大化する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85800"/>
            <a:ext cx="8595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55555"/>
                </a:solidFill>
              </a:defRPr>
            </a:pPr>
            <a:r>
              <a:t>探索（FDE）・継続（Dev）・定例（DataOps）で分担。AI駆動開発環境は部門共通の生産性基盤。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914400"/>
            <a:ext cx="282854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2F6FED"/>
                </a:solidFill>
              </a:defRPr>
            </a:pPr>
            <a:r>
              <a:t>FDE（探索）</a:t>
            </a:r>
            <a:br/>
            <a:r>
              <a:t>顧客課題を解決するプロダクトを提供する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417320"/>
            <a:ext cx="2828544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/>
            </a:pPr>
            <a:r>
              <a:t>・現場で課題を見つけ、整理し、実装まで届ける</a:t>
            </a:r>
            <a:br/>
            <a:r>
              <a:t>・FS／CSと共同で深掘り・優先度判断</a:t>
            </a:r>
            <a:br/>
            <a:r>
              <a:t>・AI駆動開発で設計〜実装・効果検証まで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57728" y="914400"/>
            <a:ext cx="282854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2E9B57"/>
                </a:solidFill>
              </a:defRPr>
            </a:pPr>
            <a:r>
              <a:t>Dev（継続）</a:t>
            </a:r>
            <a:br/>
            <a:r>
              <a:t>プロダクト（foro等）の価値を守り、向上させる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57728" y="1417320"/>
            <a:ext cx="2828544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/>
            </a:pPr>
            <a:r>
              <a:t>・既存SaaSの安定運用・改善・セキュリティ</a:t>
            </a:r>
            <a:br/>
            <a:r>
              <a:t>・スプリントで自律的に開発を回す</a:t>
            </a:r>
            <a:br/>
            <a:r>
              <a:t>・ユーザー成長まで含む継続的な価値向上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41136" y="914400"/>
            <a:ext cx="282854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E07A1A"/>
                </a:solidFill>
              </a:defRPr>
            </a:pPr>
            <a:r>
              <a:t>DataOps（定例）</a:t>
            </a:r>
            <a:br/>
            <a:r>
              <a:t>病院データを、使える状態で安定して届ける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41136" y="1417320"/>
            <a:ext cx="2828544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/>
            </a:pPr>
            <a:r>
              <a:t>・定例データ投入の安定稼働（手順・監視・リカバリ）</a:t>
            </a:r>
            <a:br/>
            <a:r>
              <a:t>・品質チェックの標準化・早期見える化</a:t>
            </a:r>
            <a:br/>
            <a:r>
              <a:t>・CS・Devとの優先度・エスカレーション連携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2697480"/>
            <a:ext cx="55869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/>
            </a:pPr>
            <a:r>
              <a:t>上段 — AI駆動開発・インフラ・セキュリティ</a:t>
            </a:r>
            <a:br/>
            <a:r>
              <a:t>AI駆動開発環境 ／ 技術選定 ／ セキュリティ ／ infra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61304" y="2697480"/>
            <a:ext cx="30083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/>
            </a:pPr>
            <a:r>
              <a:t>テックリード（採用）＋ 馬場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3081528"/>
            <a:ext cx="55869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/>
            </a:pPr>
            <a:r>
              <a:t>下段 — 部門マネジメント・デザイン</a:t>
            </a:r>
            <a:br/>
            <a:r>
              <a:t>PdM・部門マネジメント ／ デザイン資産・引き継ぎ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61304" y="3081528"/>
            <a:ext cx="30083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/>
            </a:pPr>
            <a:r>
              <a:t>山田 ＋ 田中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4343400"/>
            <a:ext cx="8595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2F6FED"/>
                </a:solidFill>
              </a:defRPr>
            </a:pPr>
            <a:r>
              <a:t>2027年1月 — FDE・Dev・DataOps がそれぞれ必要なメンバーで自律的に動けている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73152"/>
            <a:ext cx="8778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/>
            </a:pPr>
            <a:r>
              <a:t>Product部門 — ミッションと担当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" y="274320"/>
            <a:ext cx="877824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50" b="0">
                <a:solidFill>
                  <a:srgbClr val="555555"/>
                </a:solidFill>
              </a:defRPr>
            </a:pPr>
            <a:r>
              <a:t>現時点（2026-08）と 1年後（小山・鈴木入社・馬場退職後）｜（）内は補助・レビュー役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420624"/>
            <a:ext cx="29016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50" b="1">
                <a:solidFill>
                  <a:srgbClr val="2F6FED"/>
                </a:solidFill>
              </a:defRPr>
            </a:pPr>
            <a:r>
              <a:t>FDE（探索）</a:t>
            </a:r>
            <a:br/>
            <a:r>
              <a:t>顧客課題を解決するプロダクトを提供する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82880.0" y="749808"/>
          <a:ext cx="2901696.0" cy="123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7232"/>
                <a:gridCol w="967232"/>
                <a:gridCol w="967232"/>
              </a:tblGrid>
              <a:tr h="205740">
                <a:tc>
                  <a:txBody>
                    <a:bodyPr/>
                    <a:lstStyle/>
                    <a:p>
                      <a:pPr>
                        <a:defRPr sz="600" b="1"/>
                      </a:pPr>
                      <a:r>
                        <a:t>ミッション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600" b="1"/>
                      </a:pPr>
                      <a:r>
                        <a:t>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600" b="1"/>
                      </a:pPr>
                      <a:r>
                        <a:t>1年後</a:t>
                      </a:r>
                    </a:p>
                  </a:txBody>
                  <a:tcPr/>
                </a:tc>
              </a:tr>
              <a:tr h="205740">
                <a:tc>
                  <a:txBody>
                    <a:bodyPr/>
                    <a:lstStyle/>
                    <a:p>
                      <a:pPr>
                        <a:defRPr sz="550" b="1"/>
                      </a:pPr>
                      <a:r>
                        <a:t>チーム運営・案件PM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550" b="0"/>
                      </a:pPr>
                      <a:r>
                        <a:t>山田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550" b="0"/>
                      </a:pPr>
                      <a:r>
                        <a:t>小山</a:t>
                      </a:r>
                    </a:p>
                  </a:txBody>
                  <a:tcPr anchor="ctr"/>
                </a:tc>
              </a:tr>
              <a:tr h="205740">
                <a:tc>
                  <a:txBody>
                    <a:bodyPr/>
                    <a:lstStyle/>
                    <a:p>
                      <a:pPr>
                        <a:defRPr sz="550" b="1"/>
                      </a:pPr>
                      <a:r>
                        <a:t>CS連携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550" b="0"/>
                      </a:pPr>
                      <a:r>
                        <a:t>黒川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550" b="0"/>
                      </a:pPr>
                      <a:r>
                        <a:t>小山＋鈴木（黒川）</a:t>
                      </a:r>
                    </a:p>
                  </a:txBody>
                  <a:tcPr anchor="ctr"/>
                </a:tc>
              </a:tr>
              <a:tr h="205740">
                <a:tc>
                  <a:txBody>
                    <a:bodyPr/>
                    <a:lstStyle/>
                    <a:p>
                      <a:pPr>
                        <a:defRPr sz="550" b="1"/>
                      </a:pPr>
                      <a:r>
                        <a:t>顧客調整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550" b="0"/>
                      </a:pPr>
                      <a:r>
                        <a:t>黒川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550" b="0"/>
                      </a:pPr>
                      <a:r>
                        <a:t>小山＋鈴木（黒川）</a:t>
                      </a:r>
                    </a:p>
                  </a:txBody>
                  <a:tcPr anchor="ctr"/>
                </a:tc>
              </a:tr>
              <a:tr h="205740">
                <a:tc>
                  <a:txBody>
                    <a:bodyPr/>
                    <a:lstStyle/>
                    <a:p>
                      <a:pPr>
                        <a:defRPr sz="550" b="1"/>
                      </a:pPr>
                      <a:r>
                        <a:t>設計・実装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550" b="0"/>
                      </a:pPr>
                      <a:r>
                        <a:t>黒川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550" b="0"/>
                      </a:pPr>
                      <a:r>
                        <a:t>鈴木＋黒川（小山）</a:t>
                      </a:r>
                    </a:p>
                  </a:txBody>
                  <a:tcPr anchor="ctr"/>
                </a:tc>
              </a:tr>
              <a:tr h="205740">
                <a:tc>
                  <a:txBody>
                    <a:bodyPr/>
                    <a:lstStyle/>
                    <a:p>
                      <a:pPr>
                        <a:defRPr sz="550" b="1"/>
                      </a:pPr>
                      <a:r>
                        <a:t>プロダクト改善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550" b="0"/>
                      </a:pPr>
                      <a:r>
                        <a:t>黒川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550" b="0"/>
                      </a:pPr>
                      <a:r>
                        <a:t>黒川＋鈴木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121152" y="420624"/>
            <a:ext cx="29016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50" b="1">
                <a:solidFill>
                  <a:srgbClr val="2E9B57"/>
                </a:solidFill>
              </a:defRPr>
            </a:pPr>
            <a:r>
              <a:t>Dev（継続）</a:t>
            </a:r>
            <a:br/>
            <a:r>
              <a:t>プロダクト（foro等）の価値を守り、向上させる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121152.0" y="749808"/>
          <a:ext cx="2901696.0" cy="123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7232"/>
                <a:gridCol w="967232"/>
                <a:gridCol w="967232"/>
              </a:tblGrid>
              <a:tr h="308610">
                <a:tc>
                  <a:txBody>
                    <a:bodyPr/>
                    <a:lstStyle/>
                    <a:p>
                      <a:pPr>
                        <a:defRPr sz="600" b="1"/>
                      </a:pPr>
                      <a:r>
                        <a:t>ミッション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600" b="1"/>
                      </a:pPr>
                      <a:r>
                        <a:t>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600" b="1"/>
                      </a:pPr>
                      <a:r>
                        <a:t>1年後</a:t>
                      </a:r>
                    </a:p>
                  </a:txBody>
                  <a:tcPr/>
                </a:tc>
              </a:tr>
              <a:tr h="308610">
                <a:tc>
                  <a:txBody>
                    <a:bodyPr/>
                    <a:lstStyle/>
                    <a:p>
                      <a:pPr>
                        <a:defRPr sz="550" b="1"/>
                      </a:pPr>
                      <a:r>
                        <a:t>チームリード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550" b="0"/>
                      </a:pPr>
                      <a:r>
                        <a:t>山田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550" b="0"/>
                      </a:pPr>
                      <a:r>
                        <a:t>康</a:t>
                      </a:r>
                    </a:p>
                  </a:txBody>
                  <a:tcPr anchor="ctr"/>
                </a:tc>
              </a:tr>
              <a:tr h="308610">
                <a:tc>
                  <a:txBody>
                    <a:bodyPr/>
                    <a:lstStyle/>
                    <a:p>
                      <a:pPr>
                        <a:defRPr sz="550" b="1"/>
                      </a:pPr>
                      <a:r>
                        <a:t>機能改善・障害対応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550" b="0"/>
                      </a:pPr>
                      <a:r>
                        <a:t>廣＋新保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550" b="0"/>
                      </a:pPr>
                      <a:r>
                        <a:t>廣＋新保</a:t>
                      </a:r>
                    </a:p>
                  </a:txBody>
                  <a:tcPr anchor="ctr"/>
                </a:tc>
              </a:tr>
              <a:tr h="308610">
                <a:tc>
                  <a:txBody>
                    <a:bodyPr/>
                    <a:lstStyle/>
                    <a:p>
                      <a:pPr>
                        <a:defRPr sz="550" b="1"/>
                      </a:pPr>
                      <a:r>
                        <a:t>データ修正・マスタ管理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550" b="0"/>
                      </a:pPr>
                      <a:r>
                        <a:t>山田＋康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550" b="0"/>
                      </a:pPr>
                      <a:r>
                        <a:t>廣＋新保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059424" y="420624"/>
            <a:ext cx="29016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50" b="1">
                <a:solidFill>
                  <a:srgbClr val="E07A1A"/>
                </a:solidFill>
              </a:defRPr>
            </a:pPr>
            <a:r>
              <a:t>DataOps（定例）</a:t>
            </a:r>
            <a:br/>
            <a:r>
              <a:t>病院データを、使える状態で安定して届ける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059424.0" y="749808"/>
          <a:ext cx="2901696.0" cy="123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7232"/>
                <a:gridCol w="967232"/>
                <a:gridCol w="967232"/>
              </a:tblGrid>
              <a:tr h="205740">
                <a:tc>
                  <a:txBody>
                    <a:bodyPr/>
                    <a:lstStyle/>
                    <a:p>
                      <a:pPr>
                        <a:defRPr sz="600" b="1"/>
                      </a:pPr>
                      <a:r>
                        <a:t>ミッション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600" b="1"/>
                      </a:pPr>
                      <a:r>
                        <a:t>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600" b="1"/>
                      </a:pPr>
                      <a:r>
                        <a:t>1年後</a:t>
                      </a:r>
                    </a:p>
                  </a:txBody>
                  <a:tcPr/>
                </a:tc>
              </a:tr>
              <a:tr h="205740">
                <a:tc>
                  <a:txBody>
                    <a:bodyPr/>
                    <a:lstStyle/>
                    <a:p>
                      <a:pPr>
                        <a:defRPr sz="550" b="1"/>
                      </a:pPr>
                      <a:r>
                        <a:t>チームリード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550" b="0"/>
                      </a:pPr>
                      <a:r>
                        <a:t>黒川→山田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550" b="0"/>
                      </a:pPr>
                      <a:r>
                        <a:t>黒川</a:t>
                      </a:r>
                    </a:p>
                  </a:txBody>
                  <a:tcPr anchor="ctr"/>
                </a:tc>
              </a:tr>
              <a:tr h="205740">
                <a:tc>
                  <a:txBody>
                    <a:bodyPr/>
                    <a:lstStyle/>
                    <a:p>
                      <a:pPr>
                        <a:defRPr sz="550" b="1"/>
                      </a:pPr>
                      <a:r>
                        <a:t>定例業務コントロール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550" b="0"/>
                      </a:pPr>
                      <a:r>
                        <a:t>藤原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550" b="0"/>
                      </a:pPr>
                      <a:r>
                        <a:t>藤原</a:t>
                      </a:r>
                    </a:p>
                  </a:txBody>
                  <a:tcPr anchor="ctr"/>
                </a:tc>
              </a:tr>
              <a:tr h="205740">
                <a:tc>
                  <a:txBody>
                    <a:bodyPr/>
                    <a:lstStyle/>
                    <a:p>
                      <a:pPr>
                        <a:defRPr sz="550" b="1"/>
                      </a:pPr>
                      <a:r>
                        <a:t>CS連携・エスカレーション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550" b="0"/>
                      </a:pPr>
                      <a:r>
                        <a:t>藤原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550" b="0"/>
                      </a:pPr>
                      <a:r>
                        <a:t>藤原</a:t>
                      </a:r>
                    </a:p>
                  </a:txBody>
                  <a:tcPr anchor="ctr"/>
                </a:tc>
              </a:tr>
              <a:tr h="205740">
                <a:tc>
                  <a:txBody>
                    <a:bodyPr/>
                    <a:lstStyle/>
                    <a:p>
                      <a:pPr>
                        <a:defRPr sz="550" b="1"/>
                      </a:pPr>
                      <a:r>
                        <a:t>Dev/foro連携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550" b="0"/>
                      </a:pPr>
                      <a:r>
                        <a:t>黒川→山田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550" b="0"/>
                      </a:pPr>
                      <a:r>
                        <a:t>藤原＋廣</a:t>
                      </a:r>
                    </a:p>
                  </a:txBody>
                  <a:tcPr anchor="ctr"/>
                </a:tc>
              </a:tr>
              <a:tr h="205740">
                <a:tc>
                  <a:txBody>
                    <a:bodyPr/>
                    <a:lstStyle/>
                    <a:p>
                      <a:pPr>
                        <a:defRPr sz="550" b="1"/>
                      </a:pPr>
                      <a:r>
                        <a:t>業務効率化・改善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550" b="0"/>
                      </a:pPr>
                      <a:r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550" b="0"/>
                      </a:pPr>
                      <a:r>
                        <a:t>黒川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182880" y="2039112"/>
            <a:ext cx="8778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50" b="1">
                <a:solidFill>
                  <a:srgbClr val="6B5B95"/>
                </a:solidFill>
              </a:defRPr>
            </a:pPr>
            <a:r>
              <a:t>横断（共通土台・PdM・デザイン）</a:t>
            </a:r>
            <a:br/>
            <a:r>
              <a:t>3チームが回る技術土台と PdM・デザイン基盤を維持する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182880" y="2295144"/>
          <a:ext cx="4370832.0" cy="7498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56944"/>
                <a:gridCol w="1456944"/>
                <a:gridCol w="1456944"/>
              </a:tblGrid>
              <a:tr h="149961">
                <a:tc>
                  <a:txBody>
                    <a:bodyPr/>
                    <a:lstStyle/>
                    <a:p>
                      <a:pPr>
                        <a:defRPr sz="600" b="1"/>
                      </a:pPr>
                      <a:r>
                        <a:t>ミッション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600" b="1"/>
                      </a:pPr>
                      <a:r>
                        <a:t>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600" b="1"/>
                      </a:pPr>
                      <a:r>
                        <a:t>1年後</a:t>
                      </a:r>
                    </a:p>
                  </a:txBody>
                  <a:tcPr/>
                </a:tc>
              </a:tr>
              <a:tr h="149961">
                <a:tc>
                  <a:txBody>
                    <a:bodyPr/>
                    <a:lstStyle/>
                    <a:p>
                      <a:pPr>
                        <a:defRPr sz="550" b="1"/>
                      </a:pPr>
                      <a:r>
                        <a:t>AI駆動開発環境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550" b="0"/>
                      </a:pPr>
                      <a:r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550" b="0"/>
                      </a:pPr>
                      <a:r>
                        <a:t>T/L＋鈴木</a:t>
                      </a:r>
                    </a:p>
                  </a:txBody>
                  <a:tcPr anchor="ctr"/>
                </a:tc>
              </a:tr>
              <a:tr h="149961">
                <a:tc>
                  <a:txBody>
                    <a:bodyPr/>
                    <a:lstStyle/>
                    <a:p>
                      <a:pPr>
                        <a:defRPr sz="550" b="1"/>
                      </a:pPr>
                      <a:r>
                        <a:t>技術選定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550" b="0"/>
                      </a:pPr>
                      <a:r>
                        <a:t>馬場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550" b="0"/>
                      </a:pPr>
                      <a:r>
                        <a:t>T/L</a:t>
                      </a:r>
                    </a:p>
                  </a:txBody>
                  <a:tcPr anchor="ctr"/>
                </a:tc>
              </a:tr>
              <a:tr h="149961">
                <a:tc>
                  <a:txBody>
                    <a:bodyPr/>
                    <a:lstStyle/>
                    <a:p>
                      <a:pPr>
                        <a:defRPr sz="550" b="1"/>
                      </a:pPr>
                      <a:r>
                        <a:t>セキュリティ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550" b="0"/>
                      </a:pPr>
                      <a:r>
                        <a:t>馬場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550" b="0"/>
                      </a:pPr>
                      <a:r>
                        <a:t>小山</a:t>
                      </a:r>
                    </a:p>
                  </a:txBody>
                  <a:tcPr anchor="ctr"/>
                </a:tc>
              </a:tr>
              <a:tr h="149964">
                <a:tc>
                  <a:txBody>
                    <a:bodyPr/>
                    <a:lstStyle/>
                    <a:p>
                      <a:pPr>
                        <a:defRPr sz="550" b="1"/>
                      </a:pPr>
                      <a:r>
                        <a:t>infra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550" b="0"/>
                      </a:pPr>
                      <a:r>
                        <a:t>馬場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550" b="0"/>
                      </a:pPr>
                      <a:r>
                        <a:t>小山＋T/L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4590288.0" y="2295144"/>
          <a:ext cx="4370832.0" cy="7498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56944"/>
                <a:gridCol w="1456944"/>
                <a:gridCol w="1456944"/>
              </a:tblGrid>
              <a:tr h="187452">
                <a:tc>
                  <a:txBody>
                    <a:bodyPr/>
                    <a:lstStyle/>
                    <a:p>
                      <a:pPr>
                        <a:defRPr sz="600" b="1"/>
                      </a:pPr>
                      <a:r>
                        <a:t>ミッション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600" b="1"/>
                      </a:pPr>
                      <a:r>
                        <a:t>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600" b="1"/>
                      </a:pPr>
                      <a:r>
                        <a:t>1年後</a:t>
                      </a:r>
                    </a:p>
                  </a:txBody>
                  <a:tcPr/>
                </a:tc>
              </a:tr>
              <a:tr h="187452">
                <a:tc>
                  <a:txBody>
                    <a:bodyPr/>
                    <a:lstStyle/>
                    <a:p>
                      <a:pPr>
                        <a:defRPr sz="550" b="1"/>
                      </a:pPr>
                      <a:r>
                        <a:t>CI/CD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550" b="0"/>
                      </a:pPr>
                      <a:r>
                        <a:t>馬場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550" b="0"/>
                      </a:pPr>
                      <a:r>
                        <a:t>廣＋新保</a:t>
                      </a:r>
                    </a:p>
                  </a:txBody>
                  <a:tcPr anchor="ctr"/>
                </a:tc>
              </a:tr>
              <a:tr h="187452">
                <a:tc>
                  <a:txBody>
                    <a:bodyPr/>
                    <a:lstStyle/>
                    <a:p>
                      <a:pPr>
                        <a:defRPr sz="550" b="1"/>
                      </a:pPr>
                      <a:r>
                        <a:t>PdM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550" b="0"/>
                      </a:pPr>
                      <a:r>
                        <a:t>山田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550" b="0"/>
                      </a:pPr>
                      <a:r>
                        <a:t>山田</a:t>
                      </a:r>
                    </a:p>
                  </a:txBody>
                  <a:tcPr anchor="ctr"/>
                </a:tc>
              </a:tr>
              <a:tr h="187452">
                <a:tc>
                  <a:txBody>
                    <a:bodyPr/>
                    <a:lstStyle/>
                    <a:p>
                      <a:pPr>
                        <a:defRPr sz="550" b="1"/>
                      </a:pPr>
                      <a:r>
                        <a:t>デザイン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550" b="0"/>
                      </a:pPr>
                      <a:r>
                        <a:t>田中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550" b="0"/>
                      </a:pPr>
                      <a:r>
                        <a:t>三保谷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
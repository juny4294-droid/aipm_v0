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部門Vision・3チーム体制・横断役割・2027年ゴール（PowerPoint上で直接編集可）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現時点（2026-08）と1年後の担当マッピング（PowerPoint上で直接編集可）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Product部門方針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6FED"/>
                </a:solidFill>
              </a:defRPr>
            </a:pPr>
            <a:r>
              <a:t>顧客課題に深く入り、プロダクトの構築と改善で価値を最大化する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11551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</a:defRPr>
            </a:pPr>
            <a:r>
              <a:t>探索（FDE）・継続（Dev）・定例（DataOps）で分担。AI駆動開発環境は部門共通の生産性基盤。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789578" cy="2331720"/>
          </a:xfrm>
          <a:prstGeom prst="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89578" cy="5029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271016"/>
            <a:ext cx="364327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FDE　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472184"/>
            <a:ext cx="3643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顧客課題を解決するプロダクトを提供する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10512"/>
            <a:ext cx="360669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• 現場で課題を見つけ、整理し、実装まで届ける</a:t>
            </a:r>
            <a:br/>
            <a:r>
              <a:t>• FS／CSと共同で深掘り・優先度判断</a:t>
            </a:r>
            <a:br/>
            <a:r>
              <a:t>• AI駆動開発で設計〜実装・効果検証まで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1058" y="1234440"/>
            <a:ext cx="3789578" cy="2331720"/>
          </a:xfrm>
          <a:prstGeom prst="rect">
            <a:avLst/>
          </a:prstGeom>
          <a:solidFill>
            <a:srgbClr val="FFFFFF"/>
          </a:solidFill>
          <a:ln>
            <a:solidFill>
              <a:srgbClr val="2E9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1058" y="1234440"/>
            <a:ext cx="3789578" cy="502920"/>
          </a:xfrm>
          <a:prstGeom prst="rect">
            <a:avLst/>
          </a:prstGeom>
          <a:solidFill>
            <a:srgbClr val="2E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4210" y="1271016"/>
            <a:ext cx="364327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Dev　継続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4210" y="1472184"/>
            <a:ext cx="3643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プロダクト（foro等）の価値を守り、向上させる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2498" y="1810512"/>
            <a:ext cx="360669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• 既存SaaSの安定運用・改善・セキュリティ</a:t>
            </a:r>
            <a:br/>
            <a:r>
              <a:t>• スプリントで自律的に開発を回す</a:t>
            </a:r>
            <a:br/>
            <a:r>
              <a:t>• ユーザー成長まで含む継続的な価値向上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1234440"/>
            <a:ext cx="3789578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2076" y="1234440"/>
            <a:ext cx="3789578" cy="502920"/>
          </a:xfrm>
          <a:prstGeom prst="rect">
            <a:avLst/>
          </a:prstGeom>
          <a:solidFill>
            <a:srgbClr val="E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5228" y="1271016"/>
            <a:ext cx="364327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DataOps　定例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228" y="1472184"/>
            <a:ext cx="364327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病院データを、使える状態で安定して届ける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3516" y="1810512"/>
            <a:ext cx="360669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• 定例データ投入の安定稼働（手順・監視・リカバリ）</a:t>
            </a:r>
            <a:br/>
            <a:r>
              <a:t>• 品質チェックの標準化・早期見える化</a:t>
            </a:r>
            <a:br/>
            <a:r>
              <a:t>• CS・Devとの優先度・エスカレーション連携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03320"/>
            <a:ext cx="11551615" cy="658368"/>
          </a:xfrm>
          <a:prstGeom prst="rect">
            <a:avLst/>
          </a:prstGeom>
          <a:solidFill>
            <a:srgbClr val="F3F0F8"/>
          </a:solidFill>
          <a:ln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758184"/>
            <a:ext cx="63533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5B95"/>
                </a:solidFill>
              </a:defRPr>
            </a:pPr>
            <a:r>
              <a:t>上段 — AI駆動開発・インフラ・セキュリティ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3959352"/>
            <a:ext cx="63533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4444"/>
                </a:solidFill>
              </a:defRPr>
            </a:pPr>
            <a:r>
              <a:t>AI駆動開発環境 ／ 技術選定 ／ セキュリティ ／ infra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9976" y="3813048"/>
            <a:ext cx="43896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/>
            </a:pPr>
            <a:r>
              <a:t>テックリード（採用）＋ 馬場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434840"/>
            <a:ext cx="11551615" cy="658368"/>
          </a:xfrm>
          <a:prstGeom prst="rect">
            <a:avLst/>
          </a:prstGeom>
          <a:solidFill>
            <a:srgbClr val="F3F0F8"/>
          </a:solidFill>
          <a:ln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489704"/>
            <a:ext cx="63533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5B95"/>
                </a:solidFill>
              </a:defRPr>
            </a:pPr>
            <a:r>
              <a:t>下段 — 部門マネジメント・デザイン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690872"/>
            <a:ext cx="63533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4444"/>
                </a:solidFill>
              </a:defRPr>
            </a:pPr>
            <a:r>
              <a:t>PdM・部門マネジメント ／ デザイン資産・引き継ぎ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9976" y="4544568"/>
            <a:ext cx="43896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/>
            </a:pPr>
            <a:r>
              <a:t>山田 ＋ 田中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166360"/>
            <a:ext cx="11551615" cy="5029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5257800"/>
            <a:ext cx="11332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2027年1月 — FDE・Dev・DataOps がそれぞれ必要なメンバーで自律的に動けている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Product部門 — ミッションと担当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5488"/>
            <a:ext cx="116430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現時点（2026-08）と 1年後（小山・鈴木入社・馬場退職後）｜（）内は補助・レビュー役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383225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3832250" cy="50292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786384"/>
            <a:ext cx="36859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FDE　探索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87552"/>
            <a:ext cx="36859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顧客課題を解決するプロダクトを提供する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.0" y="1252728"/>
          <a:ext cx="383225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254"/>
                <a:gridCol w="989998"/>
                <a:gridCol w="989998"/>
              </a:tblGrid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ミッション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1年後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チーム運営・案件PM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山田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小山</a:t>
                      </a:r>
                    </a:p>
                  </a:txBody>
                  <a:tcPr anchor="ctr"/>
                </a:tc>
              </a:tr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CS連携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黒川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小山＋鈴木（黒川）</a:t>
                      </a:r>
                    </a:p>
                  </a:txBody>
                  <a:tcPr anchor="ctr"/>
                </a:tc>
              </a:tr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顧客調整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黒川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小山＋鈴木（黒川）</a:t>
                      </a:r>
                    </a:p>
                  </a:txBody>
                  <a:tcPr anchor="ctr"/>
                </a:tc>
              </a:tr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設計・実装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黒川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鈴木＋黒川（小山）</a:t>
                      </a:r>
                    </a:p>
                  </a:txBody>
                  <a:tcPr anchor="ctr"/>
                </a:tc>
              </a:tr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プロダクト改善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黒川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黒川＋鈴木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79722" y="749808"/>
            <a:ext cx="383225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2E9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9722" y="749808"/>
            <a:ext cx="3832250" cy="502920"/>
          </a:xfrm>
          <a:prstGeom prst="rect">
            <a:avLst/>
          </a:prstGeom>
          <a:solidFill>
            <a:srgbClr val="2E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2874" y="786384"/>
            <a:ext cx="36859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Dev　継続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2874" y="987552"/>
            <a:ext cx="36859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プロダクト（foro等）の価値を守り、向上させる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79722.3333333335" y="1252728"/>
          <a:ext cx="383225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254"/>
                <a:gridCol w="989998"/>
                <a:gridCol w="989998"/>
              </a:tblGrid>
              <a:tr h="53721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ミッション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1年後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3721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チームリード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山田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康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機能改善・障害対応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廣＋新保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廣＋新保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データ修正・マスタ管理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山田＋康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廣＋新保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085124" y="749808"/>
            <a:ext cx="383225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E0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5124" y="749808"/>
            <a:ext cx="3832250" cy="502920"/>
          </a:xfrm>
          <a:prstGeom prst="rect">
            <a:avLst/>
          </a:prstGeom>
          <a:solidFill>
            <a:srgbClr val="E0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786384"/>
            <a:ext cx="36859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DataOps　定例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8276" y="987552"/>
            <a:ext cx="368594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病院データを、使える状態で安定して届ける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085124.666666667" y="1252728"/>
          <a:ext cx="383225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254"/>
                <a:gridCol w="989998"/>
                <a:gridCol w="989998"/>
              </a:tblGrid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ミッション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1年後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チームリード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黒川→山田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黒川</a:t>
                      </a:r>
                    </a:p>
                  </a:txBody>
                  <a:tcPr anchor="ctr"/>
                </a:tc>
              </a:tr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定例業務コントロール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藤原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藤原</a:t>
                      </a:r>
                    </a:p>
                  </a:txBody>
                  <a:tcPr anchor="ctr"/>
                </a:tc>
              </a:tr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CS連携・エスカレーション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藤原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藤原</a:t>
                      </a:r>
                    </a:p>
                  </a:txBody>
                  <a:tcPr anchor="ctr"/>
                </a:tc>
              </a:tr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Dev/foro連携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黒川→山田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藤原＋廣</a:t>
                      </a:r>
                    </a:p>
                  </a:txBody>
                  <a:tcPr anchor="ctr"/>
                </a:tc>
              </a:tr>
              <a:tr h="35814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業務効率化・改善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黒川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3511296"/>
            <a:ext cx="11643055" cy="1874520"/>
          </a:xfrm>
          <a:prstGeom prst="rect">
            <a:avLst/>
          </a:prstGeom>
          <a:solidFill>
            <a:srgbClr val="FFFFFF"/>
          </a:solidFill>
          <a:ln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511296"/>
            <a:ext cx="11643055" cy="45720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547872"/>
            <a:ext cx="407506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横断　共通土台・PdM・デザイン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49040"/>
            <a:ext cx="114601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</a:defRPr>
            </a:pPr>
            <a:r>
              <a:t>3チームが回る技術土台と PdM・デザイン基盤を維持する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74320" y="3968496"/>
          <a:ext cx="579409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479"/>
                <a:gridCol w="1496808"/>
                <a:gridCol w="1496808"/>
              </a:tblGrid>
              <a:tr h="283464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ミッション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1年後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83464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AI駆動開発環境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T/L＋鈴木</a:t>
                      </a:r>
                    </a:p>
                  </a:txBody>
                  <a:tcPr anchor="ctr"/>
                </a:tc>
              </a:tr>
              <a:tr h="283464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技術選定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馬場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T/L</a:t>
                      </a:r>
                    </a:p>
                  </a:txBody>
                  <a:tcPr anchor="ctr"/>
                </a:tc>
              </a:tr>
              <a:tr h="283464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セキュリティ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馬場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小山</a:t>
                      </a:r>
                    </a:p>
                  </a:txBody>
                  <a:tcPr anchor="ctr"/>
                </a:tc>
              </a:tr>
              <a:tr h="283464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infra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馬場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小山＋T/L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23279.5" y="3968496"/>
          <a:ext cx="579409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479"/>
                <a:gridCol w="1496808"/>
                <a:gridCol w="1496808"/>
              </a:tblGrid>
              <a:tr h="35433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ミッション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1年後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433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馬場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廣＋新保</a:t>
                      </a:r>
                    </a:p>
                  </a:txBody>
                  <a:tcPr anchor="ctr"/>
                </a:tc>
              </a:tr>
              <a:tr h="35433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PdM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山田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山田</a:t>
                      </a:r>
                    </a:p>
                  </a:txBody>
                  <a:tcPr anchor="ctr"/>
                </a:tc>
              </a:tr>
              <a:tr h="354330">
                <a:tc>
                  <a:txBody>
                    <a:bodyPr wrap="square" lIns="25400" rIns="25400" tIns="12700" bIns="12700"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デザイン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田中</a:t>
                      </a:r>
                    </a:p>
                  </a:txBody>
                  <a:tcPr anchor="ctr"/>
                </a:tc>
                <a:tc>
                  <a:txBody>
                    <a:bodyPr wrap="square" lIns="25400" rIns="25400" tIns="12700" bIns="12700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三保谷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